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0" r:id="rId5"/>
    <p:sldId id="261" r:id="rId6"/>
    <p:sldId id="268" r:id="rId7"/>
    <p:sldId id="262" r:id="rId8"/>
    <p:sldId id="263" r:id="rId9"/>
    <p:sldId id="264" r:id="rId10"/>
    <p:sldId id="266" r:id="rId11"/>
    <p:sldId id="270" r:id="rId12"/>
    <p:sldId id="269"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1" autoAdjust="0"/>
    <p:restoredTop sz="94610"/>
  </p:normalViewPr>
  <p:slideViewPr>
    <p:cSldViewPr snapToGrid="0" snapToObjects="1">
      <p:cViewPr varScale="1">
        <p:scale>
          <a:sx n="89" d="100"/>
          <a:sy n="89" d="100"/>
        </p:scale>
        <p:origin x="34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0004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77335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8869680" y="457200"/>
            <a:ext cx="64008" cy="64008"/>
          </a:xfrm>
          <a:prstGeom prst="ellipse">
            <a:avLst/>
          </a:prstGeom>
          <a:solidFill>
            <a:srgbClr val="2A3A55"/>
          </a:solidFill>
          <a:ln/>
        </p:spPr>
      </p:sp>
      <p:sp>
        <p:nvSpPr>
          <p:cNvPr id="3" name="Shape 1"/>
          <p:cNvSpPr/>
          <p:nvPr/>
        </p:nvSpPr>
        <p:spPr>
          <a:xfrm>
            <a:off x="9162288" y="457200"/>
            <a:ext cx="64008" cy="64008"/>
          </a:xfrm>
          <a:prstGeom prst="ellipse">
            <a:avLst/>
          </a:prstGeom>
          <a:solidFill>
            <a:srgbClr val="2A3A55"/>
          </a:solidFill>
          <a:ln/>
        </p:spPr>
      </p:sp>
      <p:sp>
        <p:nvSpPr>
          <p:cNvPr id="4" name="Shape 2"/>
          <p:cNvSpPr/>
          <p:nvPr/>
        </p:nvSpPr>
        <p:spPr>
          <a:xfrm>
            <a:off x="9454896" y="457200"/>
            <a:ext cx="64008" cy="64008"/>
          </a:xfrm>
          <a:prstGeom prst="ellipse">
            <a:avLst/>
          </a:prstGeom>
          <a:solidFill>
            <a:srgbClr val="2A3A55"/>
          </a:solidFill>
          <a:ln/>
        </p:spPr>
      </p:sp>
      <p:sp>
        <p:nvSpPr>
          <p:cNvPr id="5" name="Shape 3"/>
          <p:cNvSpPr/>
          <p:nvPr/>
        </p:nvSpPr>
        <p:spPr>
          <a:xfrm>
            <a:off x="9747504" y="457200"/>
            <a:ext cx="64008" cy="64008"/>
          </a:xfrm>
          <a:prstGeom prst="ellipse">
            <a:avLst/>
          </a:prstGeom>
          <a:solidFill>
            <a:srgbClr val="2A3A55"/>
          </a:solidFill>
          <a:ln/>
        </p:spPr>
      </p:sp>
      <p:sp>
        <p:nvSpPr>
          <p:cNvPr id="6" name="Shape 4"/>
          <p:cNvSpPr/>
          <p:nvPr/>
        </p:nvSpPr>
        <p:spPr>
          <a:xfrm>
            <a:off x="10040112" y="457200"/>
            <a:ext cx="64008" cy="64008"/>
          </a:xfrm>
          <a:prstGeom prst="ellipse">
            <a:avLst/>
          </a:prstGeom>
          <a:solidFill>
            <a:srgbClr val="2A3A55"/>
          </a:solidFill>
          <a:ln/>
        </p:spPr>
      </p:sp>
      <p:sp>
        <p:nvSpPr>
          <p:cNvPr id="7" name="Shape 5"/>
          <p:cNvSpPr/>
          <p:nvPr/>
        </p:nvSpPr>
        <p:spPr>
          <a:xfrm>
            <a:off x="10332720" y="457200"/>
            <a:ext cx="64008" cy="64008"/>
          </a:xfrm>
          <a:prstGeom prst="ellipse">
            <a:avLst/>
          </a:prstGeom>
          <a:solidFill>
            <a:srgbClr val="2A3A55"/>
          </a:solidFill>
          <a:ln/>
        </p:spPr>
      </p:sp>
      <p:sp>
        <p:nvSpPr>
          <p:cNvPr id="8" name="Shape 6"/>
          <p:cNvSpPr/>
          <p:nvPr/>
        </p:nvSpPr>
        <p:spPr>
          <a:xfrm>
            <a:off x="10625328" y="457200"/>
            <a:ext cx="64008" cy="64008"/>
          </a:xfrm>
          <a:prstGeom prst="ellipse">
            <a:avLst/>
          </a:prstGeom>
          <a:solidFill>
            <a:srgbClr val="2A3A55"/>
          </a:solidFill>
          <a:ln/>
        </p:spPr>
      </p:sp>
      <p:sp>
        <p:nvSpPr>
          <p:cNvPr id="9" name="Shape 7"/>
          <p:cNvSpPr/>
          <p:nvPr/>
        </p:nvSpPr>
        <p:spPr>
          <a:xfrm>
            <a:off x="10917936" y="457200"/>
            <a:ext cx="64008" cy="64008"/>
          </a:xfrm>
          <a:prstGeom prst="ellipse">
            <a:avLst/>
          </a:prstGeom>
          <a:solidFill>
            <a:srgbClr val="2A3A55"/>
          </a:solidFill>
          <a:ln/>
        </p:spPr>
      </p:sp>
      <p:sp>
        <p:nvSpPr>
          <p:cNvPr id="10" name="Shape 8"/>
          <p:cNvSpPr/>
          <p:nvPr/>
        </p:nvSpPr>
        <p:spPr>
          <a:xfrm>
            <a:off x="11210544" y="457200"/>
            <a:ext cx="64008" cy="64008"/>
          </a:xfrm>
          <a:prstGeom prst="ellipse">
            <a:avLst/>
          </a:prstGeom>
          <a:solidFill>
            <a:srgbClr val="2A3A55"/>
          </a:solidFill>
          <a:ln/>
        </p:spPr>
      </p:sp>
      <p:sp>
        <p:nvSpPr>
          <p:cNvPr id="11" name="Shape 9"/>
          <p:cNvSpPr/>
          <p:nvPr/>
        </p:nvSpPr>
        <p:spPr>
          <a:xfrm>
            <a:off x="8869680" y="749808"/>
            <a:ext cx="64008" cy="64008"/>
          </a:xfrm>
          <a:prstGeom prst="ellipse">
            <a:avLst/>
          </a:prstGeom>
          <a:solidFill>
            <a:srgbClr val="2A3A55"/>
          </a:solidFill>
          <a:ln/>
        </p:spPr>
      </p:sp>
      <p:sp>
        <p:nvSpPr>
          <p:cNvPr id="12" name="Shape 10"/>
          <p:cNvSpPr/>
          <p:nvPr/>
        </p:nvSpPr>
        <p:spPr>
          <a:xfrm>
            <a:off x="9162288" y="749808"/>
            <a:ext cx="64008" cy="64008"/>
          </a:xfrm>
          <a:prstGeom prst="ellipse">
            <a:avLst/>
          </a:prstGeom>
          <a:solidFill>
            <a:srgbClr val="2A3A55"/>
          </a:solidFill>
          <a:ln/>
        </p:spPr>
      </p:sp>
      <p:sp>
        <p:nvSpPr>
          <p:cNvPr id="13" name="Shape 11"/>
          <p:cNvSpPr/>
          <p:nvPr/>
        </p:nvSpPr>
        <p:spPr>
          <a:xfrm>
            <a:off x="9454896" y="749808"/>
            <a:ext cx="64008" cy="64008"/>
          </a:xfrm>
          <a:prstGeom prst="ellipse">
            <a:avLst/>
          </a:prstGeom>
          <a:solidFill>
            <a:srgbClr val="2A3A55"/>
          </a:solidFill>
          <a:ln/>
        </p:spPr>
      </p:sp>
      <p:sp>
        <p:nvSpPr>
          <p:cNvPr id="14" name="Shape 12"/>
          <p:cNvSpPr/>
          <p:nvPr/>
        </p:nvSpPr>
        <p:spPr>
          <a:xfrm>
            <a:off x="9747504" y="749808"/>
            <a:ext cx="64008" cy="64008"/>
          </a:xfrm>
          <a:prstGeom prst="ellipse">
            <a:avLst/>
          </a:prstGeom>
          <a:solidFill>
            <a:srgbClr val="2A3A55"/>
          </a:solidFill>
          <a:ln/>
        </p:spPr>
      </p:sp>
      <p:sp>
        <p:nvSpPr>
          <p:cNvPr id="15" name="Shape 13"/>
          <p:cNvSpPr/>
          <p:nvPr/>
        </p:nvSpPr>
        <p:spPr>
          <a:xfrm>
            <a:off x="10040112" y="749808"/>
            <a:ext cx="64008" cy="64008"/>
          </a:xfrm>
          <a:prstGeom prst="ellipse">
            <a:avLst/>
          </a:prstGeom>
          <a:solidFill>
            <a:srgbClr val="2A3A55"/>
          </a:solidFill>
          <a:ln/>
        </p:spPr>
      </p:sp>
      <p:sp>
        <p:nvSpPr>
          <p:cNvPr id="16" name="Shape 14"/>
          <p:cNvSpPr/>
          <p:nvPr/>
        </p:nvSpPr>
        <p:spPr>
          <a:xfrm>
            <a:off x="10332720" y="749808"/>
            <a:ext cx="64008" cy="64008"/>
          </a:xfrm>
          <a:prstGeom prst="ellipse">
            <a:avLst/>
          </a:prstGeom>
          <a:solidFill>
            <a:srgbClr val="2A3A55"/>
          </a:solidFill>
          <a:ln/>
        </p:spPr>
      </p:sp>
      <p:sp>
        <p:nvSpPr>
          <p:cNvPr id="17" name="Shape 15"/>
          <p:cNvSpPr/>
          <p:nvPr/>
        </p:nvSpPr>
        <p:spPr>
          <a:xfrm>
            <a:off x="10625328" y="749808"/>
            <a:ext cx="64008" cy="64008"/>
          </a:xfrm>
          <a:prstGeom prst="ellipse">
            <a:avLst/>
          </a:prstGeom>
          <a:solidFill>
            <a:srgbClr val="2A3A55"/>
          </a:solidFill>
          <a:ln/>
        </p:spPr>
      </p:sp>
      <p:sp>
        <p:nvSpPr>
          <p:cNvPr id="18" name="Shape 16"/>
          <p:cNvSpPr/>
          <p:nvPr/>
        </p:nvSpPr>
        <p:spPr>
          <a:xfrm>
            <a:off x="10917936" y="749808"/>
            <a:ext cx="64008" cy="64008"/>
          </a:xfrm>
          <a:prstGeom prst="ellipse">
            <a:avLst/>
          </a:prstGeom>
          <a:solidFill>
            <a:srgbClr val="2A3A55"/>
          </a:solidFill>
          <a:ln/>
        </p:spPr>
      </p:sp>
      <p:sp>
        <p:nvSpPr>
          <p:cNvPr id="19" name="Shape 17"/>
          <p:cNvSpPr/>
          <p:nvPr/>
        </p:nvSpPr>
        <p:spPr>
          <a:xfrm>
            <a:off x="11210544" y="749808"/>
            <a:ext cx="64008" cy="64008"/>
          </a:xfrm>
          <a:prstGeom prst="ellipse">
            <a:avLst/>
          </a:prstGeom>
          <a:solidFill>
            <a:srgbClr val="2A3A55"/>
          </a:solidFill>
          <a:ln/>
        </p:spPr>
      </p:sp>
      <p:sp>
        <p:nvSpPr>
          <p:cNvPr id="20" name="Shape 18"/>
          <p:cNvSpPr/>
          <p:nvPr/>
        </p:nvSpPr>
        <p:spPr>
          <a:xfrm>
            <a:off x="8869680" y="1042416"/>
            <a:ext cx="64008" cy="64008"/>
          </a:xfrm>
          <a:prstGeom prst="ellipse">
            <a:avLst/>
          </a:prstGeom>
          <a:solidFill>
            <a:srgbClr val="2A3A55"/>
          </a:solidFill>
          <a:ln/>
        </p:spPr>
      </p:sp>
      <p:sp>
        <p:nvSpPr>
          <p:cNvPr id="21" name="Shape 19"/>
          <p:cNvSpPr/>
          <p:nvPr/>
        </p:nvSpPr>
        <p:spPr>
          <a:xfrm>
            <a:off x="9162288" y="1042416"/>
            <a:ext cx="64008" cy="64008"/>
          </a:xfrm>
          <a:prstGeom prst="ellipse">
            <a:avLst/>
          </a:prstGeom>
          <a:solidFill>
            <a:srgbClr val="2A3A55"/>
          </a:solidFill>
          <a:ln/>
        </p:spPr>
      </p:sp>
      <p:sp>
        <p:nvSpPr>
          <p:cNvPr id="22" name="Shape 20"/>
          <p:cNvSpPr/>
          <p:nvPr/>
        </p:nvSpPr>
        <p:spPr>
          <a:xfrm>
            <a:off x="9454896" y="1042416"/>
            <a:ext cx="64008" cy="64008"/>
          </a:xfrm>
          <a:prstGeom prst="ellipse">
            <a:avLst/>
          </a:prstGeom>
          <a:solidFill>
            <a:srgbClr val="2A3A55"/>
          </a:solidFill>
          <a:ln/>
        </p:spPr>
      </p:sp>
      <p:sp>
        <p:nvSpPr>
          <p:cNvPr id="23" name="Shape 21"/>
          <p:cNvSpPr/>
          <p:nvPr/>
        </p:nvSpPr>
        <p:spPr>
          <a:xfrm>
            <a:off x="9747504" y="1042416"/>
            <a:ext cx="64008" cy="64008"/>
          </a:xfrm>
          <a:prstGeom prst="ellipse">
            <a:avLst/>
          </a:prstGeom>
          <a:solidFill>
            <a:srgbClr val="2A3A55"/>
          </a:solidFill>
          <a:ln/>
        </p:spPr>
      </p:sp>
      <p:sp>
        <p:nvSpPr>
          <p:cNvPr id="24" name="Shape 22"/>
          <p:cNvSpPr/>
          <p:nvPr/>
        </p:nvSpPr>
        <p:spPr>
          <a:xfrm>
            <a:off x="10040112" y="1042416"/>
            <a:ext cx="64008" cy="64008"/>
          </a:xfrm>
          <a:prstGeom prst="ellipse">
            <a:avLst/>
          </a:prstGeom>
          <a:solidFill>
            <a:srgbClr val="2A3A55"/>
          </a:solidFill>
          <a:ln/>
        </p:spPr>
      </p:sp>
      <p:sp>
        <p:nvSpPr>
          <p:cNvPr id="25" name="Shape 23"/>
          <p:cNvSpPr/>
          <p:nvPr/>
        </p:nvSpPr>
        <p:spPr>
          <a:xfrm>
            <a:off x="10332720" y="1042416"/>
            <a:ext cx="64008" cy="64008"/>
          </a:xfrm>
          <a:prstGeom prst="ellipse">
            <a:avLst/>
          </a:prstGeom>
          <a:solidFill>
            <a:srgbClr val="2A3A55"/>
          </a:solidFill>
          <a:ln/>
        </p:spPr>
      </p:sp>
      <p:sp>
        <p:nvSpPr>
          <p:cNvPr id="26" name="Shape 24"/>
          <p:cNvSpPr/>
          <p:nvPr/>
        </p:nvSpPr>
        <p:spPr>
          <a:xfrm>
            <a:off x="10625328" y="1042416"/>
            <a:ext cx="64008" cy="64008"/>
          </a:xfrm>
          <a:prstGeom prst="ellipse">
            <a:avLst/>
          </a:prstGeom>
          <a:solidFill>
            <a:srgbClr val="2A3A55"/>
          </a:solidFill>
          <a:ln/>
        </p:spPr>
      </p:sp>
      <p:sp>
        <p:nvSpPr>
          <p:cNvPr id="27" name="Shape 25"/>
          <p:cNvSpPr/>
          <p:nvPr/>
        </p:nvSpPr>
        <p:spPr>
          <a:xfrm>
            <a:off x="10917936" y="1042416"/>
            <a:ext cx="64008" cy="64008"/>
          </a:xfrm>
          <a:prstGeom prst="ellipse">
            <a:avLst/>
          </a:prstGeom>
          <a:solidFill>
            <a:srgbClr val="2A3A55"/>
          </a:solidFill>
          <a:ln/>
        </p:spPr>
      </p:sp>
      <p:sp>
        <p:nvSpPr>
          <p:cNvPr id="28" name="Shape 26"/>
          <p:cNvSpPr/>
          <p:nvPr/>
        </p:nvSpPr>
        <p:spPr>
          <a:xfrm>
            <a:off x="11210544" y="1042416"/>
            <a:ext cx="64008" cy="64008"/>
          </a:xfrm>
          <a:prstGeom prst="ellipse">
            <a:avLst/>
          </a:prstGeom>
          <a:solidFill>
            <a:srgbClr val="2A3A55"/>
          </a:solidFill>
          <a:ln/>
        </p:spPr>
      </p:sp>
      <p:sp>
        <p:nvSpPr>
          <p:cNvPr id="29" name="Shape 27"/>
          <p:cNvSpPr/>
          <p:nvPr/>
        </p:nvSpPr>
        <p:spPr>
          <a:xfrm>
            <a:off x="8869680" y="1335024"/>
            <a:ext cx="64008" cy="64008"/>
          </a:xfrm>
          <a:prstGeom prst="ellipse">
            <a:avLst/>
          </a:prstGeom>
          <a:solidFill>
            <a:srgbClr val="2A3A55"/>
          </a:solidFill>
          <a:ln/>
        </p:spPr>
      </p:sp>
      <p:sp>
        <p:nvSpPr>
          <p:cNvPr id="30" name="Shape 28"/>
          <p:cNvSpPr/>
          <p:nvPr/>
        </p:nvSpPr>
        <p:spPr>
          <a:xfrm>
            <a:off x="9162288" y="1335024"/>
            <a:ext cx="64008" cy="64008"/>
          </a:xfrm>
          <a:prstGeom prst="ellipse">
            <a:avLst/>
          </a:prstGeom>
          <a:solidFill>
            <a:srgbClr val="2A3A55"/>
          </a:solidFill>
          <a:ln/>
        </p:spPr>
      </p:sp>
      <p:sp>
        <p:nvSpPr>
          <p:cNvPr id="31" name="Shape 29"/>
          <p:cNvSpPr/>
          <p:nvPr/>
        </p:nvSpPr>
        <p:spPr>
          <a:xfrm>
            <a:off x="9454896" y="1335024"/>
            <a:ext cx="64008" cy="64008"/>
          </a:xfrm>
          <a:prstGeom prst="ellipse">
            <a:avLst/>
          </a:prstGeom>
          <a:solidFill>
            <a:srgbClr val="2A3A55"/>
          </a:solidFill>
          <a:ln/>
        </p:spPr>
      </p:sp>
      <p:sp>
        <p:nvSpPr>
          <p:cNvPr id="32" name="Shape 30"/>
          <p:cNvSpPr/>
          <p:nvPr/>
        </p:nvSpPr>
        <p:spPr>
          <a:xfrm>
            <a:off x="9747504" y="1335024"/>
            <a:ext cx="64008" cy="64008"/>
          </a:xfrm>
          <a:prstGeom prst="ellipse">
            <a:avLst/>
          </a:prstGeom>
          <a:solidFill>
            <a:srgbClr val="2A3A55"/>
          </a:solidFill>
          <a:ln/>
        </p:spPr>
      </p:sp>
      <p:sp>
        <p:nvSpPr>
          <p:cNvPr id="33" name="Shape 31"/>
          <p:cNvSpPr/>
          <p:nvPr/>
        </p:nvSpPr>
        <p:spPr>
          <a:xfrm>
            <a:off x="10040112" y="1335024"/>
            <a:ext cx="64008" cy="64008"/>
          </a:xfrm>
          <a:prstGeom prst="ellipse">
            <a:avLst/>
          </a:prstGeom>
          <a:solidFill>
            <a:srgbClr val="2A3A55"/>
          </a:solidFill>
          <a:ln/>
        </p:spPr>
      </p:sp>
      <p:sp>
        <p:nvSpPr>
          <p:cNvPr id="34" name="Shape 32"/>
          <p:cNvSpPr/>
          <p:nvPr/>
        </p:nvSpPr>
        <p:spPr>
          <a:xfrm>
            <a:off x="10332720" y="1335024"/>
            <a:ext cx="64008" cy="64008"/>
          </a:xfrm>
          <a:prstGeom prst="ellipse">
            <a:avLst/>
          </a:prstGeom>
          <a:solidFill>
            <a:srgbClr val="2A3A55"/>
          </a:solidFill>
          <a:ln/>
        </p:spPr>
      </p:sp>
      <p:sp>
        <p:nvSpPr>
          <p:cNvPr id="35" name="Shape 33"/>
          <p:cNvSpPr/>
          <p:nvPr/>
        </p:nvSpPr>
        <p:spPr>
          <a:xfrm>
            <a:off x="10625328" y="1335024"/>
            <a:ext cx="64008" cy="64008"/>
          </a:xfrm>
          <a:prstGeom prst="ellipse">
            <a:avLst/>
          </a:prstGeom>
          <a:solidFill>
            <a:srgbClr val="2A3A55"/>
          </a:solidFill>
          <a:ln/>
        </p:spPr>
      </p:sp>
      <p:sp>
        <p:nvSpPr>
          <p:cNvPr id="36" name="Shape 34"/>
          <p:cNvSpPr/>
          <p:nvPr/>
        </p:nvSpPr>
        <p:spPr>
          <a:xfrm>
            <a:off x="10917936" y="1335024"/>
            <a:ext cx="64008" cy="64008"/>
          </a:xfrm>
          <a:prstGeom prst="ellipse">
            <a:avLst/>
          </a:prstGeom>
          <a:solidFill>
            <a:srgbClr val="2A3A55"/>
          </a:solidFill>
          <a:ln/>
        </p:spPr>
      </p:sp>
      <p:sp>
        <p:nvSpPr>
          <p:cNvPr id="37" name="Shape 35"/>
          <p:cNvSpPr/>
          <p:nvPr/>
        </p:nvSpPr>
        <p:spPr>
          <a:xfrm>
            <a:off x="11210544" y="1335024"/>
            <a:ext cx="64008" cy="64008"/>
          </a:xfrm>
          <a:prstGeom prst="ellipse">
            <a:avLst/>
          </a:prstGeom>
          <a:solidFill>
            <a:srgbClr val="2A3A55"/>
          </a:solidFill>
          <a:ln/>
        </p:spPr>
      </p:sp>
      <p:sp>
        <p:nvSpPr>
          <p:cNvPr id="38" name="Shape 36"/>
          <p:cNvSpPr/>
          <p:nvPr/>
        </p:nvSpPr>
        <p:spPr>
          <a:xfrm>
            <a:off x="8869680" y="1627632"/>
            <a:ext cx="64008" cy="64008"/>
          </a:xfrm>
          <a:prstGeom prst="ellipse">
            <a:avLst/>
          </a:prstGeom>
          <a:solidFill>
            <a:srgbClr val="2A3A55"/>
          </a:solidFill>
          <a:ln/>
        </p:spPr>
      </p:sp>
      <p:sp>
        <p:nvSpPr>
          <p:cNvPr id="39" name="Shape 37"/>
          <p:cNvSpPr/>
          <p:nvPr/>
        </p:nvSpPr>
        <p:spPr>
          <a:xfrm>
            <a:off x="9162288" y="1627632"/>
            <a:ext cx="64008" cy="64008"/>
          </a:xfrm>
          <a:prstGeom prst="ellipse">
            <a:avLst/>
          </a:prstGeom>
          <a:solidFill>
            <a:srgbClr val="2A3A55"/>
          </a:solidFill>
          <a:ln/>
        </p:spPr>
      </p:sp>
      <p:sp>
        <p:nvSpPr>
          <p:cNvPr id="40" name="Shape 38"/>
          <p:cNvSpPr/>
          <p:nvPr/>
        </p:nvSpPr>
        <p:spPr>
          <a:xfrm>
            <a:off x="9454896" y="1627632"/>
            <a:ext cx="64008" cy="64008"/>
          </a:xfrm>
          <a:prstGeom prst="ellipse">
            <a:avLst/>
          </a:prstGeom>
          <a:solidFill>
            <a:srgbClr val="2A3A55"/>
          </a:solidFill>
          <a:ln/>
        </p:spPr>
      </p:sp>
      <p:sp>
        <p:nvSpPr>
          <p:cNvPr id="41" name="Shape 39"/>
          <p:cNvSpPr/>
          <p:nvPr/>
        </p:nvSpPr>
        <p:spPr>
          <a:xfrm>
            <a:off x="9747504" y="1627632"/>
            <a:ext cx="64008" cy="64008"/>
          </a:xfrm>
          <a:prstGeom prst="ellipse">
            <a:avLst/>
          </a:prstGeom>
          <a:solidFill>
            <a:srgbClr val="2A3A55"/>
          </a:solidFill>
          <a:ln/>
        </p:spPr>
      </p:sp>
      <p:sp>
        <p:nvSpPr>
          <p:cNvPr id="42" name="Shape 40"/>
          <p:cNvSpPr/>
          <p:nvPr/>
        </p:nvSpPr>
        <p:spPr>
          <a:xfrm>
            <a:off x="10040112" y="1627632"/>
            <a:ext cx="64008" cy="64008"/>
          </a:xfrm>
          <a:prstGeom prst="ellipse">
            <a:avLst/>
          </a:prstGeom>
          <a:solidFill>
            <a:srgbClr val="2A3A55"/>
          </a:solidFill>
          <a:ln/>
        </p:spPr>
      </p:sp>
      <p:sp>
        <p:nvSpPr>
          <p:cNvPr id="43" name="Shape 41"/>
          <p:cNvSpPr/>
          <p:nvPr/>
        </p:nvSpPr>
        <p:spPr>
          <a:xfrm>
            <a:off x="10332720" y="1627632"/>
            <a:ext cx="64008" cy="64008"/>
          </a:xfrm>
          <a:prstGeom prst="ellipse">
            <a:avLst/>
          </a:prstGeom>
          <a:solidFill>
            <a:srgbClr val="2A3A55"/>
          </a:solidFill>
          <a:ln/>
        </p:spPr>
      </p:sp>
      <p:sp>
        <p:nvSpPr>
          <p:cNvPr id="44" name="Shape 42"/>
          <p:cNvSpPr/>
          <p:nvPr/>
        </p:nvSpPr>
        <p:spPr>
          <a:xfrm>
            <a:off x="10625328" y="1627632"/>
            <a:ext cx="64008" cy="64008"/>
          </a:xfrm>
          <a:prstGeom prst="ellipse">
            <a:avLst/>
          </a:prstGeom>
          <a:solidFill>
            <a:srgbClr val="2A3A55"/>
          </a:solidFill>
          <a:ln/>
        </p:spPr>
      </p:sp>
      <p:sp>
        <p:nvSpPr>
          <p:cNvPr id="45" name="Shape 43"/>
          <p:cNvSpPr/>
          <p:nvPr/>
        </p:nvSpPr>
        <p:spPr>
          <a:xfrm>
            <a:off x="10917936" y="1627632"/>
            <a:ext cx="64008" cy="64008"/>
          </a:xfrm>
          <a:prstGeom prst="ellipse">
            <a:avLst/>
          </a:prstGeom>
          <a:solidFill>
            <a:srgbClr val="2A3A55"/>
          </a:solidFill>
          <a:ln/>
        </p:spPr>
      </p:sp>
      <p:sp>
        <p:nvSpPr>
          <p:cNvPr id="46" name="Shape 44"/>
          <p:cNvSpPr/>
          <p:nvPr/>
        </p:nvSpPr>
        <p:spPr>
          <a:xfrm>
            <a:off x="11210544" y="1627632"/>
            <a:ext cx="64008" cy="64008"/>
          </a:xfrm>
          <a:prstGeom prst="ellipse">
            <a:avLst/>
          </a:prstGeom>
          <a:solidFill>
            <a:srgbClr val="2A3A55"/>
          </a:solidFill>
          <a:ln/>
        </p:spPr>
      </p:sp>
      <p:sp>
        <p:nvSpPr>
          <p:cNvPr id="47" name="Shape 45"/>
          <p:cNvSpPr/>
          <p:nvPr/>
        </p:nvSpPr>
        <p:spPr>
          <a:xfrm>
            <a:off x="9509760" y="1828800"/>
            <a:ext cx="1737360" cy="1737360"/>
          </a:xfrm>
          <a:prstGeom prst="ellipse">
            <a:avLst/>
          </a:prstGeom>
          <a:solidFill>
            <a:srgbClr val="0F1A2E"/>
          </a:solidFill>
          <a:ln w="12700">
            <a:solidFill>
              <a:srgbClr val="1E2C44"/>
            </a:solidFill>
            <a:prstDash val="solid"/>
          </a:ln>
        </p:spPr>
      </p:sp>
      <p:sp>
        <p:nvSpPr>
          <p:cNvPr id="48" name="Text 46"/>
          <p:cNvSpPr/>
          <p:nvPr/>
        </p:nvSpPr>
        <p:spPr>
          <a:xfrm>
            <a:off x="640080" y="640080"/>
            <a:ext cx="7315200" cy="457200"/>
          </a:xfrm>
          <a:prstGeom prst="rect">
            <a:avLst/>
          </a:prstGeom>
          <a:noFill/>
          <a:ln/>
        </p:spPr>
        <p:txBody>
          <a:bodyPr wrap="square" lIns="0" tIns="0" rIns="0" bIns="0" rtlCol="0" anchor="ctr"/>
          <a:lstStyle/>
          <a:p>
            <a:pPr marL="0" indent="0">
              <a:buNone/>
            </a:pPr>
            <a:r>
              <a:rPr lang="en-US" sz="1600" b="1" kern="0" spc="400" dirty="0">
                <a:solidFill>
                  <a:srgbClr val="35C5E8"/>
                </a:solidFill>
                <a:latin typeface="Arial" pitchFamily="34" charset="0"/>
                <a:ea typeface="Arial" pitchFamily="34" charset="-122"/>
                <a:cs typeface="Arial" pitchFamily="34" charset="-120"/>
              </a:rPr>
              <a:t>CAHIER D'ANALYSE</a:t>
            </a:r>
            <a:endParaRPr lang="en-US" sz="1600" dirty="0"/>
          </a:p>
        </p:txBody>
      </p:sp>
      <p:sp>
        <p:nvSpPr>
          <p:cNvPr id="49" name="Text 47"/>
          <p:cNvSpPr/>
          <p:nvPr/>
        </p:nvSpPr>
        <p:spPr>
          <a:xfrm>
            <a:off x="640080" y="1188720"/>
            <a:ext cx="7772400" cy="137160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Plateforme Web de Gestion</a:t>
            </a:r>
            <a:endParaRPr lang="en-US" sz="3600" dirty="0"/>
          </a:p>
          <a:p>
            <a:pPr marL="0" indent="0">
              <a:lnSpc>
                <a:spcPct val="105000"/>
              </a:lnSpc>
              <a:buNone/>
            </a:pPr>
            <a:r>
              <a:rPr lang="en-US" sz="3600" b="1" dirty="0">
                <a:solidFill>
                  <a:srgbClr val="FFFFFF"/>
                </a:solidFill>
                <a:latin typeface="Arial" pitchFamily="34" charset="0"/>
                <a:ea typeface="Arial" pitchFamily="34" charset="-122"/>
                <a:cs typeface="Arial" pitchFamily="34" charset="-120"/>
              </a:rPr>
              <a:t>et Visualisation des Politiques</a:t>
            </a:r>
            <a:endParaRPr lang="en-US" sz="3600" dirty="0"/>
          </a:p>
        </p:txBody>
      </p:sp>
      <p:sp>
        <p:nvSpPr>
          <p:cNvPr id="50" name="Text 48"/>
          <p:cNvSpPr/>
          <p:nvPr/>
        </p:nvSpPr>
        <p:spPr>
          <a:xfrm>
            <a:off x="640080" y="2697480"/>
            <a:ext cx="7315200" cy="731520"/>
          </a:xfrm>
          <a:prstGeom prst="rect">
            <a:avLst/>
          </a:prstGeom>
          <a:noFill/>
          <a:ln/>
        </p:spPr>
        <p:txBody>
          <a:bodyPr wrap="square" lIns="0" tIns="0" rIns="0" bIns="0" rtlCol="0" anchor="ctr"/>
          <a:lstStyle/>
          <a:p>
            <a:pPr marL="0" indent="0">
              <a:buNone/>
            </a:pPr>
            <a:r>
              <a:rPr lang="en-US" sz="3800" b="1" dirty="0">
                <a:solidFill>
                  <a:srgbClr val="35C5E8"/>
                </a:solidFill>
                <a:latin typeface="Arial" pitchFamily="34" charset="0"/>
                <a:ea typeface="Arial" pitchFamily="34" charset="-122"/>
                <a:cs typeface="Arial" pitchFamily="34" charset="-120"/>
              </a:rPr>
              <a:t>TOMOYO Linux</a:t>
            </a:r>
            <a:endParaRPr lang="en-US" sz="3800" dirty="0"/>
          </a:p>
        </p:txBody>
      </p:sp>
      <p:sp>
        <p:nvSpPr>
          <p:cNvPr id="51" name="Shape 49"/>
          <p:cNvSpPr/>
          <p:nvPr/>
        </p:nvSpPr>
        <p:spPr>
          <a:xfrm>
            <a:off x="658368" y="3520440"/>
            <a:ext cx="3291840" cy="45720"/>
          </a:xfrm>
          <a:prstGeom prst="rect">
            <a:avLst/>
          </a:prstGeom>
          <a:solidFill>
            <a:srgbClr val="35C5E8"/>
          </a:solidFill>
          <a:ln/>
        </p:spPr>
      </p:sp>
      <p:sp>
        <p:nvSpPr>
          <p:cNvPr id="52" name="Text 50"/>
          <p:cNvSpPr/>
          <p:nvPr/>
        </p:nvSpPr>
        <p:spPr>
          <a:xfrm>
            <a:off x="640080" y="3657600"/>
            <a:ext cx="7315200" cy="457200"/>
          </a:xfrm>
          <a:prstGeom prst="rect">
            <a:avLst/>
          </a:prstGeom>
          <a:noFill/>
          <a:ln/>
        </p:spPr>
        <p:txBody>
          <a:bodyPr wrap="square" lIns="0" tIns="0" rIns="0" bIns="0" rtlCol="0" anchor="ctr"/>
          <a:lstStyle/>
          <a:p>
            <a:pPr marL="0" indent="0">
              <a:buNone/>
            </a:pPr>
            <a:r>
              <a:rPr lang="en-US" sz="1600" i="1" dirty="0">
                <a:solidFill>
                  <a:srgbClr val="9AA7B8"/>
                </a:solidFill>
                <a:latin typeface="Arial" pitchFamily="34" charset="0"/>
                <a:ea typeface="Arial" pitchFamily="34" charset="-122"/>
                <a:cs typeface="Arial" pitchFamily="34" charset="-120"/>
              </a:rPr>
              <a:t>Conception · Développement · Déploiement</a:t>
            </a:r>
            <a:endParaRPr lang="en-US" sz="1600" dirty="0"/>
          </a:p>
        </p:txBody>
      </p:sp>
      <p:sp>
        <p:nvSpPr>
          <p:cNvPr id="53" name="Shape 51"/>
          <p:cNvSpPr/>
          <p:nvPr/>
        </p:nvSpPr>
        <p:spPr>
          <a:xfrm>
            <a:off x="640080" y="4343400"/>
            <a:ext cx="5120640" cy="1600200"/>
          </a:xfrm>
          <a:prstGeom prst="rect">
            <a:avLst/>
          </a:prstGeom>
          <a:solidFill>
            <a:srgbClr val="1A2438"/>
          </a:solidFill>
          <a:ln w="12700">
            <a:solidFill>
              <a:srgbClr val="35C5E8"/>
            </a:solidFill>
            <a:prstDash val="solid"/>
          </a:ln>
        </p:spPr>
      </p:sp>
      <p:sp>
        <p:nvSpPr>
          <p:cNvPr id="54" name="Text 52"/>
          <p:cNvSpPr/>
          <p:nvPr/>
        </p:nvSpPr>
        <p:spPr>
          <a:xfrm>
            <a:off x="868680" y="4498848"/>
            <a:ext cx="4572000" cy="274320"/>
          </a:xfrm>
          <a:prstGeom prst="rect">
            <a:avLst/>
          </a:prstGeom>
          <a:noFill/>
          <a:ln/>
        </p:spPr>
        <p:txBody>
          <a:bodyPr wrap="square" lIns="0" tIns="0" rIns="0" bIns="0" rtlCol="0" anchor="ctr"/>
          <a:lstStyle/>
          <a:p>
            <a:pPr marL="0" indent="0">
              <a:buNone/>
            </a:pPr>
            <a:r>
              <a:rPr lang="en-US" sz="1100" b="1" kern="0" spc="200" dirty="0">
                <a:solidFill>
                  <a:srgbClr val="35C5E8"/>
                </a:solidFill>
                <a:latin typeface="Arial" pitchFamily="34" charset="0"/>
                <a:ea typeface="Arial" pitchFamily="34" charset="-122"/>
                <a:cs typeface="Arial" pitchFamily="34" charset="-120"/>
              </a:rPr>
              <a:t>Rédigé par</a:t>
            </a:r>
            <a:endParaRPr lang="en-US" sz="1100" dirty="0"/>
          </a:p>
        </p:txBody>
      </p:sp>
      <p:sp>
        <p:nvSpPr>
          <p:cNvPr id="55" name="Text 53"/>
          <p:cNvSpPr/>
          <p:nvPr/>
        </p:nvSpPr>
        <p:spPr>
          <a:xfrm>
            <a:off x="868680" y="4754880"/>
            <a:ext cx="4754880" cy="320040"/>
          </a:xfrm>
          <a:prstGeom prst="rect">
            <a:avLst/>
          </a:prstGeom>
          <a:noFill/>
          <a:ln/>
        </p:spPr>
        <p:txBody>
          <a:bodyPr wrap="square" lIns="0" tIns="0" rIns="0" bIns="0" rtlCol="0" anchor="ctr"/>
          <a:lstStyle/>
          <a:p>
            <a:pPr marL="0" indent="0">
              <a:buNone/>
            </a:pPr>
            <a:r>
              <a:rPr lang="en-US" sz="1400" b="1" dirty="0">
                <a:solidFill>
                  <a:srgbClr val="DCE3EC"/>
                </a:solidFill>
                <a:latin typeface="Arial" pitchFamily="34" charset="0"/>
                <a:ea typeface="Arial" pitchFamily="34" charset="-122"/>
                <a:cs typeface="Arial" pitchFamily="34" charset="-120"/>
              </a:rPr>
              <a:t>GARKA  ·  LONDJI  ·  ZEBAZE Powera</a:t>
            </a:r>
            <a:endParaRPr lang="en-US" sz="1400" dirty="0"/>
          </a:p>
        </p:txBody>
      </p:sp>
      <p:sp>
        <p:nvSpPr>
          <p:cNvPr id="56" name="Text 54"/>
          <p:cNvSpPr/>
          <p:nvPr/>
        </p:nvSpPr>
        <p:spPr>
          <a:xfrm>
            <a:off x="868680" y="5212080"/>
            <a:ext cx="4572000" cy="274320"/>
          </a:xfrm>
          <a:prstGeom prst="rect">
            <a:avLst/>
          </a:prstGeom>
          <a:noFill/>
          <a:ln/>
        </p:spPr>
        <p:txBody>
          <a:bodyPr wrap="square" lIns="0" tIns="0" rIns="0" bIns="0" rtlCol="0" anchor="ctr"/>
          <a:lstStyle/>
          <a:p>
            <a:pPr marL="0" indent="0">
              <a:buNone/>
            </a:pPr>
            <a:r>
              <a:rPr lang="en-US" sz="1100" kern="0" spc="100" dirty="0">
                <a:solidFill>
                  <a:srgbClr val="9AA7B8"/>
                </a:solidFill>
                <a:latin typeface="Arial" pitchFamily="34" charset="0"/>
                <a:ea typeface="Arial" pitchFamily="34" charset="-122"/>
                <a:cs typeface="Arial" pitchFamily="34" charset="-120"/>
              </a:rPr>
              <a:t>Sous la supervision de</a:t>
            </a:r>
            <a:endParaRPr lang="en-US" sz="1100" dirty="0"/>
          </a:p>
        </p:txBody>
      </p:sp>
      <p:sp>
        <p:nvSpPr>
          <p:cNvPr id="57" name="Text 55"/>
          <p:cNvSpPr/>
          <p:nvPr/>
        </p:nvSpPr>
        <p:spPr>
          <a:xfrm>
            <a:off x="868680" y="5468112"/>
            <a:ext cx="4572000" cy="320040"/>
          </a:xfrm>
          <a:prstGeom prst="rect">
            <a:avLst/>
          </a:prstGeom>
          <a:noFill/>
          <a:ln/>
        </p:spPr>
        <p:txBody>
          <a:bodyPr wrap="square" lIns="0" tIns="0" rIns="0" bIns="0" rtlCol="0" anchor="ctr"/>
          <a:lstStyle/>
          <a:p>
            <a:pPr marL="0" indent="0">
              <a:buNone/>
            </a:pPr>
            <a:r>
              <a:rPr lang="en-US" sz="1400" b="1" dirty="0">
                <a:solidFill>
                  <a:srgbClr val="DCE3EC"/>
                </a:solidFill>
                <a:latin typeface="Arial" pitchFamily="34" charset="0"/>
                <a:ea typeface="Arial" pitchFamily="34" charset="-122"/>
                <a:cs typeface="Arial" pitchFamily="34" charset="-120"/>
              </a:rPr>
              <a:t>M. NGUIMBUS Emmanuel</a:t>
            </a:r>
            <a:endParaRPr lang="en-US" sz="1400" dirty="0"/>
          </a:p>
        </p:txBody>
      </p:sp>
      <p:sp>
        <p:nvSpPr>
          <p:cNvPr id="58" name="Shape 56"/>
          <p:cNvSpPr/>
          <p:nvPr/>
        </p:nvSpPr>
        <p:spPr>
          <a:xfrm>
            <a:off x="9144000" y="5349240"/>
            <a:ext cx="2377440" cy="594360"/>
          </a:xfrm>
          <a:prstGeom prst="rect">
            <a:avLst/>
          </a:prstGeom>
          <a:solidFill>
            <a:srgbClr val="1A2438"/>
          </a:solidFill>
          <a:ln w="12700">
            <a:solidFill>
              <a:srgbClr val="35C5E8"/>
            </a:solidFill>
            <a:prstDash val="solid"/>
          </a:ln>
        </p:spPr>
      </p:sp>
      <p:sp>
        <p:nvSpPr>
          <p:cNvPr id="59" name="Text 57"/>
          <p:cNvSpPr/>
          <p:nvPr/>
        </p:nvSpPr>
        <p:spPr>
          <a:xfrm>
            <a:off x="9144000" y="5349240"/>
            <a:ext cx="2377440" cy="594360"/>
          </a:xfrm>
          <a:prstGeom prst="rect">
            <a:avLst/>
          </a:prstGeom>
          <a:noFill/>
          <a:ln/>
        </p:spPr>
        <p:txBody>
          <a:bodyPr wrap="square" lIns="0" tIns="0" rIns="0" bIns="0" rtlCol="0" anchor="ctr"/>
          <a:lstStyle/>
          <a:p>
            <a:pPr marL="0" indent="0" algn="ctr">
              <a:buNone/>
            </a:pPr>
            <a:r>
              <a:rPr lang="en-US" sz="1100" b="1" dirty="0">
                <a:solidFill>
                  <a:srgbClr val="35C5E8"/>
                </a:solidFill>
                <a:latin typeface="Arial" pitchFamily="34" charset="0"/>
                <a:ea typeface="Arial" pitchFamily="34" charset="-122"/>
                <a:cs typeface="Arial" pitchFamily="34" charset="-120"/>
              </a:rPr>
              <a:t>Année académique 2024–2025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PLAN</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Shape 3"/>
          <p:cNvSpPr/>
          <p:nvPr/>
        </p:nvSpPr>
        <p:spPr>
          <a:xfrm>
            <a:off x="914400" y="1463040"/>
            <a:ext cx="685800" cy="685800"/>
          </a:xfrm>
          <a:prstGeom prst="rect">
            <a:avLst/>
          </a:prstGeom>
          <a:solidFill>
            <a:srgbClr val="35C5E8"/>
          </a:solidFill>
          <a:ln/>
        </p:spPr>
      </p:sp>
      <p:sp>
        <p:nvSpPr>
          <p:cNvPr id="6" name="Text 4"/>
          <p:cNvSpPr/>
          <p:nvPr/>
        </p:nvSpPr>
        <p:spPr>
          <a:xfrm>
            <a:off x="914400" y="1463040"/>
            <a:ext cx="685800" cy="685800"/>
          </a:xfrm>
          <a:prstGeom prst="rect">
            <a:avLst/>
          </a:prstGeom>
          <a:noFill/>
          <a:ln/>
        </p:spPr>
        <p:txBody>
          <a:bodyPr wrap="square" lIns="0" tIns="0" rIns="0" bIns="0" rtlCol="0" anchor="ctr"/>
          <a:lstStyle/>
          <a:p>
            <a:pPr marL="0" indent="0" algn="ctr">
              <a:buNone/>
            </a:pPr>
            <a:r>
              <a:rPr lang="en-US" sz="2200" b="1" dirty="0">
                <a:solidFill>
                  <a:srgbClr val="0B1220"/>
                </a:solidFill>
                <a:latin typeface="Arial" pitchFamily="34" charset="0"/>
                <a:ea typeface="Arial" pitchFamily="34" charset="-122"/>
                <a:cs typeface="Arial" pitchFamily="34" charset="-120"/>
              </a:rPr>
              <a:t>01</a:t>
            </a:r>
            <a:endParaRPr lang="en-US" sz="2200" dirty="0"/>
          </a:p>
        </p:txBody>
      </p:sp>
      <p:sp>
        <p:nvSpPr>
          <p:cNvPr id="7" name="Shape 5"/>
          <p:cNvSpPr/>
          <p:nvPr/>
        </p:nvSpPr>
        <p:spPr>
          <a:xfrm>
            <a:off x="1783080" y="1463040"/>
            <a:ext cx="8686800" cy="685800"/>
          </a:xfrm>
          <a:prstGeom prst="rect">
            <a:avLst/>
          </a:prstGeom>
          <a:solidFill>
            <a:srgbClr val="1A2438"/>
          </a:solidFill>
          <a:ln w="12700">
            <a:solidFill>
              <a:srgbClr val="35C5E8"/>
            </a:solidFill>
            <a:prstDash val="solid"/>
          </a:ln>
        </p:spPr>
      </p:sp>
      <p:sp>
        <p:nvSpPr>
          <p:cNvPr id="8" name="Text 6"/>
          <p:cNvSpPr/>
          <p:nvPr/>
        </p:nvSpPr>
        <p:spPr>
          <a:xfrm>
            <a:off x="2011680" y="1463040"/>
            <a:ext cx="8229600" cy="685800"/>
          </a:xfrm>
          <a:prstGeom prst="rect">
            <a:avLst/>
          </a:prstGeom>
          <a:noFill/>
          <a:ln/>
        </p:spPr>
        <p:txBody>
          <a:bodyPr wrap="square" lIns="0" tIns="0" rIns="0" bIns="0" rtlCol="0" anchor="ctr"/>
          <a:lstStyle/>
          <a:p>
            <a:pPr marL="0" indent="0">
              <a:buNone/>
            </a:pPr>
            <a:r>
              <a:rPr lang="en-US" sz="2000" b="1" dirty="0">
                <a:solidFill>
                  <a:srgbClr val="DCE3EC"/>
                </a:solidFill>
                <a:latin typeface="Arial" pitchFamily="34" charset="0"/>
                <a:ea typeface="Arial" pitchFamily="34" charset="-122"/>
                <a:cs typeface="Arial" pitchFamily="34" charset="-120"/>
              </a:rPr>
              <a:t>Introduction</a:t>
            </a:r>
            <a:endParaRPr lang="en-US" sz="2000" dirty="0"/>
          </a:p>
        </p:txBody>
      </p:sp>
      <p:sp>
        <p:nvSpPr>
          <p:cNvPr id="10" name="Text 8"/>
          <p:cNvSpPr/>
          <p:nvPr/>
        </p:nvSpPr>
        <p:spPr>
          <a:xfrm>
            <a:off x="914400" y="2377440"/>
            <a:ext cx="685800" cy="685800"/>
          </a:xfrm>
          <a:prstGeom prst="rect">
            <a:avLst/>
          </a:prstGeom>
          <a:noFill/>
          <a:ln/>
        </p:spPr>
        <p:txBody>
          <a:bodyPr wrap="square" lIns="0" tIns="0" rIns="0" bIns="0" rtlCol="0" anchor="ctr"/>
          <a:lstStyle/>
          <a:p>
            <a:pPr marL="0" indent="0" algn="ctr">
              <a:buNone/>
            </a:pPr>
            <a:r>
              <a:rPr lang="en-US" sz="2200" b="1" dirty="0">
                <a:solidFill>
                  <a:srgbClr val="0B1220"/>
                </a:solidFill>
                <a:latin typeface="Arial" pitchFamily="34" charset="0"/>
                <a:ea typeface="Arial" pitchFamily="34" charset="-122"/>
                <a:cs typeface="Arial" pitchFamily="34" charset="-120"/>
              </a:rPr>
              <a:t>02</a:t>
            </a:r>
            <a:endParaRPr lang="en-US" sz="2200" dirty="0"/>
          </a:p>
        </p:txBody>
      </p:sp>
      <p:sp>
        <p:nvSpPr>
          <p:cNvPr id="13" name="Shape 11"/>
          <p:cNvSpPr/>
          <p:nvPr/>
        </p:nvSpPr>
        <p:spPr>
          <a:xfrm>
            <a:off x="914400" y="3291840"/>
            <a:ext cx="685800" cy="685800"/>
          </a:xfrm>
          <a:prstGeom prst="rect">
            <a:avLst/>
          </a:prstGeom>
          <a:solidFill>
            <a:srgbClr val="F2A615"/>
          </a:solidFill>
          <a:ln/>
        </p:spPr>
      </p:sp>
      <p:sp>
        <p:nvSpPr>
          <p:cNvPr id="14" name="Text 12"/>
          <p:cNvSpPr/>
          <p:nvPr/>
        </p:nvSpPr>
        <p:spPr>
          <a:xfrm>
            <a:off x="914400" y="3291840"/>
            <a:ext cx="685800" cy="685800"/>
          </a:xfrm>
          <a:prstGeom prst="rect">
            <a:avLst/>
          </a:prstGeom>
          <a:noFill/>
          <a:ln/>
        </p:spPr>
        <p:txBody>
          <a:bodyPr wrap="square" lIns="0" tIns="0" rIns="0" bIns="0" rtlCol="0" anchor="ctr"/>
          <a:lstStyle/>
          <a:p>
            <a:pPr marL="0" indent="0" algn="ctr">
              <a:buNone/>
            </a:pPr>
            <a:r>
              <a:rPr lang="en-US" sz="2200" b="1" dirty="0">
                <a:solidFill>
                  <a:srgbClr val="0B1220"/>
                </a:solidFill>
                <a:latin typeface="Arial" pitchFamily="34" charset="0"/>
                <a:ea typeface="Arial" pitchFamily="34" charset="-122"/>
                <a:cs typeface="Arial" pitchFamily="34" charset="-120"/>
              </a:rPr>
              <a:t>02</a:t>
            </a:r>
            <a:endParaRPr lang="en-US" sz="2200" dirty="0"/>
          </a:p>
        </p:txBody>
      </p:sp>
      <p:sp>
        <p:nvSpPr>
          <p:cNvPr id="15" name="Shape 13"/>
          <p:cNvSpPr/>
          <p:nvPr/>
        </p:nvSpPr>
        <p:spPr>
          <a:xfrm>
            <a:off x="1783080" y="3291840"/>
            <a:ext cx="8686800" cy="685800"/>
          </a:xfrm>
          <a:prstGeom prst="rect">
            <a:avLst/>
          </a:prstGeom>
          <a:solidFill>
            <a:srgbClr val="1A2438"/>
          </a:solidFill>
          <a:ln w="12700">
            <a:solidFill>
              <a:srgbClr val="F2A615"/>
            </a:solidFill>
            <a:prstDash val="solid"/>
          </a:ln>
        </p:spPr>
      </p:sp>
      <p:sp>
        <p:nvSpPr>
          <p:cNvPr id="16" name="Text 14"/>
          <p:cNvSpPr/>
          <p:nvPr/>
        </p:nvSpPr>
        <p:spPr>
          <a:xfrm>
            <a:off x="2011680" y="3291840"/>
            <a:ext cx="8229600" cy="685800"/>
          </a:xfrm>
          <a:prstGeom prst="rect">
            <a:avLst/>
          </a:prstGeom>
          <a:noFill/>
          <a:ln/>
        </p:spPr>
        <p:txBody>
          <a:bodyPr wrap="square" lIns="0" tIns="0" rIns="0" bIns="0" rtlCol="0" anchor="ctr"/>
          <a:lstStyle/>
          <a:p>
            <a:pPr marL="0" indent="0">
              <a:buNone/>
            </a:pPr>
            <a:r>
              <a:rPr lang="en-US" sz="2000" b="1" dirty="0">
                <a:solidFill>
                  <a:srgbClr val="DCE3EC"/>
                </a:solidFill>
                <a:latin typeface="Arial" pitchFamily="34" charset="0"/>
                <a:ea typeface="Arial" pitchFamily="34" charset="-122"/>
                <a:cs typeface="Arial" pitchFamily="34" charset="-120"/>
              </a:rPr>
              <a:t>Périmètre fonctionnel</a:t>
            </a:r>
            <a:endParaRPr lang="en-US" sz="2000" dirty="0"/>
          </a:p>
        </p:txBody>
      </p:sp>
      <p:sp>
        <p:nvSpPr>
          <p:cNvPr id="17" name="Shape 15"/>
          <p:cNvSpPr/>
          <p:nvPr/>
        </p:nvSpPr>
        <p:spPr>
          <a:xfrm>
            <a:off x="914400" y="4206240"/>
            <a:ext cx="685800" cy="685800"/>
          </a:xfrm>
          <a:prstGeom prst="rect">
            <a:avLst/>
          </a:prstGeom>
          <a:solidFill>
            <a:srgbClr val="3B82C4"/>
          </a:solidFill>
          <a:ln/>
        </p:spPr>
      </p:sp>
      <p:sp>
        <p:nvSpPr>
          <p:cNvPr id="18" name="Text 16"/>
          <p:cNvSpPr/>
          <p:nvPr/>
        </p:nvSpPr>
        <p:spPr>
          <a:xfrm>
            <a:off x="914400" y="4206240"/>
            <a:ext cx="685800" cy="685800"/>
          </a:xfrm>
          <a:prstGeom prst="rect">
            <a:avLst/>
          </a:prstGeom>
          <a:noFill/>
          <a:ln/>
        </p:spPr>
        <p:txBody>
          <a:bodyPr wrap="square" lIns="0" tIns="0" rIns="0" bIns="0" rtlCol="0" anchor="ctr"/>
          <a:lstStyle/>
          <a:p>
            <a:pPr marL="0" indent="0" algn="ctr">
              <a:buNone/>
            </a:pPr>
            <a:r>
              <a:rPr lang="en-US" sz="2200" b="1" dirty="0">
                <a:solidFill>
                  <a:srgbClr val="0B1220"/>
                </a:solidFill>
                <a:latin typeface="Arial" pitchFamily="34" charset="0"/>
                <a:ea typeface="Arial" pitchFamily="34" charset="-122"/>
                <a:cs typeface="Arial" pitchFamily="34" charset="-120"/>
              </a:rPr>
              <a:t>03</a:t>
            </a:r>
            <a:endParaRPr lang="en-US" sz="2200" dirty="0"/>
          </a:p>
        </p:txBody>
      </p:sp>
      <p:sp>
        <p:nvSpPr>
          <p:cNvPr id="19" name="Shape 17"/>
          <p:cNvSpPr/>
          <p:nvPr/>
        </p:nvSpPr>
        <p:spPr>
          <a:xfrm>
            <a:off x="1783080" y="4206240"/>
            <a:ext cx="8686800" cy="685800"/>
          </a:xfrm>
          <a:prstGeom prst="rect">
            <a:avLst/>
          </a:prstGeom>
          <a:solidFill>
            <a:srgbClr val="1A2438"/>
          </a:solidFill>
          <a:ln w="12700">
            <a:solidFill>
              <a:srgbClr val="3B82C4"/>
            </a:solidFill>
            <a:prstDash val="solid"/>
          </a:ln>
        </p:spPr>
      </p:sp>
      <p:sp>
        <p:nvSpPr>
          <p:cNvPr id="20" name="Text 18"/>
          <p:cNvSpPr/>
          <p:nvPr/>
        </p:nvSpPr>
        <p:spPr>
          <a:xfrm>
            <a:off x="2011680" y="4206240"/>
            <a:ext cx="8229600" cy="685800"/>
          </a:xfrm>
          <a:prstGeom prst="rect">
            <a:avLst/>
          </a:prstGeom>
          <a:noFill/>
          <a:ln/>
        </p:spPr>
        <p:txBody>
          <a:bodyPr wrap="square" lIns="0" tIns="0" rIns="0" bIns="0" rtlCol="0" anchor="ctr"/>
          <a:lstStyle/>
          <a:p>
            <a:pPr marL="0" indent="0">
              <a:buNone/>
            </a:pPr>
            <a:r>
              <a:rPr lang="en-US" sz="2000" b="1" dirty="0">
                <a:solidFill>
                  <a:srgbClr val="DCE3EC"/>
                </a:solidFill>
                <a:latin typeface="Arial" pitchFamily="34" charset="0"/>
                <a:ea typeface="Arial" pitchFamily="34" charset="-122"/>
                <a:cs typeface="Arial" pitchFamily="34" charset="-120"/>
              </a:rPr>
              <a:t>Modélisation UML</a:t>
            </a:r>
            <a:endParaRPr lang="en-US" sz="2000" dirty="0"/>
          </a:p>
        </p:txBody>
      </p:sp>
      <p:sp>
        <p:nvSpPr>
          <p:cNvPr id="21" name="Shape 19"/>
          <p:cNvSpPr/>
          <p:nvPr/>
        </p:nvSpPr>
        <p:spPr>
          <a:xfrm>
            <a:off x="914400" y="5120640"/>
            <a:ext cx="685800" cy="685800"/>
          </a:xfrm>
          <a:prstGeom prst="rect">
            <a:avLst/>
          </a:prstGeom>
          <a:solidFill>
            <a:srgbClr val="E8503A"/>
          </a:solidFill>
          <a:ln/>
        </p:spPr>
      </p:sp>
      <p:sp>
        <p:nvSpPr>
          <p:cNvPr id="22" name="Text 20"/>
          <p:cNvSpPr/>
          <p:nvPr/>
        </p:nvSpPr>
        <p:spPr>
          <a:xfrm>
            <a:off x="914400" y="5120640"/>
            <a:ext cx="685800" cy="685800"/>
          </a:xfrm>
          <a:prstGeom prst="rect">
            <a:avLst/>
          </a:prstGeom>
          <a:noFill/>
          <a:ln/>
        </p:spPr>
        <p:txBody>
          <a:bodyPr wrap="square" lIns="0" tIns="0" rIns="0" bIns="0" rtlCol="0" anchor="ctr"/>
          <a:lstStyle/>
          <a:p>
            <a:pPr marL="0" indent="0" algn="ctr">
              <a:buNone/>
            </a:pPr>
            <a:r>
              <a:rPr lang="en-US" sz="2200" b="1" dirty="0">
                <a:solidFill>
                  <a:srgbClr val="0B1220"/>
                </a:solidFill>
                <a:latin typeface="Arial" pitchFamily="34" charset="0"/>
                <a:ea typeface="Arial" pitchFamily="34" charset="-122"/>
                <a:cs typeface="Arial" pitchFamily="34" charset="-120"/>
              </a:rPr>
              <a:t>04</a:t>
            </a:r>
            <a:endParaRPr lang="en-US" sz="2200" dirty="0"/>
          </a:p>
        </p:txBody>
      </p:sp>
      <p:sp>
        <p:nvSpPr>
          <p:cNvPr id="23" name="Shape 21"/>
          <p:cNvSpPr/>
          <p:nvPr/>
        </p:nvSpPr>
        <p:spPr>
          <a:xfrm>
            <a:off x="1783080" y="5120640"/>
            <a:ext cx="8686800" cy="685800"/>
          </a:xfrm>
          <a:prstGeom prst="rect">
            <a:avLst/>
          </a:prstGeom>
          <a:solidFill>
            <a:srgbClr val="1A2438"/>
          </a:solidFill>
          <a:ln w="12700">
            <a:solidFill>
              <a:srgbClr val="E8503A"/>
            </a:solidFill>
            <a:prstDash val="solid"/>
          </a:ln>
        </p:spPr>
      </p:sp>
      <p:sp>
        <p:nvSpPr>
          <p:cNvPr id="24" name="Text 22"/>
          <p:cNvSpPr/>
          <p:nvPr/>
        </p:nvSpPr>
        <p:spPr>
          <a:xfrm>
            <a:off x="2011680" y="5120640"/>
            <a:ext cx="8229600" cy="685800"/>
          </a:xfrm>
          <a:prstGeom prst="rect">
            <a:avLst/>
          </a:prstGeom>
          <a:noFill/>
          <a:ln/>
        </p:spPr>
        <p:txBody>
          <a:bodyPr wrap="square" lIns="0" tIns="0" rIns="0" bIns="0" rtlCol="0" anchor="ctr"/>
          <a:lstStyle/>
          <a:p>
            <a:pPr marL="0" indent="0">
              <a:buNone/>
            </a:pPr>
            <a:r>
              <a:rPr lang="en-US" sz="2000" b="1" dirty="0">
                <a:solidFill>
                  <a:srgbClr val="DCE3EC"/>
                </a:solidFill>
                <a:latin typeface="Arial" pitchFamily="34" charset="0"/>
                <a:ea typeface="Arial" pitchFamily="34" charset="-122"/>
                <a:cs typeface="Arial" pitchFamily="34" charset="-120"/>
              </a:rPr>
              <a:t>Conclusion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1. INTRODUCTION</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Shape 3"/>
          <p:cNvSpPr/>
          <p:nvPr/>
        </p:nvSpPr>
        <p:spPr>
          <a:xfrm>
            <a:off x="731520" y="1417320"/>
            <a:ext cx="10698480" cy="1828800"/>
          </a:xfrm>
          <a:prstGeom prst="rect">
            <a:avLst/>
          </a:prstGeom>
          <a:solidFill>
            <a:srgbClr val="1A2438"/>
          </a:solidFill>
          <a:ln w="12700">
            <a:solidFill>
              <a:srgbClr val="35C5E8"/>
            </a:solidFill>
            <a:prstDash val="solid"/>
          </a:ln>
        </p:spPr>
      </p:sp>
      <p:sp>
        <p:nvSpPr>
          <p:cNvPr id="6" name="Text 4"/>
          <p:cNvSpPr/>
          <p:nvPr/>
        </p:nvSpPr>
        <p:spPr>
          <a:xfrm>
            <a:off x="1005840" y="1600200"/>
            <a:ext cx="10149840" cy="1463040"/>
          </a:xfrm>
          <a:prstGeom prst="rect">
            <a:avLst/>
          </a:prstGeom>
          <a:noFill/>
          <a:ln/>
        </p:spPr>
        <p:txBody>
          <a:bodyPr wrap="square" rtlCol="0" anchor="ctr"/>
          <a:lstStyle/>
          <a:p>
            <a:pPr marL="0" indent="0" algn="just">
              <a:lnSpc>
                <a:spcPct val="125000"/>
              </a:lnSpc>
              <a:buNone/>
            </a:pPr>
            <a:r>
              <a:rPr lang="en-US" sz="1600" dirty="0">
                <a:solidFill>
                  <a:srgbClr val="DCE3EC"/>
                </a:solidFill>
                <a:latin typeface="Arial" pitchFamily="34" charset="0"/>
                <a:ea typeface="Arial" pitchFamily="34" charset="-122"/>
                <a:cs typeface="Arial" pitchFamily="34" charset="-120"/>
              </a:rPr>
              <a:t>Ce cahier d'analyse a pour objectif de détailler les besoins et les fonctionnalités du projet de conception, développement et déploiement d'une plateforme web de gestion et de visualisation des politiques TOMOYO Linux. Il vise à modéliser les interactions entre l'administrateur de sécurité et le système, à travers une approche structurée fondée sur la modélisation UML, afin de préparer la phase de conception détaillée.</a:t>
            </a:r>
            <a:endParaRPr lang="en-US" sz="1600" dirty="0"/>
          </a:p>
        </p:txBody>
      </p:sp>
      <p:sp>
        <p:nvSpPr>
          <p:cNvPr id="7" name="Text 5"/>
          <p:cNvSpPr/>
          <p:nvPr/>
        </p:nvSpPr>
        <p:spPr>
          <a:xfrm>
            <a:off x="1005840" y="3566160"/>
            <a:ext cx="10149840" cy="1371600"/>
          </a:xfrm>
          <a:prstGeom prst="rect">
            <a:avLst/>
          </a:prstGeom>
          <a:noFill/>
          <a:ln/>
        </p:spPr>
        <p:txBody>
          <a:bodyPr wrap="square" rtlCol="0" anchor="ctr"/>
          <a:lstStyle/>
          <a:p>
            <a:pPr marL="0" indent="0" algn="just">
              <a:lnSpc>
                <a:spcPct val="125000"/>
              </a:lnSpc>
              <a:buNone/>
            </a:pPr>
            <a:r>
              <a:rPr lang="en-US" sz="1600" dirty="0">
                <a:solidFill>
                  <a:srgbClr val="9AA7B8"/>
                </a:solidFill>
                <a:latin typeface="Arial" pitchFamily="34" charset="0"/>
                <a:ea typeface="Arial" pitchFamily="34" charset="-122"/>
                <a:cs typeface="Arial" pitchFamily="34" charset="-120"/>
              </a:rPr>
              <a:t>TOMOYO Linux est un module de sécurité (LSM) qui applique un contrôle d'accès obligatoire (MAC) basé sur les chemins. Son administration en ligne de commande étant complexe, la plateforme propose une interface web destinée à la simplifier et à démontrer l'efficacité du confinement applicatif.</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26633"/>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2. PÉRIMÈTRE FONCTIONNEL</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Shape 3"/>
          <p:cNvSpPr/>
          <p:nvPr/>
        </p:nvSpPr>
        <p:spPr>
          <a:xfrm>
            <a:off x="731520" y="1371600"/>
            <a:ext cx="2606040" cy="3108960"/>
          </a:xfrm>
          <a:prstGeom prst="rect">
            <a:avLst/>
          </a:prstGeom>
          <a:solidFill>
            <a:srgbClr val="111A2B"/>
          </a:solidFill>
          <a:ln w="12700">
            <a:solidFill>
              <a:srgbClr val="35C5E8"/>
            </a:solidFill>
            <a:prstDash val="solid"/>
          </a:ln>
        </p:spPr>
      </p:sp>
      <p:sp>
        <p:nvSpPr>
          <p:cNvPr id="6" name="Shape 4"/>
          <p:cNvSpPr/>
          <p:nvPr/>
        </p:nvSpPr>
        <p:spPr>
          <a:xfrm>
            <a:off x="731520" y="1371600"/>
            <a:ext cx="2606040" cy="82296"/>
          </a:xfrm>
          <a:prstGeom prst="rect">
            <a:avLst/>
          </a:prstGeom>
          <a:solidFill>
            <a:srgbClr val="35C5E8"/>
          </a:solidFill>
          <a:ln/>
        </p:spPr>
      </p:sp>
      <p:sp>
        <p:nvSpPr>
          <p:cNvPr id="7" name="Text 5"/>
          <p:cNvSpPr/>
          <p:nvPr/>
        </p:nvSpPr>
        <p:spPr>
          <a:xfrm>
            <a:off x="868680" y="1600200"/>
            <a:ext cx="2331720" cy="457200"/>
          </a:xfrm>
          <a:prstGeom prst="rect">
            <a:avLst/>
          </a:prstGeom>
          <a:noFill/>
          <a:ln/>
        </p:spPr>
        <p:txBody>
          <a:bodyPr wrap="square" lIns="0" tIns="0" rIns="0" bIns="0" rtlCol="0" anchor="ctr"/>
          <a:lstStyle/>
          <a:p>
            <a:pPr marL="0" indent="0" algn="ctr">
              <a:buNone/>
            </a:pPr>
            <a:r>
              <a:rPr lang="en-US" sz="1400" b="1" dirty="0">
                <a:solidFill>
                  <a:srgbClr val="35C5E8"/>
                </a:solidFill>
                <a:latin typeface="Arial" pitchFamily="34" charset="0"/>
                <a:ea typeface="Arial" pitchFamily="34" charset="-122"/>
                <a:cs typeface="Arial" pitchFamily="34" charset="-120"/>
              </a:rPr>
              <a:t>VISUALISATION</a:t>
            </a:r>
            <a:endParaRPr lang="en-US" sz="1400" dirty="0"/>
          </a:p>
        </p:txBody>
      </p:sp>
      <p:sp>
        <p:nvSpPr>
          <p:cNvPr id="8" name="Text 6"/>
          <p:cNvSpPr/>
          <p:nvPr/>
        </p:nvSpPr>
        <p:spPr>
          <a:xfrm>
            <a:off x="932688" y="2240280"/>
            <a:ext cx="2240280" cy="2103120"/>
          </a:xfrm>
          <a:prstGeom prst="rect">
            <a:avLst/>
          </a:prstGeom>
          <a:noFill/>
          <a:ln/>
        </p:spPr>
        <p:txBody>
          <a:bodyPr wrap="square" rtlCol="0" anchor="t"/>
          <a:lstStyle/>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Liste des domaines actifs</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Détail des règles par processus</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Filtrage chemin / permission</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Statut Learning / Enforcement</a:t>
            </a:r>
            <a:endParaRPr lang="en-US" sz="1150" dirty="0"/>
          </a:p>
        </p:txBody>
      </p:sp>
      <p:sp>
        <p:nvSpPr>
          <p:cNvPr id="9" name="Shape 7"/>
          <p:cNvSpPr/>
          <p:nvPr/>
        </p:nvSpPr>
        <p:spPr>
          <a:xfrm>
            <a:off x="3502152" y="1371600"/>
            <a:ext cx="2606040" cy="3108960"/>
          </a:xfrm>
          <a:prstGeom prst="rect">
            <a:avLst/>
          </a:prstGeom>
          <a:solidFill>
            <a:srgbClr val="111A2B"/>
          </a:solidFill>
          <a:ln w="12700">
            <a:solidFill>
              <a:srgbClr val="27D86B"/>
            </a:solidFill>
            <a:prstDash val="solid"/>
          </a:ln>
        </p:spPr>
      </p:sp>
      <p:sp>
        <p:nvSpPr>
          <p:cNvPr id="10" name="Shape 8"/>
          <p:cNvSpPr/>
          <p:nvPr/>
        </p:nvSpPr>
        <p:spPr>
          <a:xfrm>
            <a:off x="3502152" y="1371600"/>
            <a:ext cx="2606040" cy="82296"/>
          </a:xfrm>
          <a:prstGeom prst="rect">
            <a:avLst/>
          </a:prstGeom>
          <a:solidFill>
            <a:srgbClr val="27D86B"/>
          </a:solidFill>
          <a:ln/>
        </p:spPr>
      </p:sp>
      <p:sp>
        <p:nvSpPr>
          <p:cNvPr id="11" name="Text 9"/>
          <p:cNvSpPr/>
          <p:nvPr/>
        </p:nvSpPr>
        <p:spPr>
          <a:xfrm>
            <a:off x="3639312" y="1600200"/>
            <a:ext cx="2331720" cy="457200"/>
          </a:xfrm>
          <a:prstGeom prst="rect">
            <a:avLst/>
          </a:prstGeom>
          <a:noFill/>
          <a:ln/>
        </p:spPr>
        <p:txBody>
          <a:bodyPr wrap="square" lIns="0" tIns="0" rIns="0" bIns="0" rtlCol="0" anchor="ctr"/>
          <a:lstStyle/>
          <a:p>
            <a:pPr marL="0" indent="0" algn="ctr">
              <a:buNone/>
            </a:pPr>
            <a:r>
              <a:rPr lang="en-US" sz="1400" b="1" dirty="0">
                <a:solidFill>
                  <a:srgbClr val="27D86B"/>
                </a:solidFill>
                <a:latin typeface="Arial" pitchFamily="34" charset="0"/>
                <a:ea typeface="Arial" pitchFamily="34" charset="-122"/>
                <a:cs typeface="Arial" pitchFamily="34" charset="-120"/>
              </a:rPr>
              <a:t>CONTRÔLE DES MODES</a:t>
            </a:r>
            <a:endParaRPr lang="en-US" sz="1400" dirty="0"/>
          </a:p>
        </p:txBody>
      </p:sp>
      <p:sp>
        <p:nvSpPr>
          <p:cNvPr id="12" name="Text 10"/>
          <p:cNvSpPr/>
          <p:nvPr/>
        </p:nvSpPr>
        <p:spPr>
          <a:xfrm>
            <a:off x="3703320" y="2240280"/>
            <a:ext cx="2240280" cy="2103120"/>
          </a:xfrm>
          <a:prstGeom prst="rect">
            <a:avLst/>
          </a:prstGeom>
          <a:noFill/>
          <a:ln/>
        </p:spPr>
        <p:txBody>
          <a:bodyPr wrap="square" rtlCol="0" anchor="t"/>
          <a:lstStyle/>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Boutons Learning / Enforcement</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Confirmation avant basculement</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Historique des changements</a:t>
            </a:r>
            <a:endParaRPr lang="en-US" sz="1150" dirty="0"/>
          </a:p>
        </p:txBody>
      </p:sp>
      <p:sp>
        <p:nvSpPr>
          <p:cNvPr id="13" name="Shape 11"/>
          <p:cNvSpPr/>
          <p:nvPr/>
        </p:nvSpPr>
        <p:spPr>
          <a:xfrm>
            <a:off x="6272784" y="1371600"/>
            <a:ext cx="2606040" cy="3108960"/>
          </a:xfrm>
          <a:prstGeom prst="rect">
            <a:avLst/>
          </a:prstGeom>
          <a:solidFill>
            <a:srgbClr val="111A2B"/>
          </a:solidFill>
          <a:ln w="12700">
            <a:solidFill>
              <a:srgbClr val="F2A615"/>
            </a:solidFill>
            <a:prstDash val="solid"/>
          </a:ln>
        </p:spPr>
      </p:sp>
      <p:sp>
        <p:nvSpPr>
          <p:cNvPr id="14" name="Shape 12"/>
          <p:cNvSpPr/>
          <p:nvPr/>
        </p:nvSpPr>
        <p:spPr>
          <a:xfrm>
            <a:off x="6272784" y="1371600"/>
            <a:ext cx="2606040" cy="82296"/>
          </a:xfrm>
          <a:prstGeom prst="rect">
            <a:avLst/>
          </a:prstGeom>
          <a:solidFill>
            <a:srgbClr val="F2A615"/>
          </a:solidFill>
          <a:ln/>
        </p:spPr>
      </p:sp>
      <p:sp>
        <p:nvSpPr>
          <p:cNvPr id="15" name="Text 13"/>
          <p:cNvSpPr/>
          <p:nvPr/>
        </p:nvSpPr>
        <p:spPr>
          <a:xfrm>
            <a:off x="6409944" y="1600200"/>
            <a:ext cx="2331720" cy="457200"/>
          </a:xfrm>
          <a:prstGeom prst="rect">
            <a:avLst/>
          </a:prstGeom>
          <a:noFill/>
          <a:ln/>
        </p:spPr>
        <p:txBody>
          <a:bodyPr wrap="square" lIns="0" tIns="0" rIns="0" bIns="0" rtlCol="0" anchor="ctr"/>
          <a:lstStyle/>
          <a:p>
            <a:pPr marL="0" indent="0" algn="ctr">
              <a:buNone/>
            </a:pPr>
            <a:r>
              <a:rPr lang="en-US" sz="1400" b="1" dirty="0">
                <a:solidFill>
                  <a:srgbClr val="F2A615"/>
                </a:solidFill>
                <a:latin typeface="Arial" pitchFamily="34" charset="0"/>
                <a:ea typeface="Arial" pitchFamily="34" charset="-122"/>
                <a:cs typeface="Arial" pitchFamily="34" charset="-120"/>
              </a:rPr>
              <a:t>GÉNÉRATION AUTO.</a:t>
            </a:r>
            <a:endParaRPr lang="en-US" sz="1400" dirty="0"/>
          </a:p>
        </p:txBody>
      </p:sp>
      <p:sp>
        <p:nvSpPr>
          <p:cNvPr id="16" name="Text 14"/>
          <p:cNvSpPr/>
          <p:nvPr/>
        </p:nvSpPr>
        <p:spPr>
          <a:xfrm>
            <a:off x="6473952" y="2240280"/>
            <a:ext cx="2240280" cy="2103120"/>
          </a:xfrm>
          <a:prstGeom prst="rect">
            <a:avLst/>
          </a:prstGeom>
          <a:noFill/>
          <a:ln/>
        </p:spPr>
        <p:txBody>
          <a:bodyPr wrap="square" rtlCol="0" anchor="t"/>
          <a:lstStyle/>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Sélection de l'application</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Capture des accès (apprentissage)</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Génération et export de policy</a:t>
            </a:r>
            <a:endParaRPr lang="en-US" sz="1150" dirty="0"/>
          </a:p>
        </p:txBody>
      </p:sp>
      <p:sp>
        <p:nvSpPr>
          <p:cNvPr id="17" name="Shape 15"/>
          <p:cNvSpPr/>
          <p:nvPr/>
        </p:nvSpPr>
        <p:spPr>
          <a:xfrm>
            <a:off x="9043416" y="1371600"/>
            <a:ext cx="2606040" cy="3108960"/>
          </a:xfrm>
          <a:prstGeom prst="rect">
            <a:avLst/>
          </a:prstGeom>
          <a:solidFill>
            <a:srgbClr val="111A2B"/>
          </a:solidFill>
          <a:ln w="12700">
            <a:solidFill>
              <a:srgbClr val="3B82C4"/>
            </a:solidFill>
            <a:prstDash val="solid"/>
          </a:ln>
        </p:spPr>
      </p:sp>
      <p:sp>
        <p:nvSpPr>
          <p:cNvPr id="18" name="Shape 16"/>
          <p:cNvSpPr/>
          <p:nvPr/>
        </p:nvSpPr>
        <p:spPr>
          <a:xfrm>
            <a:off x="9043416" y="1371600"/>
            <a:ext cx="2606040" cy="82296"/>
          </a:xfrm>
          <a:prstGeom prst="rect">
            <a:avLst/>
          </a:prstGeom>
          <a:solidFill>
            <a:srgbClr val="3B82C4"/>
          </a:solidFill>
          <a:ln/>
        </p:spPr>
      </p:sp>
      <p:sp>
        <p:nvSpPr>
          <p:cNvPr id="19" name="Text 17"/>
          <p:cNvSpPr/>
          <p:nvPr/>
        </p:nvSpPr>
        <p:spPr>
          <a:xfrm>
            <a:off x="9180576" y="1600200"/>
            <a:ext cx="2331720" cy="457200"/>
          </a:xfrm>
          <a:prstGeom prst="rect">
            <a:avLst/>
          </a:prstGeom>
          <a:noFill/>
          <a:ln/>
        </p:spPr>
        <p:txBody>
          <a:bodyPr wrap="square" lIns="0" tIns="0" rIns="0" bIns="0" rtlCol="0" anchor="ctr"/>
          <a:lstStyle/>
          <a:p>
            <a:pPr marL="0" indent="0" algn="ctr">
              <a:buNone/>
            </a:pPr>
            <a:r>
              <a:rPr lang="en-US" sz="1400" b="1" dirty="0">
                <a:solidFill>
                  <a:srgbClr val="3B82C4"/>
                </a:solidFill>
                <a:latin typeface="Arial" pitchFamily="34" charset="0"/>
                <a:ea typeface="Arial" pitchFamily="34" charset="-122"/>
                <a:cs typeface="Arial" pitchFamily="34" charset="-120"/>
              </a:rPr>
              <a:t>ÉDITION WEB</a:t>
            </a:r>
            <a:endParaRPr lang="en-US" sz="1400" dirty="0"/>
          </a:p>
        </p:txBody>
      </p:sp>
      <p:sp>
        <p:nvSpPr>
          <p:cNvPr id="20" name="Text 18"/>
          <p:cNvSpPr/>
          <p:nvPr/>
        </p:nvSpPr>
        <p:spPr>
          <a:xfrm>
            <a:off x="9244584" y="2240280"/>
            <a:ext cx="2240280" cy="2103120"/>
          </a:xfrm>
          <a:prstGeom prst="rect">
            <a:avLst/>
          </a:prstGeom>
          <a:noFill/>
          <a:ln/>
        </p:spPr>
        <p:txBody>
          <a:bodyPr wrap="square" rtlCol="0" anchor="t"/>
          <a:lstStyle/>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Éditeur de règles TOMOYO</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Validation avant application</a:t>
            </a:r>
            <a:endParaRPr lang="en-US" sz="1150" dirty="0"/>
          </a:p>
          <a:p>
            <a:pPr marL="152400" indent="-152400">
              <a:spcAft>
                <a:spcPts val="800"/>
              </a:spcAft>
              <a:buSzPct val="100000"/>
              <a:buChar char="•"/>
            </a:pPr>
            <a:r>
              <a:rPr lang="en-US" sz="1150" dirty="0">
                <a:solidFill>
                  <a:srgbClr val="DCE3EC"/>
                </a:solidFill>
                <a:latin typeface="Arial" pitchFamily="34" charset="0"/>
                <a:ea typeface="Arial" pitchFamily="34" charset="-122"/>
                <a:cs typeface="Arial" pitchFamily="34" charset="-120"/>
              </a:rPr>
              <a:t>Prévisualisation et rollback</a:t>
            </a:r>
            <a:endParaRPr lang="en-US" sz="1150" dirty="0"/>
          </a:p>
        </p:txBody>
      </p:sp>
      <p:sp>
        <p:nvSpPr>
          <p:cNvPr id="21" name="Shape 19"/>
          <p:cNvSpPr/>
          <p:nvPr/>
        </p:nvSpPr>
        <p:spPr>
          <a:xfrm>
            <a:off x="731520" y="4709160"/>
            <a:ext cx="10917936" cy="640080"/>
          </a:xfrm>
          <a:prstGeom prst="rect">
            <a:avLst/>
          </a:prstGeom>
          <a:solidFill>
            <a:srgbClr val="1A2438"/>
          </a:solidFill>
          <a:ln w="12700">
            <a:solidFill>
              <a:srgbClr val="35C5E8"/>
            </a:solidFill>
            <a:prstDash val="solid"/>
          </a:ln>
        </p:spPr>
      </p:sp>
      <p:sp>
        <p:nvSpPr>
          <p:cNvPr id="22" name="Text 20"/>
          <p:cNvSpPr/>
          <p:nvPr/>
        </p:nvSpPr>
        <p:spPr>
          <a:xfrm>
            <a:off x="914400" y="4709160"/>
            <a:ext cx="10552176" cy="640080"/>
          </a:xfrm>
          <a:prstGeom prst="rect">
            <a:avLst/>
          </a:prstGeom>
          <a:noFill/>
          <a:ln/>
        </p:spPr>
        <p:txBody>
          <a:bodyPr wrap="square" lIns="0" tIns="0" rIns="0" bIns="0" rtlCol="0" anchor="ctr"/>
          <a:lstStyle/>
          <a:p>
            <a:pPr marL="0" indent="0">
              <a:buNone/>
            </a:pPr>
            <a:r>
              <a:rPr lang="en-US" sz="1300" b="1" dirty="0">
                <a:solidFill>
                  <a:srgbClr val="35C5E8"/>
                </a:solidFill>
                <a:latin typeface="Arial" pitchFamily="34" charset="0"/>
                <a:ea typeface="Arial" pitchFamily="34" charset="-122"/>
                <a:cs typeface="Arial" pitchFamily="34" charset="-120"/>
              </a:rPr>
              <a:t>MODULE TRANSVERSAL — Sécurité d'accès :  </a:t>
            </a:r>
            <a:r>
              <a:rPr lang="en-US" sz="1300" dirty="0">
                <a:solidFill>
                  <a:srgbClr val="DCE3EC"/>
                </a:solidFill>
                <a:latin typeface="Arial" pitchFamily="34" charset="0"/>
                <a:ea typeface="Arial" pitchFamily="34" charset="-122"/>
                <a:cs typeface="Arial" pitchFamily="34" charset="-120"/>
              </a:rPr>
              <a:t>authentification, communication chiffrée (HTTPS), journalisation (audit).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3. MODÉLISATION UML</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Text 3"/>
          <p:cNvSpPr/>
          <p:nvPr/>
        </p:nvSpPr>
        <p:spPr>
          <a:xfrm>
            <a:off x="731520" y="1325880"/>
            <a:ext cx="10698480" cy="731520"/>
          </a:xfrm>
          <a:prstGeom prst="rect">
            <a:avLst/>
          </a:prstGeom>
          <a:noFill/>
          <a:ln/>
        </p:spPr>
        <p:txBody>
          <a:bodyPr wrap="square" rtlCol="0" anchor="ctr"/>
          <a:lstStyle/>
          <a:p>
            <a:pPr marL="0" indent="0" algn="just">
              <a:buNone/>
            </a:pPr>
            <a:r>
              <a:rPr lang="en-US" sz="1500" dirty="0">
                <a:solidFill>
                  <a:srgbClr val="9AA7B8"/>
                </a:solidFill>
                <a:latin typeface="Arial" pitchFamily="34" charset="0"/>
                <a:ea typeface="Arial" pitchFamily="34" charset="-122"/>
                <a:cs typeface="Arial" pitchFamily="34" charset="-120"/>
              </a:rPr>
              <a:t>Cette section modélise les interactions entre les acteurs et le système : identification des acteurs, description textuelle des cas d'utilisation, puis diagramme de cas d'utilisation global.</a:t>
            </a:r>
            <a:endParaRPr lang="en-US" sz="1500" dirty="0"/>
          </a:p>
        </p:txBody>
      </p:sp>
      <p:sp>
        <p:nvSpPr>
          <p:cNvPr id="6" name="Text 4"/>
          <p:cNvSpPr/>
          <p:nvPr/>
        </p:nvSpPr>
        <p:spPr>
          <a:xfrm>
            <a:off x="731520" y="2194560"/>
            <a:ext cx="7315200" cy="365760"/>
          </a:xfrm>
          <a:prstGeom prst="rect">
            <a:avLst/>
          </a:prstGeom>
          <a:noFill/>
          <a:ln/>
        </p:spPr>
        <p:txBody>
          <a:bodyPr wrap="square" lIns="0" tIns="0" rIns="0" bIns="0" rtlCol="0" anchor="ctr"/>
          <a:lstStyle/>
          <a:p>
            <a:pPr marL="0" indent="0">
              <a:buNone/>
            </a:pPr>
            <a:r>
              <a:rPr lang="en-US" sz="1500" b="1" kern="0" spc="200" dirty="0">
                <a:solidFill>
                  <a:srgbClr val="35C5E8"/>
                </a:solidFill>
                <a:latin typeface="Arial" pitchFamily="34" charset="0"/>
                <a:ea typeface="Arial" pitchFamily="34" charset="-122"/>
                <a:cs typeface="Arial" pitchFamily="34" charset="-120"/>
              </a:rPr>
              <a:t>IDENTIFICATION DES ACTEURS</a:t>
            </a:r>
            <a:endParaRPr lang="en-US" sz="1500" dirty="0"/>
          </a:p>
        </p:txBody>
      </p:sp>
      <p:sp>
        <p:nvSpPr>
          <p:cNvPr id="7" name="Shape 5"/>
          <p:cNvSpPr/>
          <p:nvPr/>
        </p:nvSpPr>
        <p:spPr>
          <a:xfrm>
            <a:off x="731520" y="2697480"/>
            <a:ext cx="5349240" cy="2651760"/>
          </a:xfrm>
          <a:prstGeom prst="rect">
            <a:avLst/>
          </a:prstGeom>
          <a:solidFill>
            <a:srgbClr val="111A2B"/>
          </a:solidFill>
          <a:ln w="12700">
            <a:solidFill>
              <a:srgbClr val="35C5E8"/>
            </a:solidFill>
            <a:prstDash val="solid"/>
          </a:ln>
        </p:spPr>
      </p:sp>
      <p:sp>
        <p:nvSpPr>
          <p:cNvPr id="8" name="Shape 6"/>
          <p:cNvSpPr/>
          <p:nvPr/>
        </p:nvSpPr>
        <p:spPr>
          <a:xfrm>
            <a:off x="731520" y="2697480"/>
            <a:ext cx="82296" cy="2651760"/>
          </a:xfrm>
          <a:prstGeom prst="rect">
            <a:avLst/>
          </a:prstGeom>
          <a:solidFill>
            <a:srgbClr val="35C5E8"/>
          </a:solidFill>
          <a:ln/>
        </p:spPr>
      </p:sp>
      <p:sp>
        <p:nvSpPr>
          <p:cNvPr id="9" name="Shape 7"/>
          <p:cNvSpPr/>
          <p:nvPr/>
        </p:nvSpPr>
        <p:spPr>
          <a:xfrm>
            <a:off x="1097280" y="3108960"/>
            <a:ext cx="777240" cy="777240"/>
          </a:xfrm>
          <a:prstGeom prst="ellipse">
            <a:avLst/>
          </a:prstGeom>
          <a:solidFill>
            <a:srgbClr val="35C5E8"/>
          </a:solidFill>
          <a:ln/>
        </p:spPr>
      </p:sp>
      <p:sp>
        <p:nvSpPr>
          <p:cNvPr id="10" name="Text 8"/>
          <p:cNvSpPr/>
          <p:nvPr/>
        </p:nvSpPr>
        <p:spPr>
          <a:xfrm>
            <a:off x="2057400" y="3108960"/>
            <a:ext cx="3840480" cy="457200"/>
          </a:xfrm>
          <a:prstGeom prst="rect">
            <a:avLst/>
          </a:prstGeom>
          <a:noFill/>
          <a:ln/>
        </p:spPr>
        <p:txBody>
          <a:bodyPr wrap="square" lIns="0" tIns="0" rIns="0" bIns="0" rtlCol="0" anchor="ctr"/>
          <a:lstStyle/>
          <a:p>
            <a:pPr marL="0" indent="0">
              <a:buNone/>
            </a:pPr>
            <a:r>
              <a:rPr lang="en-US" sz="1700" b="1" dirty="0" err="1">
                <a:solidFill>
                  <a:srgbClr val="FFFFFF"/>
                </a:solidFill>
                <a:latin typeface="Arial" pitchFamily="34" charset="0"/>
                <a:ea typeface="Arial" pitchFamily="34" charset="-122"/>
                <a:cs typeface="Arial" pitchFamily="34" charset="-120"/>
              </a:rPr>
              <a:t>Administrateur</a:t>
            </a:r>
            <a:r>
              <a:rPr lang="en-US" sz="1700" b="1" dirty="0">
                <a:solidFill>
                  <a:srgbClr val="FFFFFF"/>
                </a:solidFill>
                <a:latin typeface="Arial" pitchFamily="34" charset="0"/>
                <a:ea typeface="Arial" pitchFamily="34" charset="-122"/>
                <a:cs typeface="Arial" pitchFamily="34" charset="-120"/>
              </a:rPr>
              <a:t> </a:t>
            </a:r>
            <a:r>
              <a:rPr lang="en-US" sz="1700" b="1" dirty="0" err="1">
                <a:solidFill>
                  <a:srgbClr val="FFFFFF"/>
                </a:solidFill>
                <a:latin typeface="Arial" pitchFamily="34" charset="0"/>
                <a:ea typeface="Arial" pitchFamily="34" charset="-122"/>
                <a:cs typeface="Arial" pitchFamily="34" charset="-120"/>
              </a:rPr>
              <a:t>système</a:t>
            </a:r>
            <a:endParaRPr lang="en-US" sz="1700" dirty="0"/>
          </a:p>
        </p:txBody>
      </p:sp>
      <p:sp>
        <p:nvSpPr>
          <p:cNvPr id="11" name="Text 9"/>
          <p:cNvSpPr/>
          <p:nvPr/>
        </p:nvSpPr>
        <p:spPr>
          <a:xfrm>
            <a:off x="2057400" y="3566160"/>
            <a:ext cx="3840480" cy="320040"/>
          </a:xfrm>
          <a:prstGeom prst="rect">
            <a:avLst/>
          </a:prstGeom>
          <a:noFill/>
          <a:ln/>
        </p:spPr>
        <p:txBody>
          <a:bodyPr wrap="square" lIns="0" tIns="0" rIns="0" bIns="0" rtlCol="0" anchor="ctr"/>
          <a:lstStyle/>
          <a:p>
            <a:pPr marL="0" indent="0">
              <a:buNone/>
            </a:pPr>
            <a:r>
              <a:rPr lang="en-US" sz="1100" b="1" kern="0" spc="200" dirty="0">
                <a:solidFill>
                  <a:srgbClr val="35C5E8"/>
                </a:solidFill>
                <a:latin typeface="Arial" pitchFamily="34" charset="0"/>
                <a:ea typeface="Arial" pitchFamily="34" charset="-122"/>
                <a:cs typeface="Arial" pitchFamily="34" charset="-120"/>
              </a:rPr>
              <a:t>ACTEUR PRINCIPAL</a:t>
            </a:r>
            <a:endParaRPr lang="en-US" sz="1100" dirty="0"/>
          </a:p>
        </p:txBody>
      </p:sp>
      <p:sp>
        <p:nvSpPr>
          <p:cNvPr id="12" name="Text 10"/>
          <p:cNvSpPr/>
          <p:nvPr/>
        </p:nvSpPr>
        <p:spPr>
          <a:xfrm>
            <a:off x="1097280" y="4114800"/>
            <a:ext cx="4663440" cy="1005840"/>
          </a:xfrm>
          <a:prstGeom prst="rect">
            <a:avLst/>
          </a:prstGeom>
          <a:noFill/>
          <a:ln/>
        </p:spPr>
        <p:txBody>
          <a:bodyPr wrap="square" rtlCol="0" anchor="t"/>
          <a:lstStyle/>
          <a:p>
            <a:pPr marL="0" indent="0">
              <a:buNone/>
            </a:pPr>
            <a:r>
              <a:rPr lang="en-US" sz="1350" dirty="0">
                <a:solidFill>
                  <a:srgbClr val="DCE3EC"/>
                </a:solidFill>
                <a:latin typeface="Arial" pitchFamily="34" charset="0"/>
                <a:ea typeface="Arial" pitchFamily="34" charset="-122"/>
                <a:cs typeface="Arial" pitchFamily="34" charset="-120"/>
              </a:rPr>
              <a:t>Visualise les policies, bascule les modes, génère et édite les règles, exécute le scénario de démonstration.</a:t>
            </a:r>
            <a:endParaRPr lang="en-US" sz="1350" dirty="0"/>
          </a:p>
        </p:txBody>
      </p:sp>
      <p:sp>
        <p:nvSpPr>
          <p:cNvPr id="13" name="Shape 11"/>
          <p:cNvSpPr/>
          <p:nvPr/>
        </p:nvSpPr>
        <p:spPr>
          <a:xfrm>
            <a:off x="6263640" y="2697480"/>
            <a:ext cx="5349240" cy="2651760"/>
          </a:xfrm>
          <a:prstGeom prst="rect">
            <a:avLst/>
          </a:prstGeom>
          <a:solidFill>
            <a:srgbClr val="111A2B"/>
          </a:solidFill>
          <a:ln w="12700">
            <a:solidFill>
              <a:srgbClr val="27D86B"/>
            </a:solidFill>
            <a:prstDash val="solid"/>
          </a:ln>
        </p:spPr>
      </p:sp>
      <p:sp>
        <p:nvSpPr>
          <p:cNvPr id="14" name="Shape 12"/>
          <p:cNvSpPr/>
          <p:nvPr/>
        </p:nvSpPr>
        <p:spPr>
          <a:xfrm>
            <a:off x="6263640" y="2697480"/>
            <a:ext cx="82296" cy="2651760"/>
          </a:xfrm>
          <a:prstGeom prst="rect">
            <a:avLst/>
          </a:prstGeom>
          <a:solidFill>
            <a:srgbClr val="27D86B"/>
          </a:solidFill>
          <a:ln/>
        </p:spPr>
      </p:sp>
      <p:sp>
        <p:nvSpPr>
          <p:cNvPr id="15" name="Shape 13"/>
          <p:cNvSpPr/>
          <p:nvPr/>
        </p:nvSpPr>
        <p:spPr>
          <a:xfrm>
            <a:off x="6629400" y="3108960"/>
            <a:ext cx="777240" cy="777240"/>
          </a:xfrm>
          <a:prstGeom prst="ellipse">
            <a:avLst/>
          </a:prstGeom>
          <a:solidFill>
            <a:srgbClr val="27D86B"/>
          </a:solidFill>
          <a:ln/>
        </p:spPr>
      </p:sp>
      <p:sp>
        <p:nvSpPr>
          <p:cNvPr id="16" name="Text 14"/>
          <p:cNvSpPr/>
          <p:nvPr/>
        </p:nvSpPr>
        <p:spPr>
          <a:xfrm>
            <a:off x="7589520" y="3108960"/>
            <a:ext cx="3840480" cy="45720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Système TOMOYO</a:t>
            </a:r>
            <a:endParaRPr lang="en-US" sz="1700" dirty="0"/>
          </a:p>
        </p:txBody>
      </p:sp>
      <p:sp>
        <p:nvSpPr>
          <p:cNvPr id="17" name="Text 15"/>
          <p:cNvSpPr/>
          <p:nvPr/>
        </p:nvSpPr>
        <p:spPr>
          <a:xfrm>
            <a:off x="7589520" y="3566160"/>
            <a:ext cx="3840480" cy="320040"/>
          </a:xfrm>
          <a:prstGeom prst="rect">
            <a:avLst/>
          </a:prstGeom>
          <a:noFill/>
          <a:ln/>
        </p:spPr>
        <p:txBody>
          <a:bodyPr wrap="square" lIns="0" tIns="0" rIns="0" bIns="0" rtlCol="0" anchor="ctr"/>
          <a:lstStyle/>
          <a:p>
            <a:pPr marL="0" indent="0">
              <a:buNone/>
            </a:pPr>
            <a:r>
              <a:rPr lang="en-US" sz="1100" b="1" kern="0" spc="200" dirty="0">
                <a:solidFill>
                  <a:srgbClr val="27D86B"/>
                </a:solidFill>
                <a:latin typeface="Arial" pitchFamily="34" charset="0"/>
                <a:ea typeface="Arial" pitchFamily="34" charset="-122"/>
                <a:cs typeface="Arial" pitchFamily="34" charset="-120"/>
              </a:rPr>
              <a:t>ACTEUR </a:t>
            </a:r>
            <a:r>
              <a:rPr lang="en-US" sz="1100" b="1" kern="0" spc="200" dirty="0" err="1">
                <a:solidFill>
                  <a:srgbClr val="27D86B"/>
                </a:solidFill>
                <a:latin typeface="Arial" pitchFamily="34" charset="0"/>
                <a:ea typeface="Arial" pitchFamily="34" charset="-122"/>
                <a:cs typeface="Arial" pitchFamily="34" charset="-120"/>
              </a:rPr>
              <a:t>Système</a:t>
            </a:r>
            <a:endParaRPr lang="en-US" sz="1100" dirty="0"/>
          </a:p>
        </p:txBody>
      </p:sp>
      <p:sp>
        <p:nvSpPr>
          <p:cNvPr id="18" name="Text 16"/>
          <p:cNvSpPr/>
          <p:nvPr/>
        </p:nvSpPr>
        <p:spPr>
          <a:xfrm>
            <a:off x="6629400" y="4114800"/>
            <a:ext cx="4663440" cy="1005840"/>
          </a:xfrm>
          <a:prstGeom prst="rect">
            <a:avLst/>
          </a:prstGeom>
          <a:noFill/>
          <a:ln/>
        </p:spPr>
        <p:txBody>
          <a:bodyPr wrap="square" rtlCol="0" anchor="t"/>
          <a:lstStyle/>
          <a:p>
            <a:pPr marL="0" indent="0">
              <a:buNone/>
            </a:pPr>
            <a:r>
              <a:rPr lang="en-US" sz="1350" dirty="0">
                <a:solidFill>
                  <a:srgbClr val="DCE3EC"/>
                </a:solidFill>
                <a:latin typeface="Arial" pitchFamily="34" charset="0"/>
                <a:ea typeface="Arial" pitchFamily="34" charset="-122"/>
                <a:cs typeface="Arial" pitchFamily="34" charset="-120"/>
              </a:rPr>
              <a:t>Applique les politiques au niveau du noyau et remonte les accès observés vers la plateforme.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DIAGRAMME DE CAS D'UTILISATION GLOBAL</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7" name="Text 4"/>
          <p:cNvSpPr/>
          <p:nvPr/>
        </p:nvSpPr>
        <p:spPr>
          <a:xfrm>
            <a:off x="914400" y="6355080"/>
            <a:ext cx="10332720" cy="320040"/>
          </a:xfrm>
          <a:prstGeom prst="rect">
            <a:avLst/>
          </a:prstGeom>
          <a:noFill/>
          <a:ln/>
        </p:spPr>
        <p:txBody>
          <a:bodyPr wrap="square" rtlCol="0" anchor="ctr"/>
          <a:lstStyle/>
          <a:p>
            <a:pPr marL="0" indent="0" algn="ctr">
              <a:buNone/>
            </a:pPr>
            <a:r>
              <a:rPr lang="en-US" sz="1200" i="1" dirty="0">
                <a:solidFill>
                  <a:srgbClr val="9AA7B8"/>
                </a:solidFill>
                <a:latin typeface="Arial" pitchFamily="34" charset="0"/>
                <a:ea typeface="Arial" pitchFamily="34" charset="-122"/>
                <a:cs typeface="Arial" pitchFamily="34" charset="-120"/>
              </a:rPr>
              <a:t>Figure 1 — Diagramme de cas d'utilisation global de TOMOYO-Web-Manager</a:t>
            </a:r>
            <a:endParaRPr lang="en-US" sz="1200" dirty="0"/>
          </a:p>
        </p:txBody>
      </p:sp>
      <p:pic>
        <p:nvPicPr>
          <p:cNvPr id="6" name="Image 5">
            <a:extLst>
              <a:ext uri="{FF2B5EF4-FFF2-40B4-BE49-F238E27FC236}">
                <a16:creationId xmlns:a16="http://schemas.microsoft.com/office/drawing/2014/main" xmlns="" id="{39038FB2-8D00-4B54-B7A8-D04E70A50A4D}"/>
              </a:ext>
            </a:extLst>
          </p:cNvPr>
          <p:cNvPicPr>
            <a:picLocks noChangeAspect="1"/>
          </p:cNvPicPr>
          <p:nvPr/>
        </p:nvPicPr>
        <p:blipFill>
          <a:blip r:embed="rId3"/>
          <a:stretch>
            <a:fillRect/>
          </a:stretch>
        </p:blipFill>
        <p:spPr>
          <a:xfrm>
            <a:off x="566928" y="1234250"/>
            <a:ext cx="10317626" cy="49196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CAS D'UTILISATION 1</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Text 3"/>
          <p:cNvSpPr/>
          <p:nvPr/>
        </p:nvSpPr>
        <p:spPr>
          <a:xfrm>
            <a:off x="5486400" y="164592"/>
            <a:ext cx="6126480" cy="685800"/>
          </a:xfrm>
          <a:prstGeom prst="rect">
            <a:avLst/>
          </a:prstGeom>
          <a:noFill/>
          <a:ln/>
        </p:spPr>
        <p:txBody>
          <a:bodyPr wrap="square" lIns="0" tIns="0" rIns="0" bIns="0" rtlCol="0" anchor="ctr"/>
          <a:lstStyle/>
          <a:p>
            <a:pPr marL="0" indent="0" algn="r">
              <a:buNone/>
            </a:pPr>
            <a:r>
              <a:rPr lang="en-US" sz="1600" b="1" i="1" dirty="0">
                <a:solidFill>
                  <a:srgbClr val="35C5E8"/>
                </a:solidFill>
                <a:latin typeface="Arial" pitchFamily="34" charset="0"/>
                <a:ea typeface="Arial" pitchFamily="34" charset="-122"/>
                <a:cs typeface="Arial" pitchFamily="34" charset="-120"/>
              </a:rPr>
              <a:t>S'authentifier</a:t>
            </a:r>
            <a:endParaRPr lang="en-US" sz="1600" dirty="0"/>
          </a:p>
        </p:txBody>
      </p:sp>
      <p:sp>
        <p:nvSpPr>
          <p:cNvPr id="6" name="Shape 4"/>
          <p:cNvSpPr/>
          <p:nvPr/>
        </p:nvSpPr>
        <p:spPr>
          <a:xfrm>
            <a:off x="731520" y="1280160"/>
            <a:ext cx="5349240" cy="749808"/>
          </a:xfrm>
          <a:prstGeom prst="rect">
            <a:avLst/>
          </a:prstGeom>
          <a:solidFill>
            <a:srgbClr val="1A2438"/>
          </a:solidFill>
          <a:ln w="12700">
            <a:solidFill>
              <a:srgbClr val="35C5E8"/>
            </a:solidFill>
            <a:prstDash val="solid"/>
          </a:ln>
        </p:spPr>
      </p:sp>
      <p:sp>
        <p:nvSpPr>
          <p:cNvPr id="7" name="Shape 5"/>
          <p:cNvSpPr/>
          <p:nvPr/>
        </p:nvSpPr>
        <p:spPr>
          <a:xfrm>
            <a:off x="731520" y="1280160"/>
            <a:ext cx="82296" cy="749808"/>
          </a:xfrm>
          <a:prstGeom prst="rect">
            <a:avLst/>
          </a:prstGeom>
          <a:solidFill>
            <a:srgbClr val="35C5E8"/>
          </a:solidFill>
          <a:ln/>
        </p:spPr>
      </p:sp>
      <p:sp>
        <p:nvSpPr>
          <p:cNvPr id="8" name="Text 6"/>
          <p:cNvSpPr/>
          <p:nvPr/>
        </p:nvSpPr>
        <p:spPr>
          <a:xfrm>
            <a:off x="91440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OBJECTIF</a:t>
            </a:r>
            <a:endParaRPr lang="en-US" sz="1000" dirty="0"/>
          </a:p>
        </p:txBody>
      </p:sp>
      <p:sp>
        <p:nvSpPr>
          <p:cNvPr id="9" name="Text 7"/>
          <p:cNvSpPr/>
          <p:nvPr/>
        </p:nvSpPr>
        <p:spPr>
          <a:xfrm>
            <a:off x="914400" y="158191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Accéder de manière sécurisée aux fonctionnalités de la plateforme.</a:t>
            </a:r>
            <a:endParaRPr lang="en-US" sz="1200" dirty="0"/>
          </a:p>
        </p:txBody>
      </p:sp>
      <p:sp>
        <p:nvSpPr>
          <p:cNvPr id="10" name="Shape 8"/>
          <p:cNvSpPr/>
          <p:nvPr/>
        </p:nvSpPr>
        <p:spPr>
          <a:xfrm>
            <a:off x="6263640" y="1280160"/>
            <a:ext cx="5349240" cy="749808"/>
          </a:xfrm>
          <a:prstGeom prst="rect">
            <a:avLst/>
          </a:prstGeom>
          <a:solidFill>
            <a:srgbClr val="1A2438"/>
          </a:solidFill>
          <a:ln w="12700">
            <a:solidFill>
              <a:srgbClr val="35C5E8"/>
            </a:solidFill>
            <a:prstDash val="solid"/>
          </a:ln>
        </p:spPr>
      </p:sp>
      <p:sp>
        <p:nvSpPr>
          <p:cNvPr id="11" name="Shape 9"/>
          <p:cNvSpPr/>
          <p:nvPr/>
        </p:nvSpPr>
        <p:spPr>
          <a:xfrm>
            <a:off x="6263640" y="1280160"/>
            <a:ext cx="82296" cy="749808"/>
          </a:xfrm>
          <a:prstGeom prst="rect">
            <a:avLst/>
          </a:prstGeom>
          <a:solidFill>
            <a:srgbClr val="35C5E8"/>
          </a:solidFill>
          <a:ln/>
        </p:spPr>
      </p:sp>
      <p:sp>
        <p:nvSpPr>
          <p:cNvPr id="12" name="Text 10"/>
          <p:cNvSpPr/>
          <p:nvPr/>
        </p:nvSpPr>
        <p:spPr>
          <a:xfrm>
            <a:off x="644652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ACTEUR</a:t>
            </a:r>
            <a:endParaRPr lang="en-US" sz="1000" dirty="0"/>
          </a:p>
        </p:txBody>
      </p:sp>
      <p:sp>
        <p:nvSpPr>
          <p:cNvPr id="13" name="Text 11"/>
          <p:cNvSpPr/>
          <p:nvPr/>
        </p:nvSpPr>
        <p:spPr>
          <a:xfrm>
            <a:off x="6446520" y="1581912"/>
            <a:ext cx="5029200" cy="411480"/>
          </a:xfrm>
          <a:prstGeom prst="rect">
            <a:avLst/>
          </a:prstGeom>
          <a:noFill/>
          <a:ln/>
        </p:spPr>
        <p:txBody>
          <a:bodyPr wrap="square" lIns="0" tIns="0" rIns="0" bIns="0" rtlCol="0" anchor="t"/>
          <a:lstStyle/>
          <a:p>
            <a:pPr marL="0" indent="0">
              <a:buNone/>
            </a:pPr>
            <a:r>
              <a:rPr lang="en-US" sz="1200" dirty="0" err="1">
                <a:solidFill>
                  <a:srgbClr val="DCE3EC"/>
                </a:solidFill>
                <a:latin typeface="Arial" pitchFamily="34" charset="0"/>
                <a:ea typeface="Arial" pitchFamily="34" charset="-122"/>
                <a:cs typeface="Arial" pitchFamily="34" charset="-120"/>
              </a:rPr>
              <a:t>Administrateur</a:t>
            </a:r>
            <a:r>
              <a:rPr lang="en-US" sz="1200" dirty="0">
                <a:solidFill>
                  <a:srgbClr val="DCE3EC"/>
                </a:solidFill>
                <a:latin typeface="Arial" pitchFamily="34" charset="0"/>
                <a:ea typeface="Arial" pitchFamily="34" charset="-122"/>
                <a:cs typeface="Arial" pitchFamily="34" charset="-120"/>
              </a:rPr>
              <a:t> </a:t>
            </a:r>
            <a:r>
              <a:rPr lang="en-US" sz="1200" dirty="0" err="1">
                <a:solidFill>
                  <a:srgbClr val="DCE3EC"/>
                </a:solidFill>
                <a:latin typeface="Arial" pitchFamily="34" charset="0"/>
                <a:ea typeface="Arial" pitchFamily="34" charset="-122"/>
                <a:cs typeface="Arial" pitchFamily="34" charset="-120"/>
              </a:rPr>
              <a:t>système</a:t>
            </a:r>
            <a:endParaRPr lang="en-US" sz="1200" dirty="0"/>
          </a:p>
        </p:txBody>
      </p:sp>
      <p:sp>
        <p:nvSpPr>
          <p:cNvPr id="14" name="Shape 12"/>
          <p:cNvSpPr/>
          <p:nvPr/>
        </p:nvSpPr>
        <p:spPr>
          <a:xfrm>
            <a:off x="731520" y="2148840"/>
            <a:ext cx="5349240" cy="749808"/>
          </a:xfrm>
          <a:prstGeom prst="rect">
            <a:avLst/>
          </a:prstGeom>
          <a:solidFill>
            <a:srgbClr val="1A2438"/>
          </a:solidFill>
          <a:ln w="12700">
            <a:solidFill>
              <a:srgbClr val="35C5E8"/>
            </a:solidFill>
            <a:prstDash val="solid"/>
          </a:ln>
        </p:spPr>
      </p:sp>
      <p:sp>
        <p:nvSpPr>
          <p:cNvPr id="15" name="Shape 13"/>
          <p:cNvSpPr/>
          <p:nvPr/>
        </p:nvSpPr>
        <p:spPr>
          <a:xfrm>
            <a:off x="731520" y="2148840"/>
            <a:ext cx="82296" cy="749808"/>
          </a:xfrm>
          <a:prstGeom prst="rect">
            <a:avLst/>
          </a:prstGeom>
          <a:solidFill>
            <a:srgbClr val="35C5E8"/>
          </a:solidFill>
          <a:ln/>
        </p:spPr>
      </p:sp>
      <p:sp>
        <p:nvSpPr>
          <p:cNvPr id="16" name="Text 14"/>
          <p:cNvSpPr/>
          <p:nvPr/>
        </p:nvSpPr>
        <p:spPr>
          <a:xfrm>
            <a:off x="91440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PRÉCONDITION(S)</a:t>
            </a:r>
            <a:endParaRPr lang="en-US" sz="1000" dirty="0"/>
          </a:p>
        </p:txBody>
      </p:sp>
      <p:sp>
        <p:nvSpPr>
          <p:cNvPr id="17" name="Text 15"/>
          <p:cNvSpPr/>
          <p:nvPr/>
        </p:nvSpPr>
        <p:spPr>
          <a:xfrm>
            <a:off x="91440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Login et mot de passe valides</a:t>
            </a:r>
            <a:endParaRPr lang="en-US" sz="1200" dirty="0"/>
          </a:p>
        </p:txBody>
      </p:sp>
      <p:sp>
        <p:nvSpPr>
          <p:cNvPr id="18" name="Shape 16"/>
          <p:cNvSpPr/>
          <p:nvPr/>
        </p:nvSpPr>
        <p:spPr>
          <a:xfrm>
            <a:off x="6263640" y="2148840"/>
            <a:ext cx="5349240" cy="749808"/>
          </a:xfrm>
          <a:prstGeom prst="rect">
            <a:avLst/>
          </a:prstGeom>
          <a:solidFill>
            <a:srgbClr val="1A2438"/>
          </a:solidFill>
          <a:ln w="12700">
            <a:solidFill>
              <a:srgbClr val="35C5E8"/>
            </a:solidFill>
            <a:prstDash val="solid"/>
          </a:ln>
        </p:spPr>
      </p:sp>
      <p:sp>
        <p:nvSpPr>
          <p:cNvPr id="19" name="Shape 17"/>
          <p:cNvSpPr/>
          <p:nvPr/>
        </p:nvSpPr>
        <p:spPr>
          <a:xfrm>
            <a:off x="6263640" y="2148840"/>
            <a:ext cx="82296" cy="749808"/>
          </a:xfrm>
          <a:prstGeom prst="rect">
            <a:avLst/>
          </a:prstGeom>
          <a:solidFill>
            <a:srgbClr val="35C5E8"/>
          </a:solidFill>
          <a:ln/>
        </p:spPr>
      </p:sp>
      <p:sp>
        <p:nvSpPr>
          <p:cNvPr id="20" name="Text 18"/>
          <p:cNvSpPr/>
          <p:nvPr/>
        </p:nvSpPr>
        <p:spPr>
          <a:xfrm>
            <a:off x="644652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POST CONDITION(S)</a:t>
            </a:r>
            <a:endParaRPr lang="en-US" sz="1000" dirty="0"/>
          </a:p>
        </p:txBody>
      </p:sp>
      <p:sp>
        <p:nvSpPr>
          <p:cNvPr id="21" name="Text 19"/>
          <p:cNvSpPr/>
          <p:nvPr/>
        </p:nvSpPr>
        <p:spPr>
          <a:xfrm>
            <a:off x="644652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Session ouverte, accès au tableau de bord</a:t>
            </a:r>
            <a:endParaRPr lang="en-US" sz="1200" dirty="0"/>
          </a:p>
        </p:txBody>
      </p:sp>
      <p:sp>
        <p:nvSpPr>
          <p:cNvPr id="22" name="Shape 20"/>
          <p:cNvSpPr/>
          <p:nvPr/>
        </p:nvSpPr>
        <p:spPr>
          <a:xfrm>
            <a:off x="731520" y="3200400"/>
            <a:ext cx="5349240" cy="438912"/>
          </a:xfrm>
          <a:prstGeom prst="rect">
            <a:avLst/>
          </a:prstGeom>
          <a:solidFill>
            <a:srgbClr val="35C5E8"/>
          </a:solidFill>
          <a:ln/>
        </p:spPr>
      </p:sp>
      <p:sp>
        <p:nvSpPr>
          <p:cNvPr id="23" name="Text 21"/>
          <p:cNvSpPr/>
          <p:nvPr/>
        </p:nvSpPr>
        <p:spPr>
          <a:xfrm>
            <a:off x="73152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NOMINAL</a:t>
            </a:r>
            <a:endParaRPr lang="en-US" sz="1300" dirty="0"/>
          </a:p>
        </p:txBody>
      </p:sp>
      <p:sp>
        <p:nvSpPr>
          <p:cNvPr id="24" name="Shape 22"/>
          <p:cNvSpPr/>
          <p:nvPr/>
        </p:nvSpPr>
        <p:spPr>
          <a:xfrm>
            <a:off x="731520" y="3639312"/>
            <a:ext cx="5349240" cy="2651760"/>
          </a:xfrm>
          <a:prstGeom prst="rect">
            <a:avLst/>
          </a:prstGeom>
          <a:solidFill>
            <a:srgbClr val="111A2B"/>
          </a:solidFill>
          <a:ln w="12700">
            <a:solidFill>
              <a:srgbClr val="35C5E8"/>
            </a:solidFill>
            <a:prstDash val="solid"/>
          </a:ln>
        </p:spPr>
      </p:sp>
      <p:sp>
        <p:nvSpPr>
          <p:cNvPr id="25" name="Text 23"/>
          <p:cNvSpPr/>
          <p:nvPr/>
        </p:nvSpPr>
        <p:spPr>
          <a:xfrm>
            <a:off x="91440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Accès à la plateforme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Affichage du formulaire d'authentification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Saisie du login et du mot de passe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Vérification des identifiants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Ouverture de session et tableau de bord.</a:t>
            </a:r>
            <a:endParaRPr lang="en-US" sz="1250" dirty="0"/>
          </a:p>
        </p:txBody>
      </p:sp>
      <p:sp>
        <p:nvSpPr>
          <p:cNvPr id="26" name="Shape 24"/>
          <p:cNvSpPr/>
          <p:nvPr/>
        </p:nvSpPr>
        <p:spPr>
          <a:xfrm>
            <a:off x="6080760" y="3200400"/>
            <a:ext cx="5349240" cy="438912"/>
          </a:xfrm>
          <a:prstGeom prst="rect">
            <a:avLst/>
          </a:prstGeom>
          <a:solidFill>
            <a:srgbClr val="9AA7B8"/>
          </a:solidFill>
          <a:ln/>
        </p:spPr>
      </p:sp>
      <p:sp>
        <p:nvSpPr>
          <p:cNvPr id="27" name="Text 25"/>
          <p:cNvSpPr/>
          <p:nvPr/>
        </p:nvSpPr>
        <p:spPr>
          <a:xfrm>
            <a:off x="608076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ALTERNATIF</a:t>
            </a:r>
            <a:endParaRPr lang="en-US" sz="1300" dirty="0"/>
          </a:p>
        </p:txBody>
      </p:sp>
      <p:sp>
        <p:nvSpPr>
          <p:cNvPr id="28" name="Shape 26"/>
          <p:cNvSpPr/>
          <p:nvPr/>
        </p:nvSpPr>
        <p:spPr>
          <a:xfrm>
            <a:off x="6080760" y="3639312"/>
            <a:ext cx="5349240" cy="2651760"/>
          </a:xfrm>
          <a:prstGeom prst="rect">
            <a:avLst/>
          </a:prstGeom>
          <a:solidFill>
            <a:srgbClr val="111A2B"/>
          </a:solidFill>
          <a:ln w="12700">
            <a:solidFill>
              <a:srgbClr val="3A4760"/>
            </a:solidFill>
            <a:prstDash val="solid"/>
          </a:ln>
        </p:spPr>
      </p:sp>
      <p:sp>
        <p:nvSpPr>
          <p:cNvPr id="29" name="Text 27"/>
          <p:cNvSpPr/>
          <p:nvPr/>
        </p:nvSpPr>
        <p:spPr>
          <a:xfrm>
            <a:off x="626364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Champs mal remplis : message d'erreur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Identifiants incorrects : accès refusé, retour à l'étape 2.</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CAS D'UTILISATION 2</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Text 3"/>
          <p:cNvSpPr/>
          <p:nvPr/>
        </p:nvSpPr>
        <p:spPr>
          <a:xfrm>
            <a:off x="5486400" y="164592"/>
            <a:ext cx="6126480" cy="685800"/>
          </a:xfrm>
          <a:prstGeom prst="rect">
            <a:avLst/>
          </a:prstGeom>
          <a:noFill/>
          <a:ln/>
        </p:spPr>
        <p:txBody>
          <a:bodyPr wrap="square" lIns="0" tIns="0" rIns="0" bIns="0" rtlCol="0" anchor="ctr"/>
          <a:lstStyle/>
          <a:p>
            <a:pPr marL="0" indent="0" algn="r">
              <a:buNone/>
            </a:pPr>
            <a:r>
              <a:rPr lang="en-US" sz="1600" b="1" i="1" dirty="0" err="1">
                <a:solidFill>
                  <a:srgbClr val="35C5E8"/>
                </a:solidFill>
                <a:latin typeface="Arial" pitchFamily="34" charset="0"/>
                <a:ea typeface="Arial" pitchFamily="34" charset="-122"/>
                <a:cs typeface="Arial" pitchFamily="34" charset="-120"/>
              </a:rPr>
              <a:t>Visualiser</a:t>
            </a:r>
            <a:r>
              <a:rPr lang="en-US" sz="1600" b="1" i="1" dirty="0">
                <a:solidFill>
                  <a:srgbClr val="35C5E8"/>
                </a:solidFill>
                <a:latin typeface="Arial" pitchFamily="34" charset="0"/>
                <a:ea typeface="Arial" pitchFamily="34" charset="-122"/>
                <a:cs typeface="Arial" pitchFamily="34" charset="-120"/>
              </a:rPr>
              <a:t>  policies</a:t>
            </a:r>
            <a:endParaRPr lang="en-US" sz="1600" dirty="0"/>
          </a:p>
        </p:txBody>
      </p:sp>
      <p:sp>
        <p:nvSpPr>
          <p:cNvPr id="6" name="Shape 4"/>
          <p:cNvSpPr/>
          <p:nvPr/>
        </p:nvSpPr>
        <p:spPr>
          <a:xfrm>
            <a:off x="731520" y="1280160"/>
            <a:ext cx="5349240" cy="749808"/>
          </a:xfrm>
          <a:prstGeom prst="rect">
            <a:avLst/>
          </a:prstGeom>
          <a:solidFill>
            <a:srgbClr val="1A2438"/>
          </a:solidFill>
          <a:ln w="12700">
            <a:solidFill>
              <a:srgbClr val="35C5E8"/>
            </a:solidFill>
            <a:prstDash val="solid"/>
          </a:ln>
        </p:spPr>
      </p:sp>
      <p:sp>
        <p:nvSpPr>
          <p:cNvPr id="7" name="Shape 5"/>
          <p:cNvSpPr/>
          <p:nvPr/>
        </p:nvSpPr>
        <p:spPr>
          <a:xfrm>
            <a:off x="731520" y="1280160"/>
            <a:ext cx="82296" cy="749808"/>
          </a:xfrm>
          <a:prstGeom prst="rect">
            <a:avLst/>
          </a:prstGeom>
          <a:solidFill>
            <a:srgbClr val="35C5E8"/>
          </a:solidFill>
          <a:ln/>
        </p:spPr>
      </p:sp>
      <p:sp>
        <p:nvSpPr>
          <p:cNvPr id="8" name="Text 6"/>
          <p:cNvSpPr/>
          <p:nvPr/>
        </p:nvSpPr>
        <p:spPr>
          <a:xfrm>
            <a:off x="91440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OBJECTIF</a:t>
            </a:r>
            <a:endParaRPr lang="en-US" sz="1000" dirty="0"/>
          </a:p>
        </p:txBody>
      </p:sp>
      <p:sp>
        <p:nvSpPr>
          <p:cNvPr id="9" name="Text 7"/>
          <p:cNvSpPr/>
          <p:nvPr/>
        </p:nvSpPr>
        <p:spPr>
          <a:xfrm>
            <a:off x="914400" y="158191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Consulter les politiques TOMOYO actives sous une forme lisible.</a:t>
            </a:r>
            <a:endParaRPr lang="en-US" sz="1200" dirty="0"/>
          </a:p>
        </p:txBody>
      </p:sp>
      <p:sp>
        <p:nvSpPr>
          <p:cNvPr id="10" name="Shape 8"/>
          <p:cNvSpPr/>
          <p:nvPr/>
        </p:nvSpPr>
        <p:spPr>
          <a:xfrm>
            <a:off x="6263640" y="1280160"/>
            <a:ext cx="5349240" cy="749808"/>
          </a:xfrm>
          <a:prstGeom prst="rect">
            <a:avLst/>
          </a:prstGeom>
          <a:solidFill>
            <a:srgbClr val="1A2438"/>
          </a:solidFill>
          <a:ln w="12700">
            <a:solidFill>
              <a:srgbClr val="35C5E8"/>
            </a:solidFill>
            <a:prstDash val="solid"/>
          </a:ln>
        </p:spPr>
      </p:sp>
      <p:sp>
        <p:nvSpPr>
          <p:cNvPr id="11" name="Shape 9"/>
          <p:cNvSpPr/>
          <p:nvPr/>
        </p:nvSpPr>
        <p:spPr>
          <a:xfrm>
            <a:off x="6263640" y="1280160"/>
            <a:ext cx="82296" cy="749808"/>
          </a:xfrm>
          <a:prstGeom prst="rect">
            <a:avLst/>
          </a:prstGeom>
          <a:solidFill>
            <a:srgbClr val="35C5E8"/>
          </a:solidFill>
          <a:ln/>
        </p:spPr>
      </p:sp>
      <p:sp>
        <p:nvSpPr>
          <p:cNvPr id="12" name="Text 10"/>
          <p:cNvSpPr/>
          <p:nvPr/>
        </p:nvSpPr>
        <p:spPr>
          <a:xfrm>
            <a:off x="644652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ACTEUR</a:t>
            </a:r>
            <a:endParaRPr lang="en-US" sz="1000" dirty="0"/>
          </a:p>
        </p:txBody>
      </p:sp>
      <p:sp>
        <p:nvSpPr>
          <p:cNvPr id="13" name="Text 11"/>
          <p:cNvSpPr/>
          <p:nvPr/>
        </p:nvSpPr>
        <p:spPr>
          <a:xfrm>
            <a:off x="6446520" y="1581912"/>
            <a:ext cx="5029200" cy="411480"/>
          </a:xfrm>
          <a:prstGeom prst="rect">
            <a:avLst/>
          </a:prstGeom>
          <a:noFill/>
          <a:ln/>
        </p:spPr>
        <p:txBody>
          <a:bodyPr wrap="square" lIns="0" tIns="0" rIns="0" bIns="0" rtlCol="0" anchor="t"/>
          <a:lstStyle/>
          <a:p>
            <a:pPr marL="0" indent="0">
              <a:buNone/>
            </a:pPr>
            <a:r>
              <a:rPr lang="en-US" sz="1200" dirty="0" err="1">
                <a:solidFill>
                  <a:srgbClr val="DCE3EC"/>
                </a:solidFill>
                <a:latin typeface="Arial" pitchFamily="34" charset="0"/>
                <a:ea typeface="Arial" pitchFamily="34" charset="-122"/>
                <a:cs typeface="Arial" pitchFamily="34" charset="-120"/>
              </a:rPr>
              <a:t>Administrateur</a:t>
            </a:r>
            <a:r>
              <a:rPr lang="en-US" sz="1200" dirty="0">
                <a:solidFill>
                  <a:srgbClr val="DCE3EC"/>
                </a:solidFill>
                <a:latin typeface="Arial" pitchFamily="34" charset="0"/>
                <a:ea typeface="Arial" pitchFamily="34" charset="-122"/>
                <a:cs typeface="Arial" pitchFamily="34" charset="-120"/>
              </a:rPr>
              <a:t> </a:t>
            </a:r>
            <a:r>
              <a:rPr lang="en-US" sz="1200" dirty="0" err="1">
                <a:solidFill>
                  <a:srgbClr val="DCE3EC"/>
                </a:solidFill>
                <a:latin typeface="Arial" pitchFamily="34" charset="0"/>
                <a:ea typeface="Arial" pitchFamily="34" charset="-122"/>
                <a:cs typeface="Arial" pitchFamily="34" charset="-120"/>
              </a:rPr>
              <a:t>système</a:t>
            </a:r>
            <a:endParaRPr lang="en-US" sz="1200" dirty="0"/>
          </a:p>
        </p:txBody>
      </p:sp>
      <p:sp>
        <p:nvSpPr>
          <p:cNvPr id="14" name="Shape 12"/>
          <p:cNvSpPr/>
          <p:nvPr/>
        </p:nvSpPr>
        <p:spPr>
          <a:xfrm>
            <a:off x="731520" y="2148840"/>
            <a:ext cx="5349240" cy="749808"/>
          </a:xfrm>
          <a:prstGeom prst="rect">
            <a:avLst/>
          </a:prstGeom>
          <a:solidFill>
            <a:srgbClr val="1A2438"/>
          </a:solidFill>
          <a:ln w="12700">
            <a:solidFill>
              <a:srgbClr val="35C5E8"/>
            </a:solidFill>
            <a:prstDash val="solid"/>
          </a:ln>
        </p:spPr>
      </p:sp>
      <p:sp>
        <p:nvSpPr>
          <p:cNvPr id="15" name="Shape 13"/>
          <p:cNvSpPr/>
          <p:nvPr/>
        </p:nvSpPr>
        <p:spPr>
          <a:xfrm>
            <a:off x="731520" y="2148840"/>
            <a:ext cx="82296" cy="749808"/>
          </a:xfrm>
          <a:prstGeom prst="rect">
            <a:avLst/>
          </a:prstGeom>
          <a:solidFill>
            <a:srgbClr val="35C5E8"/>
          </a:solidFill>
          <a:ln/>
        </p:spPr>
      </p:sp>
      <p:sp>
        <p:nvSpPr>
          <p:cNvPr id="16" name="Text 14"/>
          <p:cNvSpPr/>
          <p:nvPr/>
        </p:nvSpPr>
        <p:spPr>
          <a:xfrm>
            <a:off x="91440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PRÉCONDITION(S)</a:t>
            </a:r>
            <a:endParaRPr lang="en-US" sz="1000" dirty="0"/>
          </a:p>
        </p:txBody>
      </p:sp>
      <p:sp>
        <p:nvSpPr>
          <p:cNvPr id="17" name="Text 15"/>
          <p:cNvSpPr/>
          <p:nvPr/>
        </p:nvSpPr>
        <p:spPr>
          <a:xfrm>
            <a:off x="91440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Module TOMOYO actif, au moins un domaine</a:t>
            </a:r>
            <a:endParaRPr lang="en-US" sz="1200" dirty="0"/>
          </a:p>
        </p:txBody>
      </p:sp>
      <p:sp>
        <p:nvSpPr>
          <p:cNvPr id="18" name="Shape 16"/>
          <p:cNvSpPr/>
          <p:nvPr/>
        </p:nvSpPr>
        <p:spPr>
          <a:xfrm>
            <a:off x="6263640" y="2148840"/>
            <a:ext cx="5349240" cy="749808"/>
          </a:xfrm>
          <a:prstGeom prst="rect">
            <a:avLst/>
          </a:prstGeom>
          <a:solidFill>
            <a:srgbClr val="1A2438"/>
          </a:solidFill>
          <a:ln w="12700">
            <a:solidFill>
              <a:srgbClr val="35C5E8"/>
            </a:solidFill>
            <a:prstDash val="solid"/>
          </a:ln>
        </p:spPr>
      </p:sp>
      <p:sp>
        <p:nvSpPr>
          <p:cNvPr id="19" name="Shape 17"/>
          <p:cNvSpPr/>
          <p:nvPr/>
        </p:nvSpPr>
        <p:spPr>
          <a:xfrm>
            <a:off x="6263640" y="2148840"/>
            <a:ext cx="82296" cy="749808"/>
          </a:xfrm>
          <a:prstGeom prst="rect">
            <a:avLst/>
          </a:prstGeom>
          <a:solidFill>
            <a:srgbClr val="35C5E8"/>
          </a:solidFill>
          <a:ln/>
        </p:spPr>
      </p:sp>
      <p:sp>
        <p:nvSpPr>
          <p:cNvPr id="20" name="Text 18"/>
          <p:cNvSpPr/>
          <p:nvPr/>
        </p:nvSpPr>
        <p:spPr>
          <a:xfrm>
            <a:off x="644652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5C5E8"/>
                </a:solidFill>
                <a:latin typeface="Arial" pitchFamily="34" charset="0"/>
                <a:ea typeface="Arial" pitchFamily="34" charset="-122"/>
                <a:cs typeface="Arial" pitchFamily="34" charset="-120"/>
              </a:rPr>
              <a:t>POST CONDITION(S)</a:t>
            </a:r>
            <a:endParaRPr lang="en-US" sz="1000" dirty="0"/>
          </a:p>
        </p:txBody>
      </p:sp>
      <p:sp>
        <p:nvSpPr>
          <p:cNvPr id="21" name="Text 19"/>
          <p:cNvSpPr/>
          <p:nvPr/>
        </p:nvSpPr>
        <p:spPr>
          <a:xfrm>
            <a:off x="644652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Politiques affichées à l'écran</a:t>
            </a:r>
            <a:endParaRPr lang="en-US" sz="1200" dirty="0"/>
          </a:p>
        </p:txBody>
      </p:sp>
      <p:sp>
        <p:nvSpPr>
          <p:cNvPr id="22" name="Shape 20"/>
          <p:cNvSpPr/>
          <p:nvPr/>
        </p:nvSpPr>
        <p:spPr>
          <a:xfrm>
            <a:off x="731520" y="3200400"/>
            <a:ext cx="5349240" cy="438912"/>
          </a:xfrm>
          <a:prstGeom prst="rect">
            <a:avLst/>
          </a:prstGeom>
          <a:solidFill>
            <a:srgbClr val="35C5E8"/>
          </a:solidFill>
          <a:ln/>
        </p:spPr>
      </p:sp>
      <p:sp>
        <p:nvSpPr>
          <p:cNvPr id="23" name="Text 21"/>
          <p:cNvSpPr/>
          <p:nvPr/>
        </p:nvSpPr>
        <p:spPr>
          <a:xfrm>
            <a:off x="73152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NOMINAL</a:t>
            </a:r>
            <a:endParaRPr lang="en-US" sz="1300" dirty="0"/>
          </a:p>
        </p:txBody>
      </p:sp>
      <p:sp>
        <p:nvSpPr>
          <p:cNvPr id="24" name="Shape 22"/>
          <p:cNvSpPr/>
          <p:nvPr/>
        </p:nvSpPr>
        <p:spPr>
          <a:xfrm>
            <a:off x="731520" y="3639312"/>
            <a:ext cx="5349240" cy="2651760"/>
          </a:xfrm>
          <a:prstGeom prst="rect">
            <a:avLst/>
          </a:prstGeom>
          <a:solidFill>
            <a:srgbClr val="111A2B"/>
          </a:solidFill>
          <a:ln w="12700">
            <a:solidFill>
              <a:srgbClr val="35C5E8"/>
            </a:solidFill>
            <a:prstDash val="solid"/>
          </a:ln>
        </p:spPr>
      </p:sp>
      <p:sp>
        <p:nvSpPr>
          <p:cNvPr id="25" name="Text 23"/>
          <p:cNvSpPr/>
          <p:nvPr/>
        </p:nvSpPr>
        <p:spPr>
          <a:xfrm>
            <a:off x="91440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Accès au tableau de bord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Cliquer sur le bouton </a:t>
            </a:r>
            <a:r>
              <a:rPr lang="en-US" sz="1250" dirty="0" err="1">
                <a:solidFill>
                  <a:srgbClr val="DCE3EC"/>
                </a:solidFill>
                <a:latin typeface="Arial" pitchFamily="34" charset="0"/>
                <a:ea typeface="Arial" pitchFamily="34" charset="-122"/>
                <a:cs typeface="Arial" pitchFamily="34" charset="-120"/>
              </a:rPr>
              <a:t>initialiser</a:t>
            </a:r>
            <a:r>
              <a:rPr lang="en-US" sz="1250" dirty="0">
                <a:solidFill>
                  <a:srgbClr val="DCE3EC"/>
                </a:solidFill>
                <a:latin typeface="Arial" pitchFamily="34" charset="0"/>
                <a:ea typeface="Arial" pitchFamily="34" charset="-122"/>
                <a:cs typeface="Arial" pitchFamily="34" charset="-120"/>
              </a:rPr>
              <a:t>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Affichage de la liste des domaines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Sélection d'un domaine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Affichage des </a:t>
            </a:r>
            <a:r>
              <a:rPr lang="en-US" sz="1250" dirty="0" err="1">
                <a:solidFill>
                  <a:srgbClr val="DCE3EC"/>
                </a:solidFill>
                <a:latin typeface="Arial" pitchFamily="34" charset="0"/>
                <a:ea typeface="Arial" pitchFamily="34" charset="-122"/>
                <a:cs typeface="Arial" pitchFamily="34" charset="-120"/>
              </a:rPr>
              <a:t>règles</a:t>
            </a:r>
            <a:r>
              <a:rPr lang="en-US" sz="1250" dirty="0">
                <a:solidFill>
                  <a:srgbClr val="DCE3EC"/>
                </a:solidFill>
                <a:latin typeface="Arial" pitchFamily="34" charset="0"/>
                <a:ea typeface="Arial" pitchFamily="34" charset="-122"/>
                <a:cs typeface="Arial" pitchFamily="34" charset="-120"/>
              </a:rPr>
              <a:t>.</a:t>
            </a:r>
            <a:endParaRPr lang="en-US" sz="1250" dirty="0"/>
          </a:p>
        </p:txBody>
      </p:sp>
      <p:sp>
        <p:nvSpPr>
          <p:cNvPr id="26" name="Shape 24"/>
          <p:cNvSpPr/>
          <p:nvPr/>
        </p:nvSpPr>
        <p:spPr>
          <a:xfrm>
            <a:off x="6080760" y="3200400"/>
            <a:ext cx="5349240" cy="438912"/>
          </a:xfrm>
          <a:prstGeom prst="rect">
            <a:avLst/>
          </a:prstGeom>
          <a:solidFill>
            <a:srgbClr val="9AA7B8"/>
          </a:solidFill>
          <a:ln/>
        </p:spPr>
      </p:sp>
      <p:sp>
        <p:nvSpPr>
          <p:cNvPr id="27" name="Text 25"/>
          <p:cNvSpPr/>
          <p:nvPr/>
        </p:nvSpPr>
        <p:spPr>
          <a:xfrm>
            <a:off x="608076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ALTERNATIF</a:t>
            </a:r>
            <a:endParaRPr lang="en-US" sz="1300" dirty="0"/>
          </a:p>
        </p:txBody>
      </p:sp>
      <p:sp>
        <p:nvSpPr>
          <p:cNvPr id="28" name="Shape 26"/>
          <p:cNvSpPr/>
          <p:nvPr/>
        </p:nvSpPr>
        <p:spPr>
          <a:xfrm>
            <a:off x="6080760" y="3639312"/>
            <a:ext cx="5349240" cy="2651760"/>
          </a:xfrm>
          <a:prstGeom prst="rect">
            <a:avLst/>
          </a:prstGeom>
          <a:solidFill>
            <a:srgbClr val="111A2B"/>
          </a:solidFill>
          <a:ln w="12700">
            <a:solidFill>
              <a:srgbClr val="3A4760"/>
            </a:solidFill>
            <a:prstDash val="solid"/>
          </a:ln>
        </p:spPr>
      </p:sp>
      <p:sp>
        <p:nvSpPr>
          <p:cNvPr id="29" name="Text 27"/>
          <p:cNvSpPr/>
          <p:nvPr/>
        </p:nvSpPr>
        <p:spPr>
          <a:xfrm>
            <a:off x="626364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Aucune politique : message d'absence de domaine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Échec de lecture : erreur et nouvelle tentative.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CAS D'UTILISATION 3</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Text 3"/>
          <p:cNvSpPr/>
          <p:nvPr/>
        </p:nvSpPr>
        <p:spPr>
          <a:xfrm>
            <a:off x="5486400" y="164592"/>
            <a:ext cx="6126480" cy="685800"/>
          </a:xfrm>
          <a:prstGeom prst="rect">
            <a:avLst/>
          </a:prstGeom>
          <a:noFill/>
          <a:ln/>
        </p:spPr>
        <p:txBody>
          <a:bodyPr wrap="square" lIns="0" tIns="0" rIns="0" bIns="0" rtlCol="0" anchor="ctr"/>
          <a:lstStyle/>
          <a:p>
            <a:pPr marL="0" indent="0" algn="r">
              <a:buNone/>
            </a:pPr>
            <a:r>
              <a:rPr lang="en-US" sz="1600" b="1" i="1" dirty="0" err="1">
                <a:solidFill>
                  <a:srgbClr val="27D86B"/>
                </a:solidFill>
                <a:latin typeface="Arial" pitchFamily="34" charset="0"/>
                <a:ea typeface="Arial" pitchFamily="34" charset="-122"/>
                <a:cs typeface="Arial" pitchFamily="34" charset="-120"/>
              </a:rPr>
              <a:t>Basculer</a:t>
            </a:r>
            <a:r>
              <a:rPr lang="en-US" sz="1600" b="1" i="1" dirty="0">
                <a:solidFill>
                  <a:srgbClr val="27D86B"/>
                </a:solidFill>
                <a:latin typeface="Arial" pitchFamily="34" charset="0"/>
                <a:ea typeface="Arial" pitchFamily="34" charset="-122"/>
                <a:cs typeface="Arial" pitchFamily="34" charset="-120"/>
              </a:rPr>
              <a:t>  mode (Learning / Enforcement)</a:t>
            </a:r>
            <a:endParaRPr lang="en-US" sz="1600" dirty="0"/>
          </a:p>
        </p:txBody>
      </p:sp>
      <p:sp>
        <p:nvSpPr>
          <p:cNvPr id="6" name="Shape 4"/>
          <p:cNvSpPr/>
          <p:nvPr/>
        </p:nvSpPr>
        <p:spPr>
          <a:xfrm>
            <a:off x="731520" y="1280160"/>
            <a:ext cx="5349240" cy="749808"/>
          </a:xfrm>
          <a:prstGeom prst="rect">
            <a:avLst/>
          </a:prstGeom>
          <a:solidFill>
            <a:srgbClr val="1A2438"/>
          </a:solidFill>
          <a:ln w="12700">
            <a:solidFill>
              <a:srgbClr val="27D86B"/>
            </a:solidFill>
            <a:prstDash val="solid"/>
          </a:ln>
        </p:spPr>
      </p:sp>
      <p:sp>
        <p:nvSpPr>
          <p:cNvPr id="7" name="Shape 5"/>
          <p:cNvSpPr/>
          <p:nvPr/>
        </p:nvSpPr>
        <p:spPr>
          <a:xfrm>
            <a:off x="731520" y="1280160"/>
            <a:ext cx="82296" cy="749808"/>
          </a:xfrm>
          <a:prstGeom prst="rect">
            <a:avLst/>
          </a:prstGeom>
          <a:solidFill>
            <a:srgbClr val="27D86B"/>
          </a:solidFill>
          <a:ln/>
        </p:spPr>
      </p:sp>
      <p:sp>
        <p:nvSpPr>
          <p:cNvPr id="8" name="Text 6"/>
          <p:cNvSpPr/>
          <p:nvPr/>
        </p:nvSpPr>
        <p:spPr>
          <a:xfrm>
            <a:off x="914400" y="1335024"/>
            <a:ext cx="5029200" cy="256032"/>
          </a:xfrm>
          <a:prstGeom prst="rect">
            <a:avLst/>
          </a:prstGeom>
          <a:noFill/>
          <a:ln/>
        </p:spPr>
        <p:txBody>
          <a:bodyPr wrap="square" lIns="0" tIns="0" rIns="0" bIns="0" rtlCol="0" anchor="ctr"/>
          <a:lstStyle/>
          <a:p>
            <a:pPr marL="0" indent="0">
              <a:buNone/>
            </a:pPr>
            <a:r>
              <a:rPr lang="en-US" sz="1000" b="1" kern="0" spc="100" dirty="0">
                <a:solidFill>
                  <a:srgbClr val="27D86B"/>
                </a:solidFill>
                <a:latin typeface="Arial" pitchFamily="34" charset="0"/>
                <a:ea typeface="Arial" pitchFamily="34" charset="-122"/>
                <a:cs typeface="Arial" pitchFamily="34" charset="-120"/>
              </a:rPr>
              <a:t>OBJECTIF</a:t>
            </a:r>
            <a:endParaRPr lang="en-US" sz="1000" dirty="0"/>
          </a:p>
        </p:txBody>
      </p:sp>
      <p:sp>
        <p:nvSpPr>
          <p:cNvPr id="9" name="Text 7"/>
          <p:cNvSpPr/>
          <p:nvPr/>
        </p:nvSpPr>
        <p:spPr>
          <a:xfrm>
            <a:off x="914400" y="158191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Changer le mode de fonctionnement d'un domaine TOMOYO.</a:t>
            </a:r>
            <a:endParaRPr lang="en-US" sz="1200" dirty="0"/>
          </a:p>
        </p:txBody>
      </p:sp>
      <p:sp>
        <p:nvSpPr>
          <p:cNvPr id="10" name="Shape 8"/>
          <p:cNvSpPr/>
          <p:nvPr/>
        </p:nvSpPr>
        <p:spPr>
          <a:xfrm>
            <a:off x="6263640" y="1280160"/>
            <a:ext cx="5349240" cy="749808"/>
          </a:xfrm>
          <a:prstGeom prst="rect">
            <a:avLst/>
          </a:prstGeom>
          <a:solidFill>
            <a:srgbClr val="1A2438"/>
          </a:solidFill>
          <a:ln w="12700">
            <a:solidFill>
              <a:srgbClr val="27D86B"/>
            </a:solidFill>
            <a:prstDash val="solid"/>
          </a:ln>
        </p:spPr>
      </p:sp>
      <p:sp>
        <p:nvSpPr>
          <p:cNvPr id="11" name="Shape 9"/>
          <p:cNvSpPr/>
          <p:nvPr/>
        </p:nvSpPr>
        <p:spPr>
          <a:xfrm>
            <a:off x="6263640" y="1280160"/>
            <a:ext cx="82296" cy="749808"/>
          </a:xfrm>
          <a:prstGeom prst="rect">
            <a:avLst/>
          </a:prstGeom>
          <a:solidFill>
            <a:srgbClr val="27D86B"/>
          </a:solidFill>
          <a:ln/>
        </p:spPr>
      </p:sp>
      <p:sp>
        <p:nvSpPr>
          <p:cNvPr id="12" name="Text 10"/>
          <p:cNvSpPr/>
          <p:nvPr/>
        </p:nvSpPr>
        <p:spPr>
          <a:xfrm>
            <a:off x="6446520" y="1335024"/>
            <a:ext cx="5029200" cy="256032"/>
          </a:xfrm>
          <a:prstGeom prst="rect">
            <a:avLst/>
          </a:prstGeom>
          <a:noFill/>
          <a:ln/>
        </p:spPr>
        <p:txBody>
          <a:bodyPr wrap="square" lIns="0" tIns="0" rIns="0" bIns="0" rtlCol="0" anchor="ctr"/>
          <a:lstStyle/>
          <a:p>
            <a:pPr marL="0" indent="0">
              <a:buNone/>
            </a:pPr>
            <a:r>
              <a:rPr lang="en-US" sz="1000" b="1" kern="0" spc="100" dirty="0">
                <a:solidFill>
                  <a:srgbClr val="27D86B"/>
                </a:solidFill>
                <a:latin typeface="Arial" pitchFamily="34" charset="0"/>
                <a:ea typeface="Arial" pitchFamily="34" charset="-122"/>
                <a:cs typeface="Arial" pitchFamily="34" charset="-120"/>
              </a:rPr>
              <a:t>ACTEUR</a:t>
            </a:r>
            <a:endParaRPr lang="en-US" sz="1000" dirty="0"/>
          </a:p>
        </p:txBody>
      </p:sp>
      <p:sp>
        <p:nvSpPr>
          <p:cNvPr id="13" name="Text 11"/>
          <p:cNvSpPr/>
          <p:nvPr/>
        </p:nvSpPr>
        <p:spPr>
          <a:xfrm>
            <a:off x="6446520" y="1581912"/>
            <a:ext cx="5029200" cy="411480"/>
          </a:xfrm>
          <a:prstGeom prst="rect">
            <a:avLst/>
          </a:prstGeom>
          <a:noFill/>
          <a:ln/>
        </p:spPr>
        <p:txBody>
          <a:bodyPr wrap="square" lIns="0" tIns="0" rIns="0" bIns="0" rtlCol="0" anchor="t"/>
          <a:lstStyle/>
          <a:p>
            <a:pPr marL="0" indent="0">
              <a:buNone/>
            </a:pPr>
            <a:r>
              <a:rPr lang="en-US" sz="1200" dirty="0" err="1">
                <a:solidFill>
                  <a:srgbClr val="DCE3EC"/>
                </a:solidFill>
                <a:latin typeface="Arial" pitchFamily="34" charset="0"/>
                <a:ea typeface="Arial" pitchFamily="34" charset="-122"/>
                <a:cs typeface="Arial" pitchFamily="34" charset="-120"/>
              </a:rPr>
              <a:t>Administrateur</a:t>
            </a:r>
            <a:r>
              <a:rPr lang="en-US" sz="1200" dirty="0">
                <a:solidFill>
                  <a:srgbClr val="DCE3EC"/>
                </a:solidFill>
                <a:latin typeface="Arial" pitchFamily="34" charset="0"/>
                <a:ea typeface="Arial" pitchFamily="34" charset="-122"/>
                <a:cs typeface="Arial" pitchFamily="34" charset="-120"/>
              </a:rPr>
              <a:t> </a:t>
            </a:r>
            <a:r>
              <a:rPr lang="en-US" sz="1200" dirty="0" err="1">
                <a:solidFill>
                  <a:srgbClr val="DCE3EC"/>
                </a:solidFill>
                <a:latin typeface="Arial" pitchFamily="34" charset="0"/>
                <a:ea typeface="Arial" pitchFamily="34" charset="-122"/>
                <a:cs typeface="Arial" pitchFamily="34" charset="-120"/>
              </a:rPr>
              <a:t>système</a:t>
            </a:r>
            <a:endParaRPr lang="en-US" sz="1200" dirty="0"/>
          </a:p>
        </p:txBody>
      </p:sp>
      <p:sp>
        <p:nvSpPr>
          <p:cNvPr id="14" name="Shape 12"/>
          <p:cNvSpPr/>
          <p:nvPr/>
        </p:nvSpPr>
        <p:spPr>
          <a:xfrm>
            <a:off x="731520" y="2148840"/>
            <a:ext cx="5349240" cy="749808"/>
          </a:xfrm>
          <a:prstGeom prst="rect">
            <a:avLst/>
          </a:prstGeom>
          <a:solidFill>
            <a:srgbClr val="1A2438"/>
          </a:solidFill>
          <a:ln w="12700">
            <a:solidFill>
              <a:srgbClr val="27D86B"/>
            </a:solidFill>
            <a:prstDash val="solid"/>
          </a:ln>
        </p:spPr>
      </p:sp>
      <p:sp>
        <p:nvSpPr>
          <p:cNvPr id="15" name="Shape 13"/>
          <p:cNvSpPr/>
          <p:nvPr/>
        </p:nvSpPr>
        <p:spPr>
          <a:xfrm>
            <a:off x="731520" y="2148840"/>
            <a:ext cx="82296" cy="749808"/>
          </a:xfrm>
          <a:prstGeom prst="rect">
            <a:avLst/>
          </a:prstGeom>
          <a:solidFill>
            <a:srgbClr val="27D86B"/>
          </a:solidFill>
          <a:ln/>
        </p:spPr>
      </p:sp>
      <p:sp>
        <p:nvSpPr>
          <p:cNvPr id="16" name="Text 14"/>
          <p:cNvSpPr/>
          <p:nvPr/>
        </p:nvSpPr>
        <p:spPr>
          <a:xfrm>
            <a:off x="914400" y="2203704"/>
            <a:ext cx="5029200" cy="256032"/>
          </a:xfrm>
          <a:prstGeom prst="rect">
            <a:avLst/>
          </a:prstGeom>
          <a:noFill/>
          <a:ln/>
        </p:spPr>
        <p:txBody>
          <a:bodyPr wrap="square" lIns="0" tIns="0" rIns="0" bIns="0" rtlCol="0" anchor="ctr"/>
          <a:lstStyle/>
          <a:p>
            <a:pPr marL="0" indent="0">
              <a:buNone/>
            </a:pPr>
            <a:r>
              <a:rPr lang="en-US" sz="1000" b="1" kern="0" spc="100" dirty="0">
                <a:solidFill>
                  <a:srgbClr val="27D86B"/>
                </a:solidFill>
                <a:latin typeface="Arial" pitchFamily="34" charset="0"/>
                <a:ea typeface="Arial" pitchFamily="34" charset="-122"/>
                <a:cs typeface="Arial" pitchFamily="34" charset="-120"/>
              </a:rPr>
              <a:t>PRÉCONDITION(S)</a:t>
            </a:r>
            <a:endParaRPr lang="en-US" sz="1000" dirty="0"/>
          </a:p>
        </p:txBody>
      </p:sp>
      <p:sp>
        <p:nvSpPr>
          <p:cNvPr id="17" name="Text 15"/>
          <p:cNvSpPr/>
          <p:nvPr/>
        </p:nvSpPr>
        <p:spPr>
          <a:xfrm>
            <a:off x="91440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Domaine ciblé existant</a:t>
            </a:r>
            <a:endParaRPr lang="en-US" sz="1200" dirty="0"/>
          </a:p>
        </p:txBody>
      </p:sp>
      <p:sp>
        <p:nvSpPr>
          <p:cNvPr id="18" name="Shape 16"/>
          <p:cNvSpPr/>
          <p:nvPr/>
        </p:nvSpPr>
        <p:spPr>
          <a:xfrm>
            <a:off x="6263640" y="2148840"/>
            <a:ext cx="5349240" cy="749808"/>
          </a:xfrm>
          <a:prstGeom prst="rect">
            <a:avLst/>
          </a:prstGeom>
          <a:solidFill>
            <a:srgbClr val="1A2438"/>
          </a:solidFill>
          <a:ln w="12700">
            <a:solidFill>
              <a:srgbClr val="27D86B"/>
            </a:solidFill>
            <a:prstDash val="solid"/>
          </a:ln>
        </p:spPr>
      </p:sp>
      <p:sp>
        <p:nvSpPr>
          <p:cNvPr id="19" name="Shape 17"/>
          <p:cNvSpPr/>
          <p:nvPr/>
        </p:nvSpPr>
        <p:spPr>
          <a:xfrm>
            <a:off x="6263640" y="2148840"/>
            <a:ext cx="82296" cy="749808"/>
          </a:xfrm>
          <a:prstGeom prst="rect">
            <a:avLst/>
          </a:prstGeom>
          <a:solidFill>
            <a:srgbClr val="27D86B"/>
          </a:solidFill>
          <a:ln/>
        </p:spPr>
      </p:sp>
      <p:sp>
        <p:nvSpPr>
          <p:cNvPr id="20" name="Text 18"/>
          <p:cNvSpPr/>
          <p:nvPr/>
        </p:nvSpPr>
        <p:spPr>
          <a:xfrm>
            <a:off x="6446520" y="2203704"/>
            <a:ext cx="5029200" cy="256032"/>
          </a:xfrm>
          <a:prstGeom prst="rect">
            <a:avLst/>
          </a:prstGeom>
          <a:noFill/>
          <a:ln/>
        </p:spPr>
        <p:txBody>
          <a:bodyPr wrap="square" lIns="0" tIns="0" rIns="0" bIns="0" rtlCol="0" anchor="ctr"/>
          <a:lstStyle/>
          <a:p>
            <a:pPr marL="0" indent="0">
              <a:buNone/>
            </a:pPr>
            <a:r>
              <a:rPr lang="en-US" sz="1000" b="1" kern="0" spc="100" dirty="0">
                <a:solidFill>
                  <a:srgbClr val="27D86B"/>
                </a:solidFill>
                <a:latin typeface="Arial" pitchFamily="34" charset="0"/>
                <a:ea typeface="Arial" pitchFamily="34" charset="-122"/>
                <a:cs typeface="Arial" pitchFamily="34" charset="-120"/>
              </a:rPr>
              <a:t>POST CONDITION(S)</a:t>
            </a:r>
            <a:endParaRPr lang="en-US" sz="1000" dirty="0"/>
          </a:p>
        </p:txBody>
      </p:sp>
      <p:sp>
        <p:nvSpPr>
          <p:cNvPr id="21" name="Text 19"/>
          <p:cNvSpPr/>
          <p:nvPr/>
        </p:nvSpPr>
        <p:spPr>
          <a:xfrm>
            <a:off x="644652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Mode modifié et enregistré</a:t>
            </a:r>
            <a:endParaRPr lang="en-US" sz="1200" dirty="0"/>
          </a:p>
        </p:txBody>
      </p:sp>
      <p:sp>
        <p:nvSpPr>
          <p:cNvPr id="22" name="Shape 20"/>
          <p:cNvSpPr/>
          <p:nvPr/>
        </p:nvSpPr>
        <p:spPr>
          <a:xfrm>
            <a:off x="731520" y="3200400"/>
            <a:ext cx="5349240" cy="438912"/>
          </a:xfrm>
          <a:prstGeom prst="rect">
            <a:avLst/>
          </a:prstGeom>
          <a:solidFill>
            <a:srgbClr val="27D86B"/>
          </a:solidFill>
          <a:ln/>
        </p:spPr>
      </p:sp>
      <p:sp>
        <p:nvSpPr>
          <p:cNvPr id="23" name="Text 21"/>
          <p:cNvSpPr/>
          <p:nvPr/>
        </p:nvSpPr>
        <p:spPr>
          <a:xfrm>
            <a:off x="73152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NOMINAL</a:t>
            </a:r>
            <a:endParaRPr lang="en-US" sz="1300" dirty="0"/>
          </a:p>
        </p:txBody>
      </p:sp>
      <p:sp>
        <p:nvSpPr>
          <p:cNvPr id="24" name="Shape 22"/>
          <p:cNvSpPr/>
          <p:nvPr/>
        </p:nvSpPr>
        <p:spPr>
          <a:xfrm>
            <a:off x="731520" y="3639312"/>
            <a:ext cx="5349240" cy="2651760"/>
          </a:xfrm>
          <a:prstGeom prst="rect">
            <a:avLst/>
          </a:prstGeom>
          <a:solidFill>
            <a:srgbClr val="111A2B"/>
          </a:solidFill>
          <a:ln w="12700">
            <a:solidFill>
              <a:srgbClr val="27D86B"/>
            </a:solidFill>
            <a:prstDash val="solid"/>
          </a:ln>
        </p:spPr>
      </p:sp>
      <p:sp>
        <p:nvSpPr>
          <p:cNvPr id="25" name="Text 23"/>
          <p:cNvSpPr/>
          <p:nvPr/>
        </p:nvSpPr>
        <p:spPr>
          <a:xfrm>
            <a:off x="91440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Sélection d'un </a:t>
            </a:r>
            <a:r>
              <a:rPr lang="en-US" sz="1250" dirty="0" err="1">
                <a:solidFill>
                  <a:srgbClr val="DCE3EC"/>
                </a:solidFill>
                <a:latin typeface="Arial" pitchFamily="34" charset="0"/>
                <a:ea typeface="Arial" pitchFamily="34" charset="-122"/>
                <a:cs typeface="Arial" pitchFamily="34" charset="-120"/>
              </a:rPr>
              <a:t>domaine</a:t>
            </a:r>
            <a:r>
              <a:rPr lang="en-US" sz="1250" dirty="0">
                <a:solidFill>
                  <a:srgbClr val="DCE3EC"/>
                </a:solidFill>
                <a:latin typeface="Arial" pitchFamily="34" charset="0"/>
                <a:ea typeface="Arial" pitchFamily="34" charset="-122"/>
                <a:cs typeface="Arial" pitchFamily="34" charset="-120"/>
              </a:rPr>
              <a:t> </a:t>
            </a:r>
            <a:r>
              <a:rPr lang="en-US" sz="1250" dirty="0" err="1">
                <a:solidFill>
                  <a:srgbClr val="DCE3EC"/>
                </a:solidFill>
                <a:latin typeface="Arial" pitchFamily="34" charset="0"/>
                <a:ea typeface="Arial" pitchFamily="34" charset="-122"/>
                <a:cs typeface="Arial" pitchFamily="34" charset="-120"/>
              </a:rPr>
              <a:t>cible</a:t>
            </a:r>
            <a:r>
              <a:rPr lang="en-US" sz="1250" dirty="0">
                <a:solidFill>
                  <a:srgbClr val="DCE3EC"/>
                </a:solidFill>
                <a:latin typeface="Arial" pitchFamily="34" charset="0"/>
                <a:ea typeface="Arial" pitchFamily="34" charset="-122"/>
                <a:cs typeface="Arial" pitchFamily="34" charset="-120"/>
              </a:rPr>
              <a:t>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Clic sur Learning ou Enforcement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Demande de confirmation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Confirmation de l'opération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Application du changement et mise à jour.</a:t>
            </a:r>
            <a:endParaRPr lang="en-US" sz="1250" dirty="0"/>
          </a:p>
        </p:txBody>
      </p:sp>
      <p:sp>
        <p:nvSpPr>
          <p:cNvPr id="26" name="Shape 24"/>
          <p:cNvSpPr/>
          <p:nvPr/>
        </p:nvSpPr>
        <p:spPr>
          <a:xfrm>
            <a:off x="6080760" y="3200400"/>
            <a:ext cx="5349240" cy="438912"/>
          </a:xfrm>
          <a:prstGeom prst="rect">
            <a:avLst/>
          </a:prstGeom>
          <a:solidFill>
            <a:srgbClr val="9AA7B8"/>
          </a:solidFill>
          <a:ln/>
        </p:spPr>
      </p:sp>
      <p:sp>
        <p:nvSpPr>
          <p:cNvPr id="27" name="Text 25"/>
          <p:cNvSpPr/>
          <p:nvPr/>
        </p:nvSpPr>
        <p:spPr>
          <a:xfrm>
            <a:off x="608076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ALTERNATIF</a:t>
            </a:r>
            <a:endParaRPr lang="en-US" sz="1300" dirty="0"/>
          </a:p>
        </p:txBody>
      </p:sp>
      <p:sp>
        <p:nvSpPr>
          <p:cNvPr id="28" name="Shape 26"/>
          <p:cNvSpPr/>
          <p:nvPr/>
        </p:nvSpPr>
        <p:spPr>
          <a:xfrm>
            <a:off x="6080760" y="3639312"/>
            <a:ext cx="5349240" cy="2651760"/>
          </a:xfrm>
          <a:prstGeom prst="rect">
            <a:avLst/>
          </a:prstGeom>
          <a:solidFill>
            <a:srgbClr val="111A2B"/>
          </a:solidFill>
          <a:ln w="12700">
            <a:solidFill>
              <a:srgbClr val="3A4760"/>
            </a:solidFill>
            <a:prstDash val="solid"/>
          </a:ln>
        </p:spPr>
      </p:sp>
      <p:sp>
        <p:nvSpPr>
          <p:cNvPr id="29" name="Text 27"/>
          <p:cNvSpPr/>
          <p:nvPr/>
        </p:nvSpPr>
        <p:spPr>
          <a:xfrm>
            <a:off x="626364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Annulation : aucun changement appliqué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Échec : erreur, conservation du mode précédent.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CAS D'UTILISATION 4</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Text 3"/>
          <p:cNvSpPr/>
          <p:nvPr/>
        </p:nvSpPr>
        <p:spPr>
          <a:xfrm>
            <a:off x="5486400" y="164592"/>
            <a:ext cx="6126480" cy="685800"/>
          </a:xfrm>
          <a:prstGeom prst="rect">
            <a:avLst/>
          </a:prstGeom>
          <a:noFill/>
          <a:ln/>
        </p:spPr>
        <p:txBody>
          <a:bodyPr wrap="square" lIns="0" tIns="0" rIns="0" bIns="0" rtlCol="0" anchor="ctr"/>
          <a:lstStyle/>
          <a:p>
            <a:pPr marL="0" indent="0" algn="r">
              <a:buNone/>
            </a:pPr>
            <a:r>
              <a:rPr lang="en-US" sz="1600" b="1" i="1" dirty="0" err="1">
                <a:solidFill>
                  <a:srgbClr val="3B82C4"/>
                </a:solidFill>
                <a:latin typeface="Arial" pitchFamily="34" charset="0"/>
                <a:ea typeface="Arial" pitchFamily="34" charset="-122"/>
                <a:cs typeface="Arial" pitchFamily="34" charset="-120"/>
              </a:rPr>
              <a:t>Éditer</a:t>
            </a:r>
            <a:r>
              <a:rPr lang="en-US" sz="1600" b="1" i="1" dirty="0">
                <a:solidFill>
                  <a:srgbClr val="3B82C4"/>
                </a:solidFill>
                <a:latin typeface="Arial" pitchFamily="34" charset="0"/>
                <a:ea typeface="Arial" pitchFamily="34" charset="-122"/>
                <a:cs typeface="Arial" pitchFamily="34" charset="-120"/>
              </a:rPr>
              <a:t> </a:t>
            </a:r>
            <a:r>
              <a:rPr lang="en-US" sz="1600" b="1" i="1" dirty="0" err="1">
                <a:solidFill>
                  <a:srgbClr val="3B82C4"/>
                </a:solidFill>
                <a:latin typeface="Arial" pitchFamily="34" charset="0"/>
                <a:ea typeface="Arial" pitchFamily="34" charset="-122"/>
                <a:cs typeface="Arial" pitchFamily="34" charset="-120"/>
              </a:rPr>
              <a:t>règle</a:t>
            </a:r>
            <a:r>
              <a:rPr lang="en-US" sz="1600" b="1" i="1" dirty="0">
                <a:solidFill>
                  <a:srgbClr val="3B82C4"/>
                </a:solidFill>
                <a:latin typeface="Arial" pitchFamily="34" charset="0"/>
                <a:ea typeface="Arial" pitchFamily="34" charset="-122"/>
                <a:cs typeface="Arial" pitchFamily="34" charset="-120"/>
              </a:rPr>
              <a:t> </a:t>
            </a:r>
            <a:endParaRPr lang="en-US" sz="1600" dirty="0"/>
          </a:p>
        </p:txBody>
      </p:sp>
      <p:sp>
        <p:nvSpPr>
          <p:cNvPr id="6" name="Shape 4"/>
          <p:cNvSpPr/>
          <p:nvPr/>
        </p:nvSpPr>
        <p:spPr>
          <a:xfrm>
            <a:off x="731520" y="1280160"/>
            <a:ext cx="5349240" cy="749808"/>
          </a:xfrm>
          <a:prstGeom prst="rect">
            <a:avLst/>
          </a:prstGeom>
          <a:solidFill>
            <a:srgbClr val="1A2438"/>
          </a:solidFill>
          <a:ln w="12700">
            <a:solidFill>
              <a:srgbClr val="3B82C4"/>
            </a:solidFill>
            <a:prstDash val="solid"/>
          </a:ln>
        </p:spPr>
      </p:sp>
      <p:sp>
        <p:nvSpPr>
          <p:cNvPr id="7" name="Shape 5"/>
          <p:cNvSpPr/>
          <p:nvPr/>
        </p:nvSpPr>
        <p:spPr>
          <a:xfrm>
            <a:off x="731520" y="1280160"/>
            <a:ext cx="82296" cy="749808"/>
          </a:xfrm>
          <a:prstGeom prst="rect">
            <a:avLst/>
          </a:prstGeom>
          <a:solidFill>
            <a:srgbClr val="3B82C4"/>
          </a:solidFill>
          <a:ln/>
        </p:spPr>
      </p:sp>
      <p:sp>
        <p:nvSpPr>
          <p:cNvPr id="8" name="Text 6"/>
          <p:cNvSpPr/>
          <p:nvPr/>
        </p:nvSpPr>
        <p:spPr>
          <a:xfrm>
            <a:off x="91440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OBJECTIF</a:t>
            </a:r>
            <a:endParaRPr lang="en-US" sz="1000" dirty="0"/>
          </a:p>
        </p:txBody>
      </p:sp>
      <p:sp>
        <p:nvSpPr>
          <p:cNvPr id="9" name="Text 7"/>
          <p:cNvSpPr/>
          <p:nvPr/>
        </p:nvSpPr>
        <p:spPr>
          <a:xfrm>
            <a:off x="914400" y="158191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Modifier les règles via l'interface web, avec validation obligatoire.</a:t>
            </a:r>
            <a:endParaRPr lang="en-US" sz="1200" dirty="0"/>
          </a:p>
        </p:txBody>
      </p:sp>
      <p:sp>
        <p:nvSpPr>
          <p:cNvPr id="10" name="Shape 8"/>
          <p:cNvSpPr/>
          <p:nvPr/>
        </p:nvSpPr>
        <p:spPr>
          <a:xfrm>
            <a:off x="6263640" y="1280160"/>
            <a:ext cx="5349240" cy="749808"/>
          </a:xfrm>
          <a:prstGeom prst="rect">
            <a:avLst/>
          </a:prstGeom>
          <a:solidFill>
            <a:srgbClr val="1A2438"/>
          </a:solidFill>
          <a:ln w="12700">
            <a:solidFill>
              <a:srgbClr val="3B82C4"/>
            </a:solidFill>
            <a:prstDash val="solid"/>
          </a:ln>
        </p:spPr>
      </p:sp>
      <p:sp>
        <p:nvSpPr>
          <p:cNvPr id="11" name="Shape 9"/>
          <p:cNvSpPr/>
          <p:nvPr/>
        </p:nvSpPr>
        <p:spPr>
          <a:xfrm>
            <a:off x="6263640" y="1280160"/>
            <a:ext cx="82296" cy="749808"/>
          </a:xfrm>
          <a:prstGeom prst="rect">
            <a:avLst/>
          </a:prstGeom>
          <a:solidFill>
            <a:srgbClr val="3B82C4"/>
          </a:solidFill>
          <a:ln/>
        </p:spPr>
      </p:sp>
      <p:sp>
        <p:nvSpPr>
          <p:cNvPr id="12" name="Text 10"/>
          <p:cNvSpPr/>
          <p:nvPr/>
        </p:nvSpPr>
        <p:spPr>
          <a:xfrm>
            <a:off x="644652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ACTEUR</a:t>
            </a:r>
            <a:endParaRPr lang="en-US" sz="1000" dirty="0"/>
          </a:p>
        </p:txBody>
      </p:sp>
      <p:sp>
        <p:nvSpPr>
          <p:cNvPr id="13" name="Text 11"/>
          <p:cNvSpPr/>
          <p:nvPr/>
        </p:nvSpPr>
        <p:spPr>
          <a:xfrm>
            <a:off x="6446520" y="158191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Administrateur de </a:t>
            </a:r>
            <a:r>
              <a:rPr lang="en-US" sz="1200" dirty="0" err="1">
                <a:solidFill>
                  <a:srgbClr val="DCE3EC"/>
                </a:solidFill>
                <a:latin typeface="Arial" pitchFamily="34" charset="0"/>
                <a:ea typeface="Arial" pitchFamily="34" charset="-122"/>
                <a:cs typeface="Arial" pitchFamily="34" charset="-120"/>
              </a:rPr>
              <a:t>système</a:t>
            </a:r>
            <a:endParaRPr lang="en-US" sz="1200" dirty="0"/>
          </a:p>
        </p:txBody>
      </p:sp>
      <p:sp>
        <p:nvSpPr>
          <p:cNvPr id="14" name="Shape 12"/>
          <p:cNvSpPr/>
          <p:nvPr/>
        </p:nvSpPr>
        <p:spPr>
          <a:xfrm>
            <a:off x="731520" y="2148840"/>
            <a:ext cx="5349240" cy="749808"/>
          </a:xfrm>
          <a:prstGeom prst="rect">
            <a:avLst/>
          </a:prstGeom>
          <a:solidFill>
            <a:srgbClr val="1A2438"/>
          </a:solidFill>
          <a:ln w="12700">
            <a:solidFill>
              <a:srgbClr val="3B82C4"/>
            </a:solidFill>
            <a:prstDash val="solid"/>
          </a:ln>
        </p:spPr>
      </p:sp>
      <p:sp>
        <p:nvSpPr>
          <p:cNvPr id="15" name="Shape 13"/>
          <p:cNvSpPr/>
          <p:nvPr/>
        </p:nvSpPr>
        <p:spPr>
          <a:xfrm>
            <a:off x="731520" y="2148840"/>
            <a:ext cx="82296" cy="749808"/>
          </a:xfrm>
          <a:prstGeom prst="rect">
            <a:avLst/>
          </a:prstGeom>
          <a:solidFill>
            <a:srgbClr val="3B82C4"/>
          </a:solidFill>
          <a:ln/>
        </p:spPr>
      </p:sp>
      <p:sp>
        <p:nvSpPr>
          <p:cNvPr id="16" name="Text 14"/>
          <p:cNvSpPr/>
          <p:nvPr/>
        </p:nvSpPr>
        <p:spPr>
          <a:xfrm>
            <a:off x="91440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PRÉCONDITION(S)</a:t>
            </a:r>
            <a:endParaRPr lang="en-US" sz="1000" dirty="0"/>
          </a:p>
        </p:txBody>
      </p:sp>
      <p:sp>
        <p:nvSpPr>
          <p:cNvPr id="17" name="Text 15"/>
          <p:cNvSpPr/>
          <p:nvPr/>
        </p:nvSpPr>
        <p:spPr>
          <a:xfrm>
            <a:off x="91440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Politique du domaine chargée dans l'éditeur</a:t>
            </a:r>
            <a:endParaRPr lang="en-US" sz="1200" dirty="0"/>
          </a:p>
        </p:txBody>
      </p:sp>
      <p:sp>
        <p:nvSpPr>
          <p:cNvPr id="18" name="Shape 16"/>
          <p:cNvSpPr/>
          <p:nvPr/>
        </p:nvSpPr>
        <p:spPr>
          <a:xfrm>
            <a:off x="6263640" y="2148840"/>
            <a:ext cx="5349240" cy="749808"/>
          </a:xfrm>
          <a:prstGeom prst="rect">
            <a:avLst/>
          </a:prstGeom>
          <a:solidFill>
            <a:srgbClr val="1A2438"/>
          </a:solidFill>
          <a:ln w="12700">
            <a:solidFill>
              <a:srgbClr val="3B82C4"/>
            </a:solidFill>
            <a:prstDash val="solid"/>
          </a:ln>
        </p:spPr>
      </p:sp>
      <p:sp>
        <p:nvSpPr>
          <p:cNvPr id="19" name="Shape 17"/>
          <p:cNvSpPr/>
          <p:nvPr/>
        </p:nvSpPr>
        <p:spPr>
          <a:xfrm>
            <a:off x="6263640" y="2148840"/>
            <a:ext cx="82296" cy="749808"/>
          </a:xfrm>
          <a:prstGeom prst="rect">
            <a:avLst/>
          </a:prstGeom>
          <a:solidFill>
            <a:srgbClr val="3B82C4"/>
          </a:solidFill>
          <a:ln/>
        </p:spPr>
      </p:sp>
      <p:sp>
        <p:nvSpPr>
          <p:cNvPr id="20" name="Text 18"/>
          <p:cNvSpPr/>
          <p:nvPr/>
        </p:nvSpPr>
        <p:spPr>
          <a:xfrm>
            <a:off x="644652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POST CONDITION(S)</a:t>
            </a:r>
            <a:endParaRPr lang="en-US" sz="1000" dirty="0"/>
          </a:p>
        </p:txBody>
      </p:sp>
      <p:sp>
        <p:nvSpPr>
          <p:cNvPr id="21" name="Text 19"/>
          <p:cNvSpPr/>
          <p:nvPr/>
        </p:nvSpPr>
        <p:spPr>
          <a:xfrm>
            <a:off x="644652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ea typeface="Arial" pitchFamily="34" charset="-122"/>
                <a:cs typeface="Arial" pitchFamily="34" charset="-120"/>
              </a:rPr>
              <a:t>Règle validée appliquée et journalisée</a:t>
            </a:r>
            <a:endParaRPr lang="en-US" sz="1200" dirty="0"/>
          </a:p>
        </p:txBody>
      </p:sp>
      <p:sp>
        <p:nvSpPr>
          <p:cNvPr id="22" name="Shape 20"/>
          <p:cNvSpPr/>
          <p:nvPr/>
        </p:nvSpPr>
        <p:spPr>
          <a:xfrm>
            <a:off x="731520" y="3200400"/>
            <a:ext cx="5349240" cy="438912"/>
          </a:xfrm>
          <a:prstGeom prst="rect">
            <a:avLst/>
          </a:prstGeom>
          <a:solidFill>
            <a:srgbClr val="3B82C4"/>
          </a:solidFill>
          <a:ln/>
        </p:spPr>
      </p:sp>
      <p:sp>
        <p:nvSpPr>
          <p:cNvPr id="23" name="Text 21"/>
          <p:cNvSpPr/>
          <p:nvPr/>
        </p:nvSpPr>
        <p:spPr>
          <a:xfrm>
            <a:off x="73152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NOMINAL</a:t>
            </a:r>
            <a:endParaRPr lang="en-US" sz="1300" dirty="0"/>
          </a:p>
        </p:txBody>
      </p:sp>
      <p:sp>
        <p:nvSpPr>
          <p:cNvPr id="24" name="Shape 22"/>
          <p:cNvSpPr/>
          <p:nvPr/>
        </p:nvSpPr>
        <p:spPr>
          <a:xfrm>
            <a:off x="731520" y="3639312"/>
            <a:ext cx="5349240" cy="2651760"/>
          </a:xfrm>
          <a:prstGeom prst="rect">
            <a:avLst/>
          </a:prstGeom>
          <a:solidFill>
            <a:srgbClr val="111A2B"/>
          </a:solidFill>
          <a:ln w="12700">
            <a:solidFill>
              <a:srgbClr val="3B82C4"/>
            </a:solidFill>
            <a:prstDash val="solid"/>
          </a:ln>
        </p:spPr>
      </p:sp>
      <p:sp>
        <p:nvSpPr>
          <p:cNvPr id="25" name="Text 23"/>
          <p:cNvSpPr/>
          <p:nvPr/>
        </p:nvSpPr>
        <p:spPr>
          <a:xfrm>
            <a:off x="91440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Ouverture de l'éditeur de règles ;</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Modification </a:t>
            </a:r>
            <a:r>
              <a:rPr lang="en-US" sz="1250" dirty="0" smtClean="0">
                <a:solidFill>
                  <a:srgbClr val="DCE3EC"/>
                </a:solidFill>
                <a:latin typeface="Arial" pitchFamily="34" charset="0"/>
                <a:ea typeface="Arial" pitchFamily="34" charset="-122"/>
                <a:cs typeface="Arial" pitchFamily="34" charset="-120"/>
              </a:rPr>
              <a:t>de  la </a:t>
            </a:r>
            <a:r>
              <a:rPr lang="en-US" sz="1250" dirty="0" err="1" smtClean="0">
                <a:solidFill>
                  <a:srgbClr val="DCE3EC"/>
                </a:solidFill>
                <a:latin typeface="Arial" pitchFamily="34" charset="0"/>
                <a:ea typeface="Arial" pitchFamily="34" charset="-122"/>
                <a:cs typeface="Arial" pitchFamily="34" charset="-120"/>
              </a:rPr>
              <a:t>règle</a:t>
            </a:r>
            <a:r>
              <a:rPr lang="en-US" sz="1250" dirty="0" smtClean="0">
                <a:solidFill>
                  <a:srgbClr val="DCE3EC"/>
                </a:solidFill>
                <a:latin typeface="Arial" pitchFamily="34" charset="0"/>
                <a:ea typeface="Arial" pitchFamily="34" charset="-122"/>
                <a:cs typeface="Arial" pitchFamily="34" charset="-120"/>
              </a:rPr>
              <a:t>  </a:t>
            </a:r>
            <a:r>
              <a:rPr lang="en-US" sz="1250" dirty="0">
                <a:solidFill>
                  <a:srgbClr val="DCE3EC"/>
                </a:solidFill>
                <a:latin typeface="Arial" pitchFamily="34" charset="0"/>
                <a:ea typeface="Arial" pitchFamily="34" charset="-122"/>
                <a:cs typeface="Arial" pitchFamily="34" charset="-120"/>
              </a:rPr>
              <a:t>;</a:t>
            </a:r>
            <a:endParaRPr lang="en-US" sz="1250" dirty="0"/>
          </a:p>
          <a:p>
            <a:pPr marL="342900" indent="-342900">
              <a:spcAft>
                <a:spcPts val="600"/>
              </a:spcAft>
              <a:buSzPct val="100000"/>
              <a:buFont typeface="+mj-lt"/>
              <a:buAutoNum type="arabicPeriod"/>
            </a:pPr>
            <a:r>
              <a:rPr lang="en-US" sz="1250" dirty="0" err="1">
                <a:solidFill>
                  <a:srgbClr val="DCE3EC"/>
                </a:solidFill>
                <a:latin typeface="Arial" pitchFamily="34" charset="0"/>
                <a:ea typeface="Arial" pitchFamily="34" charset="-122"/>
                <a:cs typeface="Arial" pitchFamily="34" charset="-120"/>
              </a:rPr>
              <a:t>Vérification</a:t>
            </a:r>
            <a:r>
              <a:rPr lang="en-US" sz="1250" dirty="0">
                <a:solidFill>
                  <a:srgbClr val="DCE3EC"/>
                </a:solidFill>
                <a:latin typeface="Arial" pitchFamily="34" charset="0"/>
                <a:ea typeface="Arial" pitchFamily="34" charset="-122"/>
                <a:cs typeface="Arial" pitchFamily="34" charset="-120"/>
              </a:rPr>
              <a:t> de la </a:t>
            </a:r>
            <a:r>
              <a:rPr lang="en-US" sz="1250" dirty="0" err="1">
                <a:solidFill>
                  <a:srgbClr val="DCE3EC"/>
                </a:solidFill>
                <a:latin typeface="Arial" pitchFamily="34" charset="0"/>
                <a:ea typeface="Arial" pitchFamily="34" charset="-122"/>
                <a:cs typeface="Arial" pitchFamily="34" charset="-120"/>
              </a:rPr>
              <a:t>syntaxe</a:t>
            </a:r>
            <a:r>
              <a:rPr lang="en-US" sz="1250" dirty="0">
                <a:solidFill>
                  <a:srgbClr val="DCE3EC"/>
                </a:solidFill>
                <a:latin typeface="Arial" pitchFamily="34" charset="0"/>
                <a:ea typeface="Arial" pitchFamily="34" charset="-122"/>
                <a:cs typeface="Arial" pitchFamily="34" charset="-120"/>
              </a:rPr>
              <a:t> </a:t>
            </a:r>
            <a:r>
              <a:rPr lang="en-US" sz="1250" dirty="0" smtClean="0">
                <a:solidFill>
                  <a:srgbClr val="DCE3EC"/>
                </a:solidFill>
                <a:latin typeface="Arial" pitchFamily="34" charset="0"/>
                <a:ea typeface="Arial" pitchFamily="34" charset="-122"/>
                <a:cs typeface="Arial" pitchFamily="34" charset="-120"/>
              </a:rPr>
              <a:t>de la </a:t>
            </a:r>
            <a:r>
              <a:rPr lang="en-US" sz="1250" dirty="0" err="1" smtClean="0">
                <a:solidFill>
                  <a:srgbClr val="DCE3EC"/>
                </a:solidFill>
                <a:latin typeface="Arial" pitchFamily="34" charset="0"/>
                <a:ea typeface="Arial" pitchFamily="34" charset="-122"/>
                <a:cs typeface="Arial" pitchFamily="34" charset="-120"/>
              </a:rPr>
              <a:t>règle</a:t>
            </a:r>
            <a:r>
              <a:rPr lang="en-US" sz="1250" dirty="0" smtClean="0">
                <a:solidFill>
                  <a:srgbClr val="DCE3EC"/>
                </a:solidFill>
                <a:latin typeface="Arial" pitchFamily="34" charset="0"/>
                <a:ea typeface="Arial" pitchFamily="34" charset="-122"/>
                <a:cs typeface="Arial" pitchFamily="34" charset="-120"/>
              </a:rPr>
              <a:t> </a:t>
            </a:r>
            <a:r>
              <a:rPr lang="en-US" sz="1250" dirty="0">
                <a:solidFill>
                  <a:srgbClr val="DCE3EC"/>
                </a:solidFill>
                <a:latin typeface="Arial" pitchFamily="34" charset="0"/>
                <a:ea typeface="Arial" pitchFamily="34" charset="-122"/>
                <a:cs typeface="Arial" pitchFamily="34" charset="-120"/>
              </a:rPr>
              <a:t>(directive, </a:t>
            </a:r>
            <a:r>
              <a:rPr lang="en-US" sz="1250" dirty="0" err="1">
                <a:solidFill>
                  <a:srgbClr val="DCE3EC"/>
                </a:solidFill>
                <a:latin typeface="Arial" pitchFamily="34" charset="0"/>
                <a:ea typeface="Arial" pitchFamily="34" charset="-122"/>
                <a:cs typeface="Arial" pitchFamily="34" charset="-120"/>
              </a:rPr>
              <a:t>chemin</a:t>
            </a:r>
            <a:r>
              <a:rPr lang="en-US" sz="1250" dirty="0">
                <a:solidFill>
                  <a:srgbClr val="DCE3EC"/>
                </a:solidFill>
                <a:latin typeface="Arial" pitchFamily="34" charset="0"/>
                <a:ea typeface="Arial" pitchFamily="34" charset="-122"/>
                <a:cs typeface="Arial" pitchFamily="34" charset="-120"/>
              </a:rPr>
              <a:t> </a:t>
            </a:r>
            <a:r>
              <a:rPr lang="en-US" sz="1250" dirty="0" err="1">
                <a:solidFill>
                  <a:srgbClr val="DCE3EC"/>
                </a:solidFill>
                <a:latin typeface="Arial" pitchFamily="34" charset="0"/>
                <a:ea typeface="Arial" pitchFamily="34" charset="-122"/>
                <a:cs typeface="Arial" pitchFamily="34" charset="-120"/>
              </a:rPr>
              <a:t>d’accès</a:t>
            </a:r>
            <a:r>
              <a:rPr lang="en-US" sz="1250" dirty="0">
                <a:solidFill>
                  <a:srgbClr val="DCE3EC"/>
                </a:solidFill>
                <a:latin typeface="Arial" pitchFamily="34" charset="0"/>
                <a:ea typeface="Arial" pitchFamily="34" charset="-122"/>
                <a:cs typeface="Arial" pitchFamily="34" charset="-120"/>
              </a:rPr>
              <a:t>) ;</a:t>
            </a:r>
          </a:p>
          <a:p>
            <a:pPr marL="342900" indent="-342900">
              <a:spcAft>
                <a:spcPts val="600"/>
              </a:spcAft>
              <a:buSzPct val="100000"/>
              <a:buFont typeface="+mj-lt"/>
              <a:buAutoNum type="arabicPeriod"/>
            </a:pPr>
            <a:r>
              <a:rPr lang="en-US" sz="1250" dirty="0">
                <a:solidFill>
                  <a:srgbClr val="DCE3EC"/>
                </a:solidFill>
                <a:latin typeface="Arial" pitchFamily="34" charset="0"/>
                <a:cs typeface="Arial" pitchFamily="34" charset="-120"/>
              </a:rPr>
              <a:t>Validation (</a:t>
            </a:r>
            <a:r>
              <a:rPr lang="en-US" sz="1250" dirty="0" err="1">
                <a:solidFill>
                  <a:srgbClr val="DCE3EC"/>
                </a:solidFill>
                <a:latin typeface="Arial" pitchFamily="34" charset="0"/>
                <a:cs typeface="Arial" pitchFamily="34" charset="-120"/>
              </a:rPr>
              <a:t>moteur</a:t>
            </a:r>
            <a:r>
              <a:rPr lang="en-US" sz="1250" dirty="0">
                <a:solidFill>
                  <a:srgbClr val="DCE3EC"/>
                </a:solidFill>
                <a:latin typeface="Arial" pitchFamily="34" charset="0"/>
                <a:cs typeface="Arial" pitchFamily="34" charset="-120"/>
              </a:rPr>
              <a:t> </a:t>
            </a:r>
            <a:r>
              <a:rPr lang="en-US" sz="1250" dirty="0" err="1" smtClean="0">
                <a:solidFill>
                  <a:srgbClr val="DCE3EC"/>
                </a:solidFill>
                <a:latin typeface="Arial" pitchFamily="34" charset="0"/>
                <a:cs typeface="Arial" pitchFamily="34" charset="-120"/>
              </a:rPr>
              <a:t>tomoyo</a:t>
            </a:r>
            <a:r>
              <a:rPr lang="en-US" sz="1250" dirty="0" smtClean="0">
                <a:solidFill>
                  <a:srgbClr val="DCE3EC"/>
                </a:solidFill>
                <a:latin typeface="Arial" pitchFamily="34" charset="0"/>
                <a:cs typeface="Arial" pitchFamily="34" charset="-120"/>
              </a:rPr>
              <a:t>)</a:t>
            </a: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Confirmation et application.</a:t>
            </a:r>
            <a:endParaRPr lang="en-US" sz="1250" dirty="0"/>
          </a:p>
        </p:txBody>
      </p:sp>
      <p:sp>
        <p:nvSpPr>
          <p:cNvPr id="26" name="Shape 24"/>
          <p:cNvSpPr/>
          <p:nvPr/>
        </p:nvSpPr>
        <p:spPr>
          <a:xfrm>
            <a:off x="6080760" y="3200400"/>
            <a:ext cx="5349240" cy="438912"/>
          </a:xfrm>
          <a:prstGeom prst="rect">
            <a:avLst/>
          </a:prstGeom>
          <a:solidFill>
            <a:srgbClr val="9AA7B8"/>
          </a:solidFill>
          <a:ln/>
        </p:spPr>
      </p:sp>
      <p:sp>
        <p:nvSpPr>
          <p:cNvPr id="27" name="Text 25"/>
          <p:cNvSpPr/>
          <p:nvPr/>
        </p:nvSpPr>
        <p:spPr>
          <a:xfrm>
            <a:off x="608076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ALTERNATIF</a:t>
            </a:r>
            <a:endParaRPr lang="en-US" sz="1300" dirty="0"/>
          </a:p>
        </p:txBody>
      </p:sp>
      <p:sp>
        <p:nvSpPr>
          <p:cNvPr id="28" name="Shape 26"/>
          <p:cNvSpPr/>
          <p:nvPr/>
        </p:nvSpPr>
        <p:spPr>
          <a:xfrm>
            <a:off x="6080760" y="3639312"/>
            <a:ext cx="5349240" cy="2651760"/>
          </a:xfrm>
          <a:prstGeom prst="rect">
            <a:avLst/>
          </a:prstGeom>
          <a:solidFill>
            <a:srgbClr val="111A2B"/>
          </a:solidFill>
          <a:ln w="12700">
            <a:solidFill>
              <a:srgbClr val="3A4760"/>
            </a:solidFill>
            <a:prstDash val="solid"/>
          </a:ln>
        </p:spPr>
      </p:sp>
      <p:sp>
        <p:nvSpPr>
          <p:cNvPr id="29" name="Text 27"/>
          <p:cNvSpPr/>
          <p:nvPr/>
        </p:nvSpPr>
        <p:spPr>
          <a:xfrm>
            <a:off x="6263640" y="3767328"/>
            <a:ext cx="4983480" cy="2423160"/>
          </a:xfrm>
          <a:prstGeom prst="rect">
            <a:avLst/>
          </a:prstGeom>
          <a:noFill/>
          <a:ln/>
        </p:spPr>
        <p:txBody>
          <a:bodyPr wrap="square" rtlCol="0" anchor="t"/>
          <a:lstStyle/>
          <a:p>
            <a:pPr>
              <a:spcAft>
                <a:spcPts val="600"/>
              </a:spcAft>
              <a:buSzPct val="100000"/>
            </a:pPr>
            <a:endParaRPr lang="en-US" sz="1250" dirty="0"/>
          </a:p>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Erreur après application : retour arrière (rollback).</a:t>
            </a:r>
          </a:p>
          <a:p>
            <a:pPr marL="342900" indent="-342900">
              <a:spcAft>
                <a:spcPts val="600"/>
              </a:spcAft>
              <a:buSzPct val="100000"/>
              <a:buFont typeface="+mj-lt"/>
              <a:buAutoNum type="arabicPeriod"/>
            </a:pPr>
            <a:r>
              <a:rPr lang="en-US" sz="1250" dirty="0" err="1">
                <a:solidFill>
                  <a:srgbClr val="DCE3EC"/>
                </a:solidFill>
                <a:latin typeface="Arial" pitchFamily="34" charset="0"/>
                <a:cs typeface="Arial" pitchFamily="34" charset="-120"/>
              </a:rPr>
              <a:t>Détection</a:t>
            </a:r>
            <a:r>
              <a:rPr lang="en-US" sz="1250" dirty="0">
                <a:solidFill>
                  <a:srgbClr val="DCE3EC"/>
                </a:solidFill>
                <a:latin typeface="Arial" pitchFamily="34" charset="0"/>
                <a:cs typeface="Arial" pitchFamily="34" charset="-120"/>
              </a:rPr>
              <a:t> </a:t>
            </a:r>
            <a:r>
              <a:rPr lang="en-US" sz="1250" dirty="0" err="1">
                <a:solidFill>
                  <a:srgbClr val="DCE3EC"/>
                </a:solidFill>
                <a:latin typeface="Arial" pitchFamily="34" charset="0"/>
                <a:cs typeface="Arial" pitchFamily="34" charset="-120"/>
              </a:rPr>
              <a:t>d’une</a:t>
            </a:r>
            <a:r>
              <a:rPr lang="en-US" sz="1250" dirty="0">
                <a:solidFill>
                  <a:srgbClr val="DCE3EC"/>
                </a:solidFill>
                <a:latin typeface="Arial" pitchFamily="34" charset="0"/>
                <a:cs typeface="Arial" pitchFamily="34" charset="-120"/>
              </a:rPr>
              <a:t> </a:t>
            </a:r>
            <a:r>
              <a:rPr lang="en-US" sz="1250" dirty="0" err="1">
                <a:solidFill>
                  <a:srgbClr val="DCE3EC"/>
                </a:solidFill>
                <a:latin typeface="Arial" pitchFamily="34" charset="0"/>
                <a:cs typeface="Arial" pitchFamily="34" charset="-120"/>
              </a:rPr>
              <a:t>erreur</a:t>
            </a:r>
            <a:r>
              <a:rPr lang="en-US" sz="1250" dirty="0">
                <a:solidFill>
                  <a:srgbClr val="DCE3EC"/>
                </a:solidFill>
                <a:latin typeface="Arial" pitchFamily="34" charset="0"/>
                <a:cs typeface="Arial" pitchFamily="34" charset="-120"/>
              </a:rPr>
              <a:t> de </a:t>
            </a:r>
            <a:r>
              <a:rPr lang="en-US" sz="1250" dirty="0" err="1">
                <a:solidFill>
                  <a:srgbClr val="DCE3EC"/>
                </a:solidFill>
                <a:latin typeface="Arial" pitchFamily="34" charset="0"/>
                <a:cs typeface="Arial" pitchFamily="34" charset="-120"/>
              </a:rPr>
              <a:t>syntaxe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322518"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CAS D'UTILISATION 5</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Text 3"/>
          <p:cNvSpPr/>
          <p:nvPr/>
        </p:nvSpPr>
        <p:spPr>
          <a:xfrm>
            <a:off x="5486400" y="164592"/>
            <a:ext cx="6126480" cy="685800"/>
          </a:xfrm>
          <a:prstGeom prst="rect">
            <a:avLst/>
          </a:prstGeom>
          <a:noFill/>
          <a:ln/>
        </p:spPr>
        <p:txBody>
          <a:bodyPr wrap="square" lIns="0" tIns="0" rIns="0" bIns="0" rtlCol="0" anchor="ctr"/>
          <a:lstStyle/>
          <a:p>
            <a:pPr marL="0" indent="0" algn="r">
              <a:buNone/>
            </a:pPr>
            <a:r>
              <a:rPr lang="en-US" sz="1600" b="1" i="1" dirty="0">
                <a:solidFill>
                  <a:srgbClr val="3B82C4"/>
                </a:solidFill>
                <a:latin typeface="Arial" pitchFamily="34" charset="0"/>
                <a:ea typeface="Arial" pitchFamily="34" charset="-122"/>
                <a:cs typeface="Arial" pitchFamily="34" charset="-120"/>
              </a:rPr>
              <a:t>Consulter logs </a:t>
            </a:r>
            <a:endParaRPr lang="en-US" sz="1600" dirty="0"/>
          </a:p>
        </p:txBody>
      </p:sp>
      <p:sp>
        <p:nvSpPr>
          <p:cNvPr id="6" name="Shape 4"/>
          <p:cNvSpPr/>
          <p:nvPr/>
        </p:nvSpPr>
        <p:spPr>
          <a:xfrm>
            <a:off x="731520" y="1280160"/>
            <a:ext cx="5349240" cy="749808"/>
          </a:xfrm>
          <a:prstGeom prst="rect">
            <a:avLst/>
          </a:prstGeom>
          <a:solidFill>
            <a:srgbClr val="1A2438"/>
          </a:solidFill>
          <a:ln w="12700">
            <a:solidFill>
              <a:srgbClr val="3B82C4"/>
            </a:solidFill>
            <a:prstDash val="solid"/>
          </a:ln>
        </p:spPr>
      </p:sp>
      <p:sp>
        <p:nvSpPr>
          <p:cNvPr id="7" name="Shape 5"/>
          <p:cNvSpPr/>
          <p:nvPr/>
        </p:nvSpPr>
        <p:spPr>
          <a:xfrm>
            <a:off x="731520" y="1280160"/>
            <a:ext cx="82296" cy="749808"/>
          </a:xfrm>
          <a:prstGeom prst="rect">
            <a:avLst/>
          </a:prstGeom>
          <a:solidFill>
            <a:srgbClr val="3B82C4"/>
          </a:solidFill>
          <a:ln/>
        </p:spPr>
      </p:sp>
      <p:sp>
        <p:nvSpPr>
          <p:cNvPr id="8" name="Text 6"/>
          <p:cNvSpPr/>
          <p:nvPr/>
        </p:nvSpPr>
        <p:spPr>
          <a:xfrm>
            <a:off x="91440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OBJECTIF</a:t>
            </a:r>
            <a:endParaRPr lang="en-US" sz="1000" dirty="0"/>
          </a:p>
        </p:txBody>
      </p:sp>
      <p:sp>
        <p:nvSpPr>
          <p:cNvPr id="9" name="Text 7"/>
          <p:cNvSpPr/>
          <p:nvPr/>
        </p:nvSpPr>
        <p:spPr>
          <a:xfrm>
            <a:off x="914400" y="1581912"/>
            <a:ext cx="5029200" cy="411480"/>
          </a:xfrm>
          <a:prstGeom prst="rect">
            <a:avLst/>
          </a:prstGeom>
          <a:noFill/>
          <a:ln/>
        </p:spPr>
        <p:txBody>
          <a:bodyPr wrap="square" lIns="0" tIns="0" rIns="0" bIns="0" rtlCol="0" anchor="t"/>
          <a:lstStyle/>
          <a:p>
            <a:pPr marL="0" indent="0">
              <a:buNone/>
            </a:pPr>
            <a:r>
              <a:rPr lang="en-US" sz="1200" dirty="0" err="1">
                <a:solidFill>
                  <a:srgbClr val="DCE3EC"/>
                </a:solidFill>
                <a:latin typeface="Arial" pitchFamily="34" charset="0"/>
                <a:cs typeface="Arial" pitchFamily="34" charset="-120"/>
              </a:rPr>
              <a:t>L’administrateur</a:t>
            </a:r>
            <a:r>
              <a:rPr lang="en-US" sz="1200" dirty="0">
                <a:solidFill>
                  <a:srgbClr val="DCE3EC"/>
                </a:solidFill>
                <a:latin typeface="Arial" pitchFamily="34" charset="0"/>
                <a:cs typeface="Arial" pitchFamily="34" charset="-120"/>
              </a:rPr>
              <a:t> </a:t>
            </a:r>
            <a:r>
              <a:rPr lang="en-US" sz="1200" dirty="0" err="1">
                <a:solidFill>
                  <a:srgbClr val="DCE3EC"/>
                </a:solidFill>
                <a:latin typeface="Arial" pitchFamily="34" charset="0"/>
                <a:cs typeface="Arial" pitchFamily="34" charset="-120"/>
              </a:rPr>
              <a:t>consulte</a:t>
            </a:r>
            <a:r>
              <a:rPr lang="en-US" sz="1200" dirty="0">
                <a:solidFill>
                  <a:srgbClr val="DCE3EC"/>
                </a:solidFill>
                <a:latin typeface="Arial" pitchFamily="34" charset="0"/>
                <a:cs typeface="Arial" pitchFamily="34" charset="-120"/>
              </a:rPr>
              <a:t> les </a:t>
            </a:r>
            <a:r>
              <a:rPr lang="en-US" sz="1200" dirty="0" err="1">
                <a:solidFill>
                  <a:srgbClr val="DCE3EC"/>
                </a:solidFill>
                <a:latin typeface="Arial" pitchFamily="34" charset="0"/>
                <a:cs typeface="Arial" pitchFamily="34" charset="-120"/>
              </a:rPr>
              <a:t>journaux</a:t>
            </a:r>
            <a:r>
              <a:rPr lang="en-US" sz="1200" dirty="0">
                <a:solidFill>
                  <a:srgbClr val="DCE3EC"/>
                </a:solidFill>
                <a:latin typeface="Arial" pitchFamily="34" charset="0"/>
                <a:cs typeface="Arial" pitchFamily="34" charset="-120"/>
              </a:rPr>
              <a:t> </a:t>
            </a:r>
            <a:r>
              <a:rPr lang="en-US" sz="1200" dirty="0" err="1">
                <a:solidFill>
                  <a:srgbClr val="DCE3EC"/>
                </a:solidFill>
                <a:latin typeface="Arial" pitchFamily="34" charset="0"/>
                <a:cs typeface="Arial" pitchFamily="34" charset="-120"/>
              </a:rPr>
              <a:t>d’activité</a:t>
            </a:r>
            <a:r>
              <a:rPr lang="en-US" sz="1200" dirty="0">
                <a:solidFill>
                  <a:srgbClr val="DCE3EC"/>
                </a:solidFill>
                <a:latin typeface="Arial" pitchFamily="34" charset="0"/>
                <a:cs typeface="Arial" pitchFamily="34" charset="-120"/>
              </a:rPr>
              <a:t> de </a:t>
            </a:r>
            <a:r>
              <a:rPr lang="en-US" sz="1200" dirty="0" err="1">
                <a:solidFill>
                  <a:srgbClr val="DCE3EC"/>
                </a:solidFill>
                <a:latin typeface="Arial" pitchFamily="34" charset="0"/>
                <a:cs typeface="Arial" pitchFamily="34" charset="-120"/>
              </a:rPr>
              <a:t>TomoyoManager</a:t>
            </a:r>
            <a:endParaRPr lang="en-US" sz="1200" dirty="0"/>
          </a:p>
        </p:txBody>
      </p:sp>
      <p:sp>
        <p:nvSpPr>
          <p:cNvPr id="10" name="Shape 8"/>
          <p:cNvSpPr/>
          <p:nvPr/>
        </p:nvSpPr>
        <p:spPr>
          <a:xfrm>
            <a:off x="6263640" y="1280160"/>
            <a:ext cx="5349240" cy="749808"/>
          </a:xfrm>
          <a:prstGeom prst="rect">
            <a:avLst/>
          </a:prstGeom>
          <a:solidFill>
            <a:srgbClr val="1A2438"/>
          </a:solidFill>
          <a:ln w="12700">
            <a:solidFill>
              <a:srgbClr val="3B82C4"/>
            </a:solidFill>
            <a:prstDash val="solid"/>
          </a:ln>
        </p:spPr>
      </p:sp>
      <p:sp>
        <p:nvSpPr>
          <p:cNvPr id="11" name="Shape 9"/>
          <p:cNvSpPr/>
          <p:nvPr/>
        </p:nvSpPr>
        <p:spPr>
          <a:xfrm>
            <a:off x="6263640" y="1280160"/>
            <a:ext cx="82296" cy="749808"/>
          </a:xfrm>
          <a:prstGeom prst="rect">
            <a:avLst/>
          </a:prstGeom>
          <a:solidFill>
            <a:srgbClr val="3B82C4"/>
          </a:solidFill>
          <a:ln/>
        </p:spPr>
      </p:sp>
      <p:sp>
        <p:nvSpPr>
          <p:cNvPr id="12" name="Text 10"/>
          <p:cNvSpPr/>
          <p:nvPr/>
        </p:nvSpPr>
        <p:spPr>
          <a:xfrm>
            <a:off x="6446520" y="133502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ACTEUR</a:t>
            </a:r>
            <a:endParaRPr lang="en-US" sz="1000" dirty="0"/>
          </a:p>
        </p:txBody>
      </p:sp>
      <p:sp>
        <p:nvSpPr>
          <p:cNvPr id="13" name="Text 11"/>
          <p:cNvSpPr/>
          <p:nvPr/>
        </p:nvSpPr>
        <p:spPr>
          <a:xfrm>
            <a:off x="6446520" y="1581912"/>
            <a:ext cx="5029200" cy="411480"/>
          </a:xfrm>
          <a:prstGeom prst="rect">
            <a:avLst/>
          </a:prstGeom>
          <a:noFill/>
          <a:ln/>
        </p:spPr>
        <p:txBody>
          <a:bodyPr wrap="square" lIns="0" tIns="0" rIns="0" bIns="0" rtlCol="0" anchor="t"/>
          <a:lstStyle/>
          <a:p>
            <a:pPr marL="0" indent="0">
              <a:buNone/>
            </a:pPr>
            <a:r>
              <a:rPr lang="en-US" sz="1200" dirty="0" err="1">
                <a:solidFill>
                  <a:srgbClr val="DCE3EC"/>
                </a:solidFill>
                <a:latin typeface="Arial" pitchFamily="34" charset="0"/>
                <a:ea typeface="Arial" pitchFamily="34" charset="-122"/>
                <a:cs typeface="Arial" pitchFamily="34" charset="-120"/>
              </a:rPr>
              <a:t>Administrateur</a:t>
            </a:r>
            <a:r>
              <a:rPr lang="en-US" sz="1200" dirty="0">
                <a:solidFill>
                  <a:srgbClr val="DCE3EC"/>
                </a:solidFill>
                <a:latin typeface="Arial" pitchFamily="34" charset="0"/>
                <a:ea typeface="Arial" pitchFamily="34" charset="-122"/>
                <a:cs typeface="Arial" pitchFamily="34" charset="-120"/>
              </a:rPr>
              <a:t> </a:t>
            </a:r>
            <a:r>
              <a:rPr lang="en-US" sz="1200" dirty="0" err="1">
                <a:solidFill>
                  <a:srgbClr val="DCE3EC"/>
                </a:solidFill>
                <a:latin typeface="Arial" pitchFamily="34" charset="0"/>
                <a:ea typeface="Arial" pitchFamily="34" charset="-122"/>
                <a:cs typeface="Arial" pitchFamily="34" charset="-120"/>
              </a:rPr>
              <a:t>système</a:t>
            </a:r>
            <a:endParaRPr lang="en-US" sz="1200" dirty="0"/>
          </a:p>
        </p:txBody>
      </p:sp>
      <p:sp>
        <p:nvSpPr>
          <p:cNvPr id="14" name="Shape 12"/>
          <p:cNvSpPr/>
          <p:nvPr/>
        </p:nvSpPr>
        <p:spPr>
          <a:xfrm>
            <a:off x="731520" y="2148840"/>
            <a:ext cx="5349240" cy="749808"/>
          </a:xfrm>
          <a:prstGeom prst="rect">
            <a:avLst/>
          </a:prstGeom>
          <a:solidFill>
            <a:srgbClr val="1A2438"/>
          </a:solidFill>
          <a:ln w="12700">
            <a:solidFill>
              <a:srgbClr val="3B82C4"/>
            </a:solidFill>
            <a:prstDash val="solid"/>
          </a:ln>
        </p:spPr>
      </p:sp>
      <p:sp>
        <p:nvSpPr>
          <p:cNvPr id="15" name="Shape 13"/>
          <p:cNvSpPr/>
          <p:nvPr/>
        </p:nvSpPr>
        <p:spPr>
          <a:xfrm>
            <a:off x="731520" y="2148840"/>
            <a:ext cx="82296" cy="749808"/>
          </a:xfrm>
          <a:prstGeom prst="rect">
            <a:avLst/>
          </a:prstGeom>
          <a:solidFill>
            <a:srgbClr val="3B82C4"/>
          </a:solidFill>
          <a:ln/>
        </p:spPr>
      </p:sp>
      <p:sp>
        <p:nvSpPr>
          <p:cNvPr id="16" name="Text 14"/>
          <p:cNvSpPr/>
          <p:nvPr/>
        </p:nvSpPr>
        <p:spPr>
          <a:xfrm>
            <a:off x="91440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PRÉCONDITION(S)</a:t>
            </a:r>
            <a:endParaRPr lang="en-US" sz="1000" dirty="0"/>
          </a:p>
        </p:txBody>
      </p:sp>
      <p:sp>
        <p:nvSpPr>
          <p:cNvPr id="17" name="Text 15"/>
          <p:cNvSpPr/>
          <p:nvPr/>
        </p:nvSpPr>
        <p:spPr>
          <a:xfrm>
            <a:off x="914400" y="2450592"/>
            <a:ext cx="5029200" cy="411480"/>
          </a:xfrm>
          <a:prstGeom prst="rect">
            <a:avLst/>
          </a:prstGeom>
          <a:noFill/>
          <a:ln/>
        </p:spPr>
        <p:txBody>
          <a:bodyPr wrap="square" lIns="0" tIns="0" rIns="0" bIns="0" rtlCol="0" anchor="t"/>
          <a:lstStyle/>
          <a:p>
            <a:pPr marL="0" indent="0">
              <a:buNone/>
            </a:pPr>
            <a:r>
              <a:rPr lang="en-US" sz="1200" dirty="0" err="1">
                <a:solidFill>
                  <a:srgbClr val="DCE3EC"/>
                </a:solidFill>
                <a:latin typeface="Arial" pitchFamily="34" charset="0"/>
                <a:cs typeface="Arial" pitchFamily="34" charset="-120"/>
              </a:rPr>
              <a:t>Journalisation</a:t>
            </a:r>
            <a:r>
              <a:rPr lang="en-US" sz="1200" dirty="0">
                <a:solidFill>
                  <a:srgbClr val="DCE3EC"/>
                </a:solidFill>
                <a:latin typeface="Arial" pitchFamily="34" charset="0"/>
                <a:cs typeface="Arial" pitchFamily="34" charset="-120"/>
              </a:rPr>
              <a:t> </a:t>
            </a:r>
            <a:r>
              <a:rPr lang="en-US" sz="1200" dirty="0" err="1">
                <a:solidFill>
                  <a:srgbClr val="DCE3EC"/>
                </a:solidFill>
                <a:latin typeface="Arial" pitchFamily="34" charset="0"/>
                <a:cs typeface="Arial" pitchFamily="34" charset="-120"/>
              </a:rPr>
              <a:t>activée</a:t>
            </a:r>
            <a:endParaRPr lang="en-US" sz="1200" dirty="0"/>
          </a:p>
        </p:txBody>
      </p:sp>
      <p:sp>
        <p:nvSpPr>
          <p:cNvPr id="18" name="Shape 16"/>
          <p:cNvSpPr/>
          <p:nvPr/>
        </p:nvSpPr>
        <p:spPr>
          <a:xfrm>
            <a:off x="6263640" y="2148840"/>
            <a:ext cx="5349240" cy="749808"/>
          </a:xfrm>
          <a:prstGeom prst="rect">
            <a:avLst/>
          </a:prstGeom>
          <a:solidFill>
            <a:srgbClr val="1A2438"/>
          </a:solidFill>
          <a:ln w="12700">
            <a:solidFill>
              <a:srgbClr val="3B82C4"/>
            </a:solidFill>
            <a:prstDash val="solid"/>
          </a:ln>
        </p:spPr>
      </p:sp>
      <p:sp>
        <p:nvSpPr>
          <p:cNvPr id="19" name="Shape 17"/>
          <p:cNvSpPr/>
          <p:nvPr/>
        </p:nvSpPr>
        <p:spPr>
          <a:xfrm>
            <a:off x="6263640" y="2148840"/>
            <a:ext cx="82296" cy="749808"/>
          </a:xfrm>
          <a:prstGeom prst="rect">
            <a:avLst/>
          </a:prstGeom>
          <a:solidFill>
            <a:srgbClr val="3B82C4"/>
          </a:solidFill>
          <a:ln/>
        </p:spPr>
      </p:sp>
      <p:sp>
        <p:nvSpPr>
          <p:cNvPr id="20" name="Text 18"/>
          <p:cNvSpPr/>
          <p:nvPr/>
        </p:nvSpPr>
        <p:spPr>
          <a:xfrm>
            <a:off x="6446520" y="2203704"/>
            <a:ext cx="5029200" cy="256032"/>
          </a:xfrm>
          <a:prstGeom prst="rect">
            <a:avLst/>
          </a:prstGeom>
          <a:noFill/>
          <a:ln/>
        </p:spPr>
        <p:txBody>
          <a:bodyPr wrap="square" lIns="0" tIns="0" rIns="0" bIns="0" rtlCol="0" anchor="ctr"/>
          <a:lstStyle/>
          <a:p>
            <a:pPr marL="0" indent="0">
              <a:buNone/>
            </a:pPr>
            <a:r>
              <a:rPr lang="en-US" sz="1000" b="1" kern="0" spc="100" dirty="0">
                <a:solidFill>
                  <a:srgbClr val="3B82C4"/>
                </a:solidFill>
                <a:latin typeface="Arial" pitchFamily="34" charset="0"/>
                <a:ea typeface="Arial" pitchFamily="34" charset="-122"/>
                <a:cs typeface="Arial" pitchFamily="34" charset="-120"/>
              </a:rPr>
              <a:t>POST CONDITION(S)</a:t>
            </a:r>
            <a:endParaRPr lang="en-US" sz="1000" dirty="0"/>
          </a:p>
        </p:txBody>
      </p:sp>
      <p:sp>
        <p:nvSpPr>
          <p:cNvPr id="21" name="Text 19"/>
          <p:cNvSpPr/>
          <p:nvPr/>
        </p:nvSpPr>
        <p:spPr>
          <a:xfrm>
            <a:off x="6446520" y="2450592"/>
            <a:ext cx="5029200" cy="411480"/>
          </a:xfrm>
          <a:prstGeom prst="rect">
            <a:avLst/>
          </a:prstGeom>
          <a:noFill/>
          <a:ln/>
        </p:spPr>
        <p:txBody>
          <a:bodyPr wrap="square" lIns="0" tIns="0" rIns="0" bIns="0" rtlCol="0" anchor="t"/>
          <a:lstStyle/>
          <a:p>
            <a:pPr marL="0" indent="0">
              <a:buNone/>
            </a:pPr>
            <a:r>
              <a:rPr lang="en-US" sz="1200" dirty="0">
                <a:solidFill>
                  <a:srgbClr val="DCE3EC"/>
                </a:solidFill>
                <a:latin typeface="Arial" pitchFamily="34" charset="0"/>
                <a:cs typeface="Arial" pitchFamily="34" charset="-120"/>
              </a:rPr>
              <a:t>Les logs </a:t>
            </a:r>
            <a:r>
              <a:rPr lang="en-US" sz="1200" dirty="0" err="1">
                <a:solidFill>
                  <a:srgbClr val="DCE3EC"/>
                </a:solidFill>
                <a:latin typeface="Arial" pitchFamily="34" charset="0"/>
                <a:cs typeface="Arial" pitchFamily="34" charset="-120"/>
              </a:rPr>
              <a:t>sont</a:t>
            </a:r>
            <a:r>
              <a:rPr lang="en-US" sz="1200" dirty="0">
                <a:solidFill>
                  <a:srgbClr val="DCE3EC"/>
                </a:solidFill>
                <a:latin typeface="Arial" pitchFamily="34" charset="0"/>
                <a:cs typeface="Arial" pitchFamily="34" charset="-120"/>
              </a:rPr>
              <a:t> </a:t>
            </a:r>
            <a:r>
              <a:rPr lang="en-US" sz="1200" dirty="0" err="1">
                <a:solidFill>
                  <a:srgbClr val="DCE3EC"/>
                </a:solidFill>
                <a:latin typeface="Arial" pitchFamily="34" charset="0"/>
                <a:cs typeface="Arial" pitchFamily="34" charset="-120"/>
              </a:rPr>
              <a:t>affichés</a:t>
            </a:r>
            <a:r>
              <a:rPr lang="en-US" sz="1200" dirty="0">
                <a:solidFill>
                  <a:srgbClr val="DCE3EC"/>
                </a:solidFill>
                <a:latin typeface="Arial" pitchFamily="34" charset="0"/>
                <a:cs typeface="Arial" pitchFamily="34" charset="-120"/>
              </a:rPr>
              <a:t> </a:t>
            </a:r>
            <a:endParaRPr lang="en-US" sz="1200" dirty="0"/>
          </a:p>
        </p:txBody>
      </p:sp>
      <p:sp>
        <p:nvSpPr>
          <p:cNvPr id="22" name="Shape 20"/>
          <p:cNvSpPr/>
          <p:nvPr/>
        </p:nvSpPr>
        <p:spPr>
          <a:xfrm>
            <a:off x="731520" y="3200400"/>
            <a:ext cx="5349240" cy="438912"/>
          </a:xfrm>
          <a:prstGeom prst="rect">
            <a:avLst/>
          </a:prstGeom>
          <a:solidFill>
            <a:srgbClr val="3B82C4"/>
          </a:solidFill>
          <a:ln/>
        </p:spPr>
      </p:sp>
      <p:sp>
        <p:nvSpPr>
          <p:cNvPr id="23" name="Text 21"/>
          <p:cNvSpPr/>
          <p:nvPr/>
        </p:nvSpPr>
        <p:spPr>
          <a:xfrm>
            <a:off x="73152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NOMINAL</a:t>
            </a:r>
            <a:endParaRPr lang="en-US" sz="1300" dirty="0"/>
          </a:p>
        </p:txBody>
      </p:sp>
      <p:sp>
        <p:nvSpPr>
          <p:cNvPr id="24" name="Shape 22"/>
          <p:cNvSpPr/>
          <p:nvPr/>
        </p:nvSpPr>
        <p:spPr>
          <a:xfrm>
            <a:off x="731520" y="3639312"/>
            <a:ext cx="5349240" cy="2651760"/>
          </a:xfrm>
          <a:prstGeom prst="rect">
            <a:avLst/>
          </a:prstGeom>
          <a:solidFill>
            <a:srgbClr val="111A2B"/>
          </a:solidFill>
          <a:ln w="12700">
            <a:solidFill>
              <a:srgbClr val="3B82C4"/>
            </a:solidFill>
            <a:prstDash val="solid"/>
          </a:ln>
        </p:spPr>
      </p:sp>
      <p:sp>
        <p:nvSpPr>
          <p:cNvPr id="25" name="Text 23"/>
          <p:cNvSpPr/>
          <p:nvPr/>
        </p:nvSpPr>
        <p:spPr>
          <a:xfrm>
            <a:off x="914400" y="3767328"/>
            <a:ext cx="4983480" cy="2423160"/>
          </a:xfrm>
          <a:prstGeom prst="rect">
            <a:avLst/>
          </a:prstGeom>
          <a:noFill/>
          <a:ln/>
        </p:spPr>
        <p:txBody>
          <a:bodyPr wrap="square" rtlCol="0" anchor="t"/>
          <a:lstStyle/>
          <a:p>
            <a:pPr marL="342900" indent="-342900">
              <a:spcAft>
                <a:spcPts val="600"/>
              </a:spcAft>
              <a:buSzPct val="100000"/>
              <a:buFont typeface="+mj-lt"/>
              <a:buAutoNum type="arabicPeriod"/>
            </a:pPr>
            <a:r>
              <a:rPr lang="en-US" sz="1250" dirty="0">
                <a:solidFill>
                  <a:srgbClr val="DCE3EC"/>
                </a:solidFill>
                <a:latin typeface="Arial" pitchFamily="34" charset="0"/>
                <a:ea typeface="Arial" pitchFamily="34" charset="-122"/>
                <a:cs typeface="Arial" pitchFamily="34" charset="-120"/>
              </a:rPr>
              <a:t>Ouverture de la section logs ;</a:t>
            </a:r>
            <a:endParaRPr lang="en-US" sz="1250" dirty="0"/>
          </a:p>
          <a:p>
            <a:pPr marL="342900" indent="-342900">
              <a:spcAft>
                <a:spcPts val="600"/>
              </a:spcAft>
              <a:buSzPct val="100000"/>
              <a:buFont typeface="+mj-lt"/>
              <a:buAutoNum type="arabicPeriod"/>
            </a:pPr>
            <a:r>
              <a:rPr lang="en-US" sz="1250" dirty="0" err="1">
                <a:solidFill>
                  <a:srgbClr val="DCE3EC"/>
                </a:solidFill>
                <a:latin typeface="Arial" pitchFamily="34" charset="0"/>
                <a:ea typeface="Arial" pitchFamily="34" charset="-122"/>
                <a:cs typeface="Arial" pitchFamily="34" charset="-120"/>
              </a:rPr>
              <a:t>Récupération</a:t>
            </a:r>
            <a:r>
              <a:rPr lang="en-US" sz="1250" dirty="0">
                <a:solidFill>
                  <a:srgbClr val="DCE3EC"/>
                </a:solidFill>
                <a:latin typeface="Arial" pitchFamily="34" charset="0"/>
                <a:ea typeface="Arial" pitchFamily="34" charset="-122"/>
                <a:cs typeface="Arial" pitchFamily="34" charset="-120"/>
              </a:rPr>
              <a:t> des logs ;</a:t>
            </a:r>
          </a:p>
          <a:p>
            <a:pPr marL="342900" indent="-342900">
              <a:spcAft>
                <a:spcPts val="600"/>
              </a:spcAft>
              <a:buSzPct val="100000"/>
              <a:buFont typeface="+mj-lt"/>
              <a:buAutoNum type="arabicPeriod"/>
            </a:pPr>
            <a:r>
              <a:rPr lang="en-US" sz="1250" dirty="0" err="1">
                <a:solidFill>
                  <a:srgbClr val="DCE3EC"/>
                </a:solidFill>
                <a:latin typeface="Arial" pitchFamily="34" charset="0"/>
                <a:cs typeface="Arial" pitchFamily="34" charset="-120"/>
              </a:rPr>
              <a:t>Filtrage</a:t>
            </a:r>
            <a:r>
              <a:rPr lang="en-US" sz="1250" dirty="0">
                <a:solidFill>
                  <a:srgbClr val="DCE3EC"/>
                </a:solidFill>
                <a:latin typeface="Arial" pitchFamily="34" charset="0"/>
                <a:cs typeface="Arial" pitchFamily="34" charset="-120"/>
              </a:rPr>
              <a:t> des logs des politiques </a:t>
            </a:r>
            <a:r>
              <a:rPr lang="en-US" sz="1250" dirty="0" err="1">
                <a:solidFill>
                  <a:srgbClr val="DCE3EC"/>
                </a:solidFill>
                <a:latin typeface="Arial" pitchFamily="34" charset="0"/>
                <a:cs typeface="Arial" pitchFamily="34" charset="-120"/>
              </a:rPr>
              <a:t>violées</a:t>
            </a:r>
            <a:r>
              <a:rPr lang="en-US" sz="1250" dirty="0">
                <a:solidFill>
                  <a:srgbClr val="DCE3EC"/>
                </a:solidFill>
                <a:latin typeface="Arial" pitchFamily="34" charset="0"/>
                <a:cs typeface="Arial" pitchFamily="34" charset="-120"/>
              </a:rPr>
              <a:t> </a:t>
            </a:r>
            <a:r>
              <a:rPr lang="en-US" sz="1250" dirty="0" err="1">
                <a:solidFill>
                  <a:srgbClr val="DCE3EC"/>
                </a:solidFill>
                <a:latin typeface="Arial" pitchFamily="34" charset="0"/>
                <a:cs typeface="Arial" pitchFamily="34" charset="-120"/>
              </a:rPr>
              <a:t>dans</a:t>
            </a:r>
            <a:r>
              <a:rPr lang="en-US" sz="1250" dirty="0">
                <a:solidFill>
                  <a:srgbClr val="DCE3EC"/>
                </a:solidFill>
                <a:latin typeface="Arial" pitchFamily="34" charset="0"/>
                <a:cs typeface="Arial" pitchFamily="34" charset="-120"/>
              </a:rPr>
              <a:t> /sys/kernel/security/</a:t>
            </a:r>
            <a:r>
              <a:rPr lang="en-US" sz="1250" dirty="0" err="1">
                <a:solidFill>
                  <a:srgbClr val="DCE3EC"/>
                </a:solidFill>
                <a:latin typeface="Arial" pitchFamily="34" charset="0"/>
                <a:cs typeface="Arial" pitchFamily="34" charset="-120"/>
              </a:rPr>
              <a:t>tomoyo</a:t>
            </a:r>
            <a:r>
              <a:rPr lang="en-US" sz="1250" dirty="0">
                <a:solidFill>
                  <a:srgbClr val="DCE3EC"/>
                </a:solidFill>
                <a:latin typeface="Arial" pitchFamily="34" charset="0"/>
                <a:cs typeface="Arial" pitchFamily="34" charset="-120"/>
              </a:rPr>
              <a:t>/stat</a:t>
            </a:r>
            <a:endParaRPr lang="en-US" sz="1250" dirty="0"/>
          </a:p>
        </p:txBody>
      </p:sp>
      <p:sp>
        <p:nvSpPr>
          <p:cNvPr id="27" name="Text 25"/>
          <p:cNvSpPr/>
          <p:nvPr/>
        </p:nvSpPr>
        <p:spPr>
          <a:xfrm>
            <a:off x="6080760" y="3200400"/>
            <a:ext cx="5349240" cy="438912"/>
          </a:xfrm>
          <a:prstGeom prst="rect">
            <a:avLst/>
          </a:prstGeom>
          <a:noFill/>
          <a:ln/>
        </p:spPr>
        <p:txBody>
          <a:bodyPr wrap="square" lIns="0" tIns="0" rIns="0" bIns="0" rtlCol="0" anchor="ctr"/>
          <a:lstStyle/>
          <a:p>
            <a:pPr marL="0" indent="0" algn="ctr">
              <a:buNone/>
            </a:pPr>
            <a:r>
              <a:rPr lang="en-US" sz="1300" b="1" kern="0" spc="100" dirty="0">
                <a:solidFill>
                  <a:srgbClr val="0B1220"/>
                </a:solidFill>
                <a:latin typeface="Arial" pitchFamily="34" charset="0"/>
                <a:ea typeface="Arial" pitchFamily="34" charset="-122"/>
                <a:cs typeface="Arial" pitchFamily="34" charset="-120"/>
              </a:rPr>
              <a:t>SCÉNARIO ALTERNATIF</a:t>
            </a:r>
            <a:endParaRPr lang="en-US" sz="1300" dirty="0"/>
          </a:p>
        </p:txBody>
      </p:sp>
    </p:spTree>
    <p:extLst>
      <p:ext uri="{BB962C8B-B14F-4D97-AF65-F5344CB8AC3E}">
        <p14:creationId xmlns:p14="http://schemas.microsoft.com/office/powerpoint/2010/main" val="2045812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A2438"/>
          </a:solidFill>
          <a:ln/>
        </p:spPr>
      </p:sp>
      <p:sp>
        <p:nvSpPr>
          <p:cNvPr id="3" name="Text 1"/>
          <p:cNvSpPr/>
          <p:nvPr/>
        </p:nvSpPr>
        <p:spPr>
          <a:xfrm>
            <a:off x="548640" y="164592"/>
            <a:ext cx="11064240" cy="685800"/>
          </a:xfrm>
          <a:prstGeom prst="rect">
            <a:avLst/>
          </a:prstGeom>
          <a:noFill/>
          <a:ln/>
        </p:spPr>
        <p:txBody>
          <a:bodyPr wrap="square" lIns="0" tIns="0" rIns="0" bIns="0" rtlCol="0" anchor="ctr"/>
          <a:lstStyle/>
          <a:p>
            <a:pPr marL="0" indent="0" algn="l">
              <a:buNone/>
            </a:pPr>
            <a:r>
              <a:rPr lang="en-US" sz="2600" b="1" kern="0" spc="100" dirty="0">
                <a:solidFill>
                  <a:srgbClr val="FFFFFF"/>
                </a:solidFill>
                <a:latin typeface="Arial" pitchFamily="34" charset="0"/>
                <a:ea typeface="Arial" pitchFamily="34" charset="-122"/>
                <a:cs typeface="Arial" pitchFamily="34" charset="-120"/>
              </a:rPr>
              <a:t>5. CONCLUSION</a:t>
            </a:r>
            <a:endParaRPr lang="en-US" sz="2600" dirty="0"/>
          </a:p>
        </p:txBody>
      </p:sp>
      <p:sp>
        <p:nvSpPr>
          <p:cNvPr id="4" name="Shape 2"/>
          <p:cNvSpPr/>
          <p:nvPr/>
        </p:nvSpPr>
        <p:spPr>
          <a:xfrm>
            <a:off x="566928" y="841248"/>
            <a:ext cx="1554480" cy="54864"/>
          </a:xfrm>
          <a:prstGeom prst="rect">
            <a:avLst/>
          </a:prstGeom>
          <a:solidFill>
            <a:srgbClr val="35C5E8"/>
          </a:solidFill>
          <a:ln/>
        </p:spPr>
      </p:sp>
      <p:sp>
        <p:nvSpPr>
          <p:cNvPr id="5" name="Shape 3"/>
          <p:cNvSpPr/>
          <p:nvPr/>
        </p:nvSpPr>
        <p:spPr>
          <a:xfrm>
            <a:off x="731520" y="1463040"/>
            <a:ext cx="10698480" cy="2377440"/>
          </a:xfrm>
          <a:prstGeom prst="rect">
            <a:avLst/>
          </a:prstGeom>
          <a:solidFill>
            <a:srgbClr val="1A2438"/>
          </a:solidFill>
          <a:ln w="12700">
            <a:solidFill>
              <a:srgbClr val="35C5E8"/>
            </a:solidFill>
            <a:prstDash val="solid"/>
          </a:ln>
        </p:spPr>
      </p:sp>
      <p:sp>
        <p:nvSpPr>
          <p:cNvPr id="6" name="Text 4"/>
          <p:cNvSpPr/>
          <p:nvPr/>
        </p:nvSpPr>
        <p:spPr>
          <a:xfrm>
            <a:off x="1005840" y="1691640"/>
            <a:ext cx="10149840" cy="1188720"/>
          </a:xfrm>
          <a:prstGeom prst="rect">
            <a:avLst/>
          </a:prstGeom>
          <a:noFill/>
          <a:ln/>
        </p:spPr>
        <p:txBody>
          <a:bodyPr wrap="square" rtlCol="0" anchor="ctr"/>
          <a:lstStyle/>
          <a:p>
            <a:pPr marL="0" indent="0" algn="just">
              <a:lnSpc>
                <a:spcPct val="130000"/>
              </a:lnSpc>
              <a:buNone/>
            </a:pPr>
            <a:r>
              <a:rPr lang="en-US" sz="1600" dirty="0">
                <a:solidFill>
                  <a:srgbClr val="DCE3EC"/>
                </a:solidFill>
                <a:latin typeface="Arial" pitchFamily="34" charset="0"/>
                <a:ea typeface="Arial" pitchFamily="34" charset="-122"/>
                <a:cs typeface="Arial" pitchFamily="34" charset="-120"/>
              </a:rPr>
              <a:t>Ce cahier d'analyse propose une approche structurée pour la conception, le développement et le déploiement de la plateforme web TOMOYO-Web-Manager. À travers l'identification des acteurs, la description textuelle des cas d'utilisation et le diagramme de cas d'utilisation global, il précise les interactions attendues entre l'administrateur de sécurité et le système.</a:t>
            </a:r>
            <a:endParaRPr lang="en-US" sz="1600" dirty="0"/>
          </a:p>
        </p:txBody>
      </p:sp>
      <p:sp>
        <p:nvSpPr>
          <p:cNvPr id="7" name="Text 5"/>
          <p:cNvSpPr/>
          <p:nvPr/>
        </p:nvSpPr>
        <p:spPr>
          <a:xfrm>
            <a:off x="1005840" y="2971800"/>
            <a:ext cx="10149840" cy="822960"/>
          </a:xfrm>
          <a:prstGeom prst="rect">
            <a:avLst/>
          </a:prstGeom>
          <a:noFill/>
          <a:ln/>
        </p:spPr>
        <p:txBody>
          <a:bodyPr wrap="square" rtlCol="0" anchor="ctr"/>
          <a:lstStyle/>
          <a:p>
            <a:pPr marL="0" indent="0" algn="just">
              <a:lnSpc>
                <a:spcPct val="130000"/>
              </a:lnSpc>
              <a:buNone/>
            </a:pPr>
            <a:r>
              <a:rPr lang="en-US" sz="1600" dirty="0">
                <a:solidFill>
                  <a:srgbClr val="9AA7B8"/>
                </a:solidFill>
                <a:latin typeface="Arial" pitchFamily="34" charset="0"/>
                <a:ea typeface="Arial" pitchFamily="34" charset="-122"/>
                <a:cs typeface="Arial" pitchFamily="34" charset="-120"/>
              </a:rPr>
              <a:t>Les prochaines étapes consistent à valider ce document, puis à entamer la phase de conception détaillée portant sur l'architecture et les modèles de données.</a:t>
            </a:r>
            <a:endParaRPr lang="en-US" sz="1600" dirty="0"/>
          </a:p>
        </p:txBody>
      </p:sp>
      <p:sp>
        <p:nvSpPr>
          <p:cNvPr id="8" name="Shape 6"/>
          <p:cNvSpPr/>
          <p:nvPr/>
        </p:nvSpPr>
        <p:spPr>
          <a:xfrm>
            <a:off x="731520" y="4297680"/>
            <a:ext cx="10698480" cy="1005840"/>
          </a:xfrm>
          <a:prstGeom prst="rect">
            <a:avLst/>
          </a:prstGeom>
          <a:solidFill>
            <a:srgbClr val="1A2438"/>
          </a:solidFill>
          <a:ln w="12700">
            <a:solidFill>
              <a:srgbClr val="35C5E8"/>
            </a:solidFill>
            <a:prstDash val="solid"/>
          </a:ln>
        </p:spPr>
      </p:sp>
      <p:sp>
        <p:nvSpPr>
          <p:cNvPr id="9" name="Text 7"/>
          <p:cNvSpPr/>
          <p:nvPr/>
        </p:nvSpPr>
        <p:spPr>
          <a:xfrm>
            <a:off x="731520" y="4297680"/>
            <a:ext cx="10698480" cy="1005840"/>
          </a:xfrm>
          <a:prstGeom prst="rect">
            <a:avLst/>
          </a:prstGeom>
          <a:noFill/>
          <a:ln/>
        </p:spPr>
        <p:txBody>
          <a:bodyPr wrap="square" rtlCol="0" anchor="ctr"/>
          <a:lstStyle/>
          <a:p>
            <a:pPr marL="0" indent="0" algn="ctr">
              <a:buNone/>
            </a:pPr>
            <a:r>
              <a:rPr lang="en-US" sz="2200" b="1" kern="0" spc="200" dirty="0">
                <a:solidFill>
                  <a:srgbClr val="35C5E8"/>
                </a:solidFill>
                <a:latin typeface="Arial" pitchFamily="34" charset="0"/>
                <a:ea typeface="Arial" pitchFamily="34" charset="-122"/>
                <a:cs typeface="Arial" pitchFamily="34" charset="-120"/>
              </a:rPr>
              <a:t>MERCI POUR VOTRE AIMABLE ATTENTION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841</Words>
  <Application>Microsoft Office PowerPoint</Application>
  <PresentationFormat>Widescreen</PresentationFormat>
  <Paragraphs>161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d'analyse - TOMOYO-Web-Manager</dc:title>
  <dc:subject>PptxGenJS Presentation</dc:subject>
  <dc:creator>TOMOYO-Web-Manager</dc:creator>
  <cp:lastModifiedBy>ravageur</cp:lastModifiedBy>
  <cp:revision>15</cp:revision>
  <dcterms:created xsi:type="dcterms:W3CDTF">2026-06-02T21:59:37Z</dcterms:created>
  <dcterms:modified xsi:type="dcterms:W3CDTF">2026-07-10T18:22:06Z</dcterms:modified>
</cp:coreProperties>
</file>