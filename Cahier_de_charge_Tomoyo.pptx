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9" r:id="rId8"/>
    <p:sldId id="266" r:id="rId9"/>
    <p:sldId id="267" r:id="rId10"/>
    <p:sldId id="268" r:id="rId11"/>
    <p:sldId id="270"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56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barChart>
        <c:barDir val="col"/>
        <c:grouping val="clustered"/>
        <c:varyColors val="0"/>
        <c:ser>
          <c:idx val="0"/>
          <c:order val="0"/>
          <c:tx>
            <c:strRef>
              <c:f>Sheet1!$B$1</c:f>
              <c:strCache>
                <c:ptCount val="1"/>
                <c:pt idx="0">
                  <c:v>Coût (FCFA×1000)</c:v>
                </c:pt>
              </c:strCache>
            </c:strRef>
          </c:tx>
          <c:spPr>
            <a:solidFill>
              <a:srgbClr val="0099BB"/>
            </a:solidFill>
            <a:effectLst/>
          </c:spPr>
          <c:invertIfNegative val="0"/>
          <c:dPt>
            <c:idx val="0"/>
            <c:invertIfNegative val="0"/>
            <c:bubble3D val="0"/>
            <c:extLst>
              <c:ext xmlns:c16="http://schemas.microsoft.com/office/drawing/2014/chart" uri="{C3380CC4-5D6E-409C-BE32-E72D297353CC}">
                <c16:uniqueId val="{00000001-F4F0-4486-81F9-634A21095A80}"/>
              </c:ext>
            </c:extLst>
          </c:dPt>
          <c:dPt>
            <c:idx val="1"/>
            <c:invertIfNegative val="0"/>
            <c:bubble3D val="0"/>
            <c:extLst>
              <c:ext xmlns:c16="http://schemas.microsoft.com/office/drawing/2014/chart" uri="{C3380CC4-5D6E-409C-BE32-E72D297353CC}">
                <c16:uniqueId val="{00000003-F4F0-4486-81F9-634A21095A80}"/>
              </c:ext>
            </c:extLst>
          </c:dPt>
          <c:dPt>
            <c:idx val="2"/>
            <c:invertIfNegative val="0"/>
            <c:bubble3D val="0"/>
            <c:extLst>
              <c:ext xmlns:c16="http://schemas.microsoft.com/office/drawing/2014/chart" uri="{C3380CC4-5D6E-409C-BE32-E72D297353CC}">
                <c16:uniqueId val="{00000005-F4F0-4486-81F9-634A21095A80}"/>
              </c:ext>
            </c:extLst>
          </c:dPt>
          <c:dPt>
            <c:idx val="3"/>
            <c:invertIfNegative val="0"/>
            <c:bubble3D val="0"/>
            <c:extLst>
              <c:ext xmlns:c16="http://schemas.microsoft.com/office/drawing/2014/chart" uri="{C3380CC4-5D6E-409C-BE32-E72D297353CC}">
                <c16:uniqueId val="{00000007-F4F0-4486-81F9-634A21095A80}"/>
              </c:ext>
            </c:extLst>
          </c:dPt>
          <c:dPt>
            <c:idx val="4"/>
            <c:invertIfNegative val="0"/>
            <c:bubble3D val="0"/>
            <c:spPr>
              <a:solidFill>
                <a:srgbClr val="FFB300"/>
              </a:solidFill>
              <a:effectLst/>
            </c:spPr>
            <c:extLst>
              <c:ext xmlns:c16="http://schemas.microsoft.com/office/drawing/2014/chart" uri="{C3380CC4-5D6E-409C-BE32-E72D297353CC}">
                <c16:uniqueId val="{00000009-F4F0-4486-81F9-634A21095A80}"/>
              </c:ext>
            </c:extLst>
          </c:dPt>
          <c:dPt>
            <c:idx val="5"/>
            <c:invertIfNegative val="0"/>
            <c:bubble3D val="0"/>
            <c:spPr>
              <a:solidFill>
                <a:srgbClr val="00E676"/>
              </a:solidFill>
              <a:effectLst/>
            </c:spPr>
            <c:extLst>
              <c:ext xmlns:c16="http://schemas.microsoft.com/office/drawing/2014/chart" uri="{C3380CC4-5D6E-409C-BE32-E72D297353CC}">
                <c16:uniqueId val="{0000000B-F4F0-4486-81F9-634A21095A80}"/>
              </c:ext>
            </c:extLst>
          </c:dPt>
          <c:dLbls>
            <c:numFmt formatCode="#,##0" sourceLinked="0"/>
            <c:spPr>
              <a:noFill/>
              <a:ln>
                <a:noFill/>
              </a:ln>
              <a:effectLst/>
            </c:spPr>
            <c:txPr>
              <a:bodyPr/>
              <a:lstStyle/>
              <a:p>
                <a:pPr>
                  <a:defRPr sz="1200" b="0" i="0" u="none" strike="noStrike">
                    <a:solidFill>
                      <a:srgbClr val="FFFFFF"/>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Dév Full-Stack</c:v>
                </c:pt>
                <c:pt idx="1">
                  <c:v>Admin Sys</c:v>
                </c:pt>
                <c:pt idx="2">
                  <c:v>Expert Sécu</c:v>
                </c:pt>
                <c:pt idx="3">
                  <c:v>Testeur QA</c:v>
                </c:pt>
                <c:pt idx="4">
                  <c:v>Matériel PC</c:v>
                </c:pt>
                <c:pt idx="5">
                  <c:v>Réseau/Internet</c:v>
                </c:pt>
              </c:strCache>
            </c:strRef>
          </c:cat>
          <c:val>
            <c:numRef>
              <c:f>Sheet1!$B$2:$B$7</c:f>
              <c:numCache>
                <c:formatCode>General</c:formatCode>
                <c:ptCount val="6"/>
                <c:pt idx="0">
                  <c:v>150</c:v>
                </c:pt>
                <c:pt idx="1">
                  <c:v>200</c:v>
                </c:pt>
                <c:pt idx="2">
                  <c:v>150</c:v>
                </c:pt>
                <c:pt idx="3">
                  <c:v>75</c:v>
                </c:pt>
                <c:pt idx="4">
                  <c:v>900</c:v>
                </c:pt>
                <c:pt idx="5">
                  <c:v>45</c:v>
                </c:pt>
              </c:numCache>
            </c:numRef>
          </c:val>
          <c:extLst>
            <c:ext xmlns:c16="http://schemas.microsoft.com/office/drawing/2014/chart" uri="{C3380CC4-5D6E-409C-BE32-E72D297353CC}">
              <c16:uniqueId val="{0000000C-F4F0-4486-81F9-634A21095A8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A3B5"/>
                </a:solidFill>
                <a:latin typeface="Arial"/>
              </a:defRPr>
            </a:pPr>
            <a:endParaRPr lang="fr-FR"/>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4A60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A3B5"/>
                </a:solidFill>
                <a:latin typeface="Arial"/>
              </a:defRPr>
            </a:pPr>
            <a:endParaRPr lang="fr-FR"/>
          </a:p>
        </c:txPr>
        <c:crossAx val="2094734554"/>
        <c:crosses val="autoZero"/>
        <c:crossBetween val="between"/>
      </c:valAx>
      <c:spPr>
        <a:noFill/>
        <a:ln>
          <a:noFill/>
        </a:ln>
        <a:effectLst/>
      </c:spPr>
    </c:plotArea>
    <c:plotVisOnly val="1"/>
    <c:dispBlanksAs val="span"/>
    <c:showDLblsOverMax val="1"/>
  </c:chart>
  <c:spPr>
    <a:solidFill>
      <a:srgbClr val="1C2B3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3374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293446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D4FF"/>
          </a:solidFill>
          <a:ln/>
        </p:spPr>
        <p:txBody>
          <a:bodyPr/>
          <a:lstStyle/>
          <a:p>
            <a:endParaRPr lang="fr-FR"/>
          </a:p>
        </p:txBody>
      </p:sp>
      <p:sp>
        <p:nvSpPr>
          <p:cNvPr id="3" name="Shape 1"/>
          <p:cNvSpPr/>
          <p:nvPr/>
        </p:nvSpPr>
        <p:spPr>
          <a:xfrm>
            <a:off x="658368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4" name="Shape 2"/>
          <p:cNvSpPr/>
          <p:nvPr/>
        </p:nvSpPr>
        <p:spPr>
          <a:xfrm>
            <a:off x="690372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5" name="Shape 3"/>
          <p:cNvSpPr/>
          <p:nvPr/>
        </p:nvSpPr>
        <p:spPr>
          <a:xfrm>
            <a:off x="722376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6" name="Shape 4"/>
          <p:cNvSpPr/>
          <p:nvPr/>
        </p:nvSpPr>
        <p:spPr>
          <a:xfrm>
            <a:off x="754380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7" name="Shape 5"/>
          <p:cNvSpPr/>
          <p:nvPr/>
        </p:nvSpPr>
        <p:spPr>
          <a:xfrm>
            <a:off x="786384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8" name="Shape 6"/>
          <p:cNvSpPr/>
          <p:nvPr/>
        </p:nvSpPr>
        <p:spPr>
          <a:xfrm>
            <a:off x="818388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9" name="Shape 7"/>
          <p:cNvSpPr/>
          <p:nvPr/>
        </p:nvSpPr>
        <p:spPr>
          <a:xfrm>
            <a:off x="850392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10" name="Shape 8"/>
          <p:cNvSpPr/>
          <p:nvPr/>
        </p:nvSpPr>
        <p:spPr>
          <a:xfrm>
            <a:off x="882396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11" name="Shape 9"/>
          <p:cNvSpPr/>
          <p:nvPr/>
        </p:nvSpPr>
        <p:spPr>
          <a:xfrm>
            <a:off x="6583680" y="502920"/>
            <a:ext cx="54864" cy="54864"/>
          </a:xfrm>
          <a:prstGeom prst="ellipse">
            <a:avLst/>
          </a:prstGeom>
          <a:solidFill>
            <a:srgbClr val="4A6070"/>
          </a:solidFill>
          <a:ln w="12700">
            <a:solidFill>
              <a:srgbClr val="4A6070"/>
            </a:solidFill>
            <a:prstDash val="solid"/>
          </a:ln>
        </p:spPr>
        <p:txBody>
          <a:bodyPr/>
          <a:lstStyle/>
          <a:p>
            <a:endParaRPr lang="fr-FR"/>
          </a:p>
        </p:txBody>
      </p:sp>
      <p:sp>
        <p:nvSpPr>
          <p:cNvPr id="12" name="Shape 10"/>
          <p:cNvSpPr/>
          <p:nvPr/>
        </p:nvSpPr>
        <p:spPr>
          <a:xfrm>
            <a:off x="6903720" y="502920"/>
            <a:ext cx="54864" cy="54864"/>
          </a:xfrm>
          <a:prstGeom prst="ellipse">
            <a:avLst/>
          </a:prstGeom>
          <a:solidFill>
            <a:srgbClr val="4A6070"/>
          </a:solidFill>
          <a:ln w="12700">
            <a:solidFill>
              <a:srgbClr val="4A6070"/>
            </a:solidFill>
            <a:prstDash val="solid"/>
          </a:ln>
        </p:spPr>
        <p:txBody>
          <a:bodyPr/>
          <a:lstStyle/>
          <a:p>
            <a:endParaRPr lang="fr-FR"/>
          </a:p>
        </p:txBody>
      </p:sp>
      <p:sp>
        <p:nvSpPr>
          <p:cNvPr id="13" name="Shape 11"/>
          <p:cNvSpPr/>
          <p:nvPr/>
        </p:nvSpPr>
        <p:spPr>
          <a:xfrm>
            <a:off x="7223760" y="502920"/>
            <a:ext cx="54864" cy="54864"/>
          </a:xfrm>
          <a:prstGeom prst="ellipse">
            <a:avLst/>
          </a:prstGeom>
          <a:solidFill>
            <a:srgbClr val="4A6070"/>
          </a:solidFill>
          <a:ln w="12700">
            <a:solidFill>
              <a:srgbClr val="4A6070"/>
            </a:solidFill>
            <a:prstDash val="solid"/>
          </a:ln>
        </p:spPr>
        <p:txBody>
          <a:bodyPr/>
          <a:lstStyle/>
          <a:p>
            <a:endParaRPr lang="fr-FR"/>
          </a:p>
        </p:txBody>
      </p:sp>
      <p:sp>
        <p:nvSpPr>
          <p:cNvPr id="14" name="Shape 12"/>
          <p:cNvSpPr/>
          <p:nvPr/>
        </p:nvSpPr>
        <p:spPr>
          <a:xfrm>
            <a:off x="7543800" y="502920"/>
            <a:ext cx="54864" cy="54864"/>
          </a:xfrm>
          <a:prstGeom prst="ellipse">
            <a:avLst/>
          </a:prstGeom>
          <a:solidFill>
            <a:srgbClr val="4A6070"/>
          </a:solidFill>
          <a:ln w="12700">
            <a:solidFill>
              <a:srgbClr val="4A6070"/>
            </a:solidFill>
            <a:prstDash val="solid"/>
          </a:ln>
        </p:spPr>
        <p:txBody>
          <a:bodyPr/>
          <a:lstStyle/>
          <a:p>
            <a:endParaRPr lang="fr-FR"/>
          </a:p>
        </p:txBody>
      </p:sp>
      <p:sp>
        <p:nvSpPr>
          <p:cNvPr id="15" name="Shape 13"/>
          <p:cNvSpPr/>
          <p:nvPr/>
        </p:nvSpPr>
        <p:spPr>
          <a:xfrm>
            <a:off x="7863840" y="502920"/>
            <a:ext cx="54864" cy="54864"/>
          </a:xfrm>
          <a:prstGeom prst="ellipse">
            <a:avLst/>
          </a:prstGeom>
          <a:solidFill>
            <a:srgbClr val="4A6070"/>
          </a:solidFill>
          <a:ln w="12700">
            <a:solidFill>
              <a:srgbClr val="4A6070"/>
            </a:solidFill>
            <a:prstDash val="solid"/>
          </a:ln>
        </p:spPr>
        <p:txBody>
          <a:bodyPr/>
          <a:lstStyle/>
          <a:p>
            <a:endParaRPr lang="fr-FR"/>
          </a:p>
        </p:txBody>
      </p:sp>
      <p:sp>
        <p:nvSpPr>
          <p:cNvPr id="16" name="Shape 14"/>
          <p:cNvSpPr/>
          <p:nvPr/>
        </p:nvSpPr>
        <p:spPr>
          <a:xfrm>
            <a:off x="8183880" y="502920"/>
            <a:ext cx="54864" cy="54864"/>
          </a:xfrm>
          <a:prstGeom prst="ellipse">
            <a:avLst/>
          </a:prstGeom>
          <a:solidFill>
            <a:srgbClr val="4A6070"/>
          </a:solidFill>
          <a:ln w="12700">
            <a:solidFill>
              <a:srgbClr val="4A6070"/>
            </a:solidFill>
            <a:prstDash val="solid"/>
          </a:ln>
        </p:spPr>
        <p:txBody>
          <a:bodyPr/>
          <a:lstStyle/>
          <a:p>
            <a:endParaRPr lang="fr-FR"/>
          </a:p>
        </p:txBody>
      </p:sp>
      <p:sp>
        <p:nvSpPr>
          <p:cNvPr id="17" name="Shape 15"/>
          <p:cNvSpPr/>
          <p:nvPr/>
        </p:nvSpPr>
        <p:spPr>
          <a:xfrm>
            <a:off x="8503920" y="502920"/>
            <a:ext cx="54864" cy="54864"/>
          </a:xfrm>
          <a:prstGeom prst="ellipse">
            <a:avLst/>
          </a:prstGeom>
          <a:solidFill>
            <a:srgbClr val="4A6070"/>
          </a:solidFill>
          <a:ln w="12700">
            <a:solidFill>
              <a:srgbClr val="4A6070"/>
            </a:solidFill>
            <a:prstDash val="solid"/>
          </a:ln>
        </p:spPr>
        <p:txBody>
          <a:bodyPr/>
          <a:lstStyle/>
          <a:p>
            <a:endParaRPr lang="fr-FR"/>
          </a:p>
        </p:txBody>
      </p:sp>
      <p:sp>
        <p:nvSpPr>
          <p:cNvPr id="18" name="Shape 16"/>
          <p:cNvSpPr/>
          <p:nvPr/>
        </p:nvSpPr>
        <p:spPr>
          <a:xfrm>
            <a:off x="8823960" y="502920"/>
            <a:ext cx="54864" cy="54864"/>
          </a:xfrm>
          <a:prstGeom prst="ellipse">
            <a:avLst/>
          </a:prstGeom>
          <a:solidFill>
            <a:srgbClr val="4A6070"/>
          </a:solidFill>
          <a:ln w="12700">
            <a:solidFill>
              <a:srgbClr val="4A6070"/>
            </a:solidFill>
            <a:prstDash val="solid"/>
          </a:ln>
        </p:spPr>
        <p:txBody>
          <a:bodyPr/>
          <a:lstStyle/>
          <a:p>
            <a:endParaRPr lang="fr-FR"/>
          </a:p>
        </p:txBody>
      </p:sp>
      <p:sp>
        <p:nvSpPr>
          <p:cNvPr id="19" name="Shape 17"/>
          <p:cNvSpPr/>
          <p:nvPr/>
        </p:nvSpPr>
        <p:spPr>
          <a:xfrm>
            <a:off x="6583680" y="822960"/>
            <a:ext cx="54864" cy="54864"/>
          </a:xfrm>
          <a:prstGeom prst="ellipse">
            <a:avLst/>
          </a:prstGeom>
          <a:solidFill>
            <a:srgbClr val="4A6070"/>
          </a:solidFill>
          <a:ln w="12700">
            <a:solidFill>
              <a:srgbClr val="4A6070"/>
            </a:solidFill>
            <a:prstDash val="solid"/>
          </a:ln>
        </p:spPr>
        <p:txBody>
          <a:bodyPr/>
          <a:lstStyle/>
          <a:p>
            <a:endParaRPr lang="fr-FR"/>
          </a:p>
        </p:txBody>
      </p:sp>
      <p:sp>
        <p:nvSpPr>
          <p:cNvPr id="20" name="Shape 18"/>
          <p:cNvSpPr/>
          <p:nvPr/>
        </p:nvSpPr>
        <p:spPr>
          <a:xfrm>
            <a:off x="6903720" y="822960"/>
            <a:ext cx="54864" cy="54864"/>
          </a:xfrm>
          <a:prstGeom prst="ellipse">
            <a:avLst/>
          </a:prstGeom>
          <a:solidFill>
            <a:srgbClr val="4A6070"/>
          </a:solidFill>
          <a:ln w="12700">
            <a:solidFill>
              <a:srgbClr val="4A6070"/>
            </a:solidFill>
            <a:prstDash val="solid"/>
          </a:ln>
        </p:spPr>
        <p:txBody>
          <a:bodyPr/>
          <a:lstStyle/>
          <a:p>
            <a:endParaRPr lang="fr-FR"/>
          </a:p>
        </p:txBody>
      </p:sp>
      <p:sp>
        <p:nvSpPr>
          <p:cNvPr id="21" name="Shape 19"/>
          <p:cNvSpPr/>
          <p:nvPr/>
        </p:nvSpPr>
        <p:spPr>
          <a:xfrm>
            <a:off x="7223760" y="822960"/>
            <a:ext cx="54864" cy="54864"/>
          </a:xfrm>
          <a:prstGeom prst="ellipse">
            <a:avLst/>
          </a:prstGeom>
          <a:solidFill>
            <a:srgbClr val="4A6070"/>
          </a:solidFill>
          <a:ln w="12700">
            <a:solidFill>
              <a:srgbClr val="4A6070"/>
            </a:solidFill>
            <a:prstDash val="solid"/>
          </a:ln>
        </p:spPr>
        <p:txBody>
          <a:bodyPr/>
          <a:lstStyle/>
          <a:p>
            <a:endParaRPr lang="fr-FR"/>
          </a:p>
        </p:txBody>
      </p:sp>
      <p:sp>
        <p:nvSpPr>
          <p:cNvPr id="22" name="Shape 20"/>
          <p:cNvSpPr/>
          <p:nvPr/>
        </p:nvSpPr>
        <p:spPr>
          <a:xfrm>
            <a:off x="7543800" y="822960"/>
            <a:ext cx="54864" cy="54864"/>
          </a:xfrm>
          <a:prstGeom prst="ellipse">
            <a:avLst/>
          </a:prstGeom>
          <a:solidFill>
            <a:srgbClr val="4A6070"/>
          </a:solidFill>
          <a:ln w="12700">
            <a:solidFill>
              <a:srgbClr val="4A6070"/>
            </a:solidFill>
            <a:prstDash val="solid"/>
          </a:ln>
        </p:spPr>
        <p:txBody>
          <a:bodyPr/>
          <a:lstStyle/>
          <a:p>
            <a:endParaRPr lang="fr-FR"/>
          </a:p>
        </p:txBody>
      </p:sp>
      <p:sp>
        <p:nvSpPr>
          <p:cNvPr id="23" name="Shape 21"/>
          <p:cNvSpPr/>
          <p:nvPr/>
        </p:nvSpPr>
        <p:spPr>
          <a:xfrm>
            <a:off x="7863840" y="822960"/>
            <a:ext cx="54864" cy="54864"/>
          </a:xfrm>
          <a:prstGeom prst="ellipse">
            <a:avLst/>
          </a:prstGeom>
          <a:solidFill>
            <a:srgbClr val="4A6070"/>
          </a:solidFill>
          <a:ln w="12700">
            <a:solidFill>
              <a:srgbClr val="4A6070"/>
            </a:solidFill>
            <a:prstDash val="solid"/>
          </a:ln>
        </p:spPr>
        <p:txBody>
          <a:bodyPr/>
          <a:lstStyle/>
          <a:p>
            <a:endParaRPr lang="fr-FR"/>
          </a:p>
        </p:txBody>
      </p:sp>
      <p:sp>
        <p:nvSpPr>
          <p:cNvPr id="24" name="Shape 22"/>
          <p:cNvSpPr/>
          <p:nvPr/>
        </p:nvSpPr>
        <p:spPr>
          <a:xfrm>
            <a:off x="8183880" y="822960"/>
            <a:ext cx="54864" cy="54864"/>
          </a:xfrm>
          <a:prstGeom prst="ellipse">
            <a:avLst/>
          </a:prstGeom>
          <a:solidFill>
            <a:srgbClr val="4A6070"/>
          </a:solidFill>
          <a:ln w="12700">
            <a:solidFill>
              <a:srgbClr val="4A6070"/>
            </a:solidFill>
            <a:prstDash val="solid"/>
          </a:ln>
        </p:spPr>
        <p:txBody>
          <a:bodyPr/>
          <a:lstStyle/>
          <a:p>
            <a:endParaRPr lang="fr-FR"/>
          </a:p>
        </p:txBody>
      </p:sp>
      <p:sp>
        <p:nvSpPr>
          <p:cNvPr id="25" name="Shape 23"/>
          <p:cNvSpPr/>
          <p:nvPr/>
        </p:nvSpPr>
        <p:spPr>
          <a:xfrm>
            <a:off x="8503920" y="822960"/>
            <a:ext cx="54864" cy="54864"/>
          </a:xfrm>
          <a:prstGeom prst="ellipse">
            <a:avLst/>
          </a:prstGeom>
          <a:solidFill>
            <a:srgbClr val="4A6070"/>
          </a:solidFill>
          <a:ln w="12700">
            <a:solidFill>
              <a:srgbClr val="4A6070"/>
            </a:solidFill>
            <a:prstDash val="solid"/>
          </a:ln>
        </p:spPr>
        <p:txBody>
          <a:bodyPr/>
          <a:lstStyle/>
          <a:p>
            <a:endParaRPr lang="fr-FR"/>
          </a:p>
        </p:txBody>
      </p:sp>
      <p:sp>
        <p:nvSpPr>
          <p:cNvPr id="26" name="Shape 24"/>
          <p:cNvSpPr/>
          <p:nvPr/>
        </p:nvSpPr>
        <p:spPr>
          <a:xfrm>
            <a:off x="8823960" y="822960"/>
            <a:ext cx="54864" cy="54864"/>
          </a:xfrm>
          <a:prstGeom prst="ellipse">
            <a:avLst/>
          </a:prstGeom>
          <a:solidFill>
            <a:srgbClr val="4A6070"/>
          </a:solidFill>
          <a:ln w="12700">
            <a:solidFill>
              <a:srgbClr val="4A6070"/>
            </a:solidFill>
            <a:prstDash val="solid"/>
          </a:ln>
        </p:spPr>
        <p:txBody>
          <a:bodyPr/>
          <a:lstStyle/>
          <a:p>
            <a:endParaRPr lang="fr-FR"/>
          </a:p>
        </p:txBody>
      </p:sp>
      <p:sp>
        <p:nvSpPr>
          <p:cNvPr id="27" name="Shape 25"/>
          <p:cNvSpPr/>
          <p:nvPr/>
        </p:nvSpPr>
        <p:spPr>
          <a:xfrm>
            <a:off x="6583680" y="1143000"/>
            <a:ext cx="54864" cy="54864"/>
          </a:xfrm>
          <a:prstGeom prst="ellipse">
            <a:avLst/>
          </a:prstGeom>
          <a:solidFill>
            <a:srgbClr val="4A6070"/>
          </a:solidFill>
          <a:ln w="12700">
            <a:solidFill>
              <a:srgbClr val="4A6070"/>
            </a:solidFill>
            <a:prstDash val="solid"/>
          </a:ln>
        </p:spPr>
        <p:txBody>
          <a:bodyPr/>
          <a:lstStyle/>
          <a:p>
            <a:endParaRPr lang="fr-FR"/>
          </a:p>
        </p:txBody>
      </p:sp>
      <p:sp>
        <p:nvSpPr>
          <p:cNvPr id="28" name="Shape 26"/>
          <p:cNvSpPr/>
          <p:nvPr/>
        </p:nvSpPr>
        <p:spPr>
          <a:xfrm>
            <a:off x="6903720" y="1143000"/>
            <a:ext cx="54864" cy="54864"/>
          </a:xfrm>
          <a:prstGeom prst="ellipse">
            <a:avLst/>
          </a:prstGeom>
          <a:solidFill>
            <a:srgbClr val="4A6070"/>
          </a:solidFill>
          <a:ln w="12700">
            <a:solidFill>
              <a:srgbClr val="4A6070"/>
            </a:solidFill>
            <a:prstDash val="solid"/>
          </a:ln>
        </p:spPr>
        <p:txBody>
          <a:bodyPr/>
          <a:lstStyle/>
          <a:p>
            <a:endParaRPr lang="fr-FR"/>
          </a:p>
        </p:txBody>
      </p:sp>
      <p:sp>
        <p:nvSpPr>
          <p:cNvPr id="29" name="Shape 27"/>
          <p:cNvSpPr/>
          <p:nvPr/>
        </p:nvSpPr>
        <p:spPr>
          <a:xfrm>
            <a:off x="7223760" y="1143000"/>
            <a:ext cx="54864" cy="54864"/>
          </a:xfrm>
          <a:prstGeom prst="ellipse">
            <a:avLst/>
          </a:prstGeom>
          <a:solidFill>
            <a:srgbClr val="4A6070"/>
          </a:solidFill>
          <a:ln w="12700">
            <a:solidFill>
              <a:srgbClr val="4A6070"/>
            </a:solidFill>
            <a:prstDash val="solid"/>
          </a:ln>
        </p:spPr>
        <p:txBody>
          <a:bodyPr/>
          <a:lstStyle/>
          <a:p>
            <a:endParaRPr lang="fr-FR"/>
          </a:p>
        </p:txBody>
      </p:sp>
      <p:sp>
        <p:nvSpPr>
          <p:cNvPr id="30" name="Shape 28"/>
          <p:cNvSpPr/>
          <p:nvPr/>
        </p:nvSpPr>
        <p:spPr>
          <a:xfrm>
            <a:off x="7543800" y="1143000"/>
            <a:ext cx="54864" cy="54864"/>
          </a:xfrm>
          <a:prstGeom prst="ellipse">
            <a:avLst/>
          </a:prstGeom>
          <a:solidFill>
            <a:srgbClr val="4A6070"/>
          </a:solidFill>
          <a:ln w="12700">
            <a:solidFill>
              <a:srgbClr val="4A6070"/>
            </a:solidFill>
            <a:prstDash val="solid"/>
          </a:ln>
        </p:spPr>
        <p:txBody>
          <a:bodyPr/>
          <a:lstStyle/>
          <a:p>
            <a:endParaRPr lang="fr-FR"/>
          </a:p>
        </p:txBody>
      </p:sp>
      <p:sp>
        <p:nvSpPr>
          <p:cNvPr id="31" name="Shape 29"/>
          <p:cNvSpPr/>
          <p:nvPr/>
        </p:nvSpPr>
        <p:spPr>
          <a:xfrm>
            <a:off x="7863840" y="1143000"/>
            <a:ext cx="54864" cy="54864"/>
          </a:xfrm>
          <a:prstGeom prst="ellipse">
            <a:avLst/>
          </a:prstGeom>
          <a:solidFill>
            <a:srgbClr val="4A6070"/>
          </a:solidFill>
          <a:ln w="12700">
            <a:solidFill>
              <a:srgbClr val="4A6070"/>
            </a:solidFill>
            <a:prstDash val="solid"/>
          </a:ln>
        </p:spPr>
        <p:txBody>
          <a:bodyPr/>
          <a:lstStyle/>
          <a:p>
            <a:endParaRPr lang="fr-FR"/>
          </a:p>
        </p:txBody>
      </p:sp>
      <p:sp>
        <p:nvSpPr>
          <p:cNvPr id="32" name="Shape 30"/>
          <p:cNvSpPr/>
          <p:nvPr/>
        </p:nvSpPr>
        <p:spPr>
          <a:xfrm>
            <a:off x="8183880" y="1143000"/>
            <a:ext cx="54864" cy="54864"/>
          </a:xfrm>
          <a:prstGeom prst="ellipse">
            <a:avLst/>
          </a:prstGeom>
          <a:solidFill>
            <a:srgbClr val="4A6070"/>
          </a:solidFill>
          <a:ln w="12700">
            <a:solidFill>
              <a:srgbClr val="4A6070"/>
            </a:solidFill>
            <a:prstDash val="solid"/>
          </a:ln>
        </p:spPr>
        <p:txBody>
          <a:bodyPr/>
          <a:lstStyle/>
          <a:p>
            <a:endParaRPr lang="fr-FR"/>
          </a:p>
        </p:txBody>
      </p:sp>
      <p:sp>
        <p:nvSpPr>
          <p:cNvPr id="33" name="Shape 31"/>
          <p:cNvSpPr/>
          <p:nvPr/>
        </p:nvSpPr>
        <p:spPr>
          <a:xfrm>
            <a:off x="8503920" y="1143000"/>
            <a:ext cx="54864" cy="54864"/>
          </a:xfrm>
          <a:prstGeom prst="ellipse">
            <a:avLst/>
          </a:prstGeom>
          <a:solidFill>
            <a:srgbClr val="4A6070"/>
          </a:solidFill>
          <a:ln w="12700">
            <a:solidFill>
              <a:srgbClr val="4A6070"/>
            </a:solidFill>
            <a:prstDash val="solid"/>
          </a:ln>
        </p:spPr>
        <p:txBody>
          <a:bodyPr/>
          <a:lstStyle/>
          <a:p>
            <a:endParaRPr lang="fr-FR"/>
          </a:p>
        </p:txBody>
      </p:sp>
      <p:sp>
        <p:nvSpPr>
          <p:cNvPr id="34" name="Shape 32"/>
          <p:cNvSpPr/>
          <p:nvPr/>
        </p:nvSpPr>
        <p:spPr>
          <a:xfrm>
            <a:off x="8823960" y="1143000"/>
            <a:ext cx="54864" cy="54864"/>
          </a:xfrm>
          <a:prstGeom prst="ellipse">
            <a:avLst/>
          </a:prstGeom>
          <a:solidFill>
            <a:srgbClr val="4A6070"/>
          </a:solidFill>
          <a:ln w="12700">
            <a:solidFill>
              <a:srgbClr val="4A6070"/>
            </a:solidFill>
            <a:prstDash val="solid"/>
          </a:ln>
        </p:spPr>
        <p:txBody>
          <a:bodyPr/>
          <a:lstStyle/>
          <a:p>
            <a:endParaRPr lang="fr-FR"/>
          </a:p>
        </p:txBody>
      </p:sp>
      <p:sp>
        <p:nvSpPr>
          <p:cNvPr id="35" name="Shape 33"/>
          <p:cNvSpPr/>
          <p:nvPr/>
        </p:nvSpPr>
        <p:spPr>
          <a:xfrm>
            <a:off x="6583680" y="1463040"/>
            <a:ext cx="54864" cy="54864"/>
          </a:xfrm>
          <a:prstGeom prst="ellipse">
            <a:avLst/>
          </a:prstGeom>
          <a:solidFill>
            <a:srgbClr val="4A6070"/>
          </a:solidFill>
          <a:ln w="12700">
            <a:solidFill>
              <a:srgbClr val="4A6070"/>
            </a:solidFill>
            <a:prstDash val="solid"/>
          </a:ln>
        </p:spPr>
        <p:txBody>
          <a:bodyPr/>
          <a:lstStyle/>
          <a:p>
            <a:endParaRPr lang="fr-FR"/>
          </a:p>
        </p:txBody>
      </p:sp>
      <p:sp>
        <p:nvSpPr>
          <p:cNvPr id="36" name="Shape 34"/>
          <p:cNvSpPr/>
          <p:nvPr/>
        </p:nvSpPr>
        <p:spPr>
          <a:xfrm>
            <a:off x="6903720" y="1463040"/>
            <a:ext cx="54864" cy="54864"/>
          </a:xfrm>
          <a:prstGeom prst="ellipse">
            <a:avLst/>
          </a:prstGeom>
          <a:solidFill>
            <a:srgbClr val="4A6070"/>
          </a:solidFill>
          <a:ln w="12700">
            <a:solidFill>
              <a:srgbClr val="4A6070"/>
            </a:solidFill>
            <a:prstDash val="solid"/>
          </a:ln>
        </p:spPr>
        <p:txBody>
          <a:bodyPr/>
          <a:lstStyle/>
          <a:p>
            <a:endParaRPr lang="fr-FR"/>
          </a:p>
        </p:txBody>
      </p:sp>
      <p:sp>
        <p:nvSpPr>
          <p:cNvPr id="37" name="Shape 35"/>
          <p:cNvSpPr/>
          <p:nvPr/>
        </p:nvSpPr>
        <p:spPr>
          <a:xfrm>
            <a:off x="7223760" y="1463040"/>
            <a:ext cx="54864" cy="54864"/>
          </a:xfrm>
          <a:prstGeom prst="ellipse">
            <a:avLst/>
          </a:prstGeom>
          <a:solidFill>
            <a:srgbClr val="4A6070"/>
          </a:solidFill>
          <a:ln w="12700">
            <a:solidFill>
              <a:srgbClr val="4A6070"/>
            </a:solidFill>
            <a:prstDash val="solid"/>
          </a:ln>
        </p:spPr>
        <p:txBody>
          <a:bodyPr/>
          <a:lstStyle/>
          <a:p>
            <a:endParaRPr lang="fr-FR"/>
          </a:p>
        </p:txBody>
      </p:sp>
      <p:sp>
        <p:nvSpPr>
          <p:cNvPr id="38" name="Shape 36"/>
          <p:cNvSpPr/>
          <p:nvPr/>
        </p:nvSpPr>
        <p:spPr>
          <a:xfrm>
            <a:off x="7543800" y="1463040"/>
            <a:ext cx="54864" cy="54864"/>
          </a:xfrm>
          <a:prstGeom prst="ellipse">
            <a:avLst/>
          </a:prstGeom>
          <a:solidFill>
            <a:srgbClr val="4A6070"/>
          </a:solidFill>
          <a:ln w="12700">
            <a:solidFill>
              <a:srgbClr val="4A6070"/>
            </a:solidFill>
            <a:prstDash val="solid"/>
          </a:ln>
        </p:spPr>
        <p:txBody>
          <a:bodyPr/>
          <a:lstStyle/>
          <a:p>
            <a:endParaRPr lang="fr-FR"/>
          </a:p>
        </p:txBody>
      </p:sp>
      <p:sp>
        <p:nvSpPr>
          <p:cNvPr id="39" name="Shape 37"/>
          <p:cNvSpPr/>
          <p:nvPr/>
        </p:nvSpPr>
        <p:spPr>
          <a:xfrm>
            <a:off x="7863840" y="1463040"/>
            <a:ext cx="54864" cy="54864"/>
          </a:xfrm>
          <a:prstGeom prst="ellipse">
            <a:avLst/>
          </a:prstGeom>
          <a:solidFill>
            <a:srgbClr val="4A6070"/>
          </a:solidFill>
          <a:ln w="12700">
            <a:solidFill>
              <a:srgbClr val="4A6070"/>
            </a:solidFill>
            <a:prstDash val="solid"/>
          </a:ln>
        </p:spPr>
        <p:txBody>
          <a:bodyPr/>
          <a:lstStyle/>
          <a:p>
            <a:endParaRPr lang="fr-FR"/>
          </a:p>
        </p:txBody>
      </p:sp>
      <p:sp>
        <p:nvSpPr>
          <p:cNvPr id="40" name="Shape 38"/>
          <p:cNvSpPr/>
          <p:nvPr/>
        </p:nvSpPr>
        <p:spPr>
          <a:xfrm>
            <a:off x="8183880" y="1463040"/>
            <a:ext cx="54864" cy="54864"/>
          </a:xfrm>
          <a:prstGeom prst="ellipse">
            <a:avLst/>
          </a:prstGeom>
          <a:solidFill>
            <a:srgbClr val="4A6070"/>
          </a:solidFill>
          <a:ln w="12700">
            <a:solidFill>
              <a:srgbClr val="4A6070"/>
            </a:solidFill>
            <a:prstDash val="solid"/>
          </a:ln>
        </p:spPr>
        <p:txBody>
          <a:bodyPr/>
          <a:lstStyle/>
          <a:p>
            <a:endParaRPr lang="fr-FR"/>
          </a:p>
        </p:txBody>
      </p:sp>
      <p:sp>
        <p:nvSpPr>
          <p:cNvPr id="41" name="Shape 39"/>
          <p:cNvSpPr/>
          <p:nvPr/>
        </p:nvSpPr>
        <p:spPr>
          <a:xfrm>
            <a:off x="8503920" y="1463040"/>
            <a:ext cx="54864" cy="54864"/>
          </a:xfrm>
          <a:prstGeom prst="ellipse">
            <a:avLst/>
          </a:prstGeom>
          <a:solidFill>
            <a:srgbClr val="4A6070"/>
          </a:solidFill>
          <a:ln w="12700">
            <a:solidFill>
              <a:srgbClr val="4A6070"/>
            </a:solidFill>
            <a:prstDash val="solid"/>
          </a:ln>
        </p:spPr>
        <p:txBody>
          <a:bodyPr/>
          <a:lstStyle/>
          <a:p>
            <a:endParaRPr lang="fr-FR"/>
          </a:p>
        </p:txBody>
      </p:sp>
      <p:sp>
        <p:nvSpPr>
          <p:cNvPr id="42" name="Shape 40"/>
          <p:cNvSpPr/>
          <p:nvPr/>
        </p:nvSpPr>
        <p:spPr>
          <a:xfrm>
            <a:off x="8823960" y="1463040"/>
            <a:ext cx="54864" cy="54864"/>
          </a:xfrm>
          <a:prstGeom prst="ellipse">
            <a:avLst/>
          </a:prstGeom>
          <a:solidFill>
            <a:srgbClr val="4A6070"/>
          </a:solidFill>
          <a:ln w="12700">
            <a:solidFill>
              <a:srgbClr val="4A6070"/>
            </a:solidFill>
            <a:prstDash val="solid"/>
          </a:ln>
        </p:spPr>
        <p:txBody>
          <a:bodyPr/>
          <a:lstStyle/>
          <a:p>
            <a:endParaRPr lang="fr-FR"/>
          </a:p>
        </p:txBody>
      </p:sp>
      <p:pic>
        <p:nvPicPr>
          <p:cNvPr id="43" name="Image 0" descr="preencoded.png"/>
          <p:cNvPicPr>
            <a:picLocks noChangeAspect="1"/>
          </p:cNvPicPr>
          <p:nvPr/>
        </p:nvPicPr>
        <p:blipFill>
          <a:blip r:embed="rId3"/>
          <a:stretch>
            <a:fillRect/>
          </a:stretch>
        </p:blipFill>
        <p:spPr>
          <a:xfrm>
            <a:off x="7132320" y="1097280"/>
            <a:ext cx="1645920" cy="1645920"/>
          </a:xfrm>
          <a:prstGeom prst="rect">
            <a:avLst/>
          </a:prstGeom>
        </p:spPr>
      </p:pic>
      <p:sp>
        <p:nvSpPr>
          <p:cNvPr id="44" name="Text 41"/>
          <p:cNvSpPr/>
          <p:nvPr/>
        </p:nvSpPr>
        <p:spPr>
          <a:xfrm>
            <a:off x="320040" y="265714"/>
            <a:ext cx="6583680" cy="502920"/>
          </a:xfrm>
          <a:prstGeom prst="rect">
            <a:avLst/>
          </a:prstGeom>
          <a:noFill/>
          <a:ln/>
        </p:spPr>
        <p:txBody>
          <a:bodyPr wrap="square" rtlCol="0" anchor="ctr"/>
          <a:lstStyle/>
          <a:p>
            <a:pPr marL="0" indent="0">
              <a:buNone/>
            </a:pPr>
            <a:r>
              <a:rPr lang="en-US" sz="1200" b="1" kern="0" spc="500" dirty="0">
                <a:solidFill>
                  <a:srgbClr val="00D4FF"/>
                </a:solidFill>
                <a:latin typeface="Calibri" pitchFamily="34" charset="0"/>
                <a:ea typeface="Calibri" pitchFamily="34" charset="-122"/>
                <a:cs typeface="Calibri" pitchFamily="34" charset="-120"/>
              </a:rPr>
              <a:t>CAHIER DES CHARGES</a:t>
            </a:r>
            <a:endParaRPr lang="en-US" sz="1200" dirty="0"/>
          </a:p>
        </p:txBody>
      </p:sp>
      <p:sp>
        <p:nvSpPr>
          <p:cNvPr id="45" name="Text 42"/>
          <p:cNvSpPr/>
          <p:nvPr/>
        </p:nvSpPr>
        <p:spPr>
          <a:xfrm>
            <a:off x="320040" y="987552"/>
            <a:ext cx="6858000" cy="137160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Plateforme Web de Gestion</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et Visualisation des Politiques</a:t>
            </a:r>
            <a:endParaRPr lang="en-US" sz="3400" dirty="0"/>
          </a:p>
        </p:txBody>
      </p:sp>
      <p:sp>
        <p:nvSpPr>
          <p:cNvPr id="46" name="Text 43"/>
          <p:cNvSpPr/>
          <p:nvPr/>
        </p:nvSpPr>
        <p:spPr>
          <a:xfrm>
            <a:off x="320040" y="2331720"/>
            <a:ext cx="4572000" cy="640080"/>
          </a:xfrm>
          <a:prstGeom prst="rect">
            <a:avLst/>
          </a:prstGeom>
          <a:noFill/>
          <a:ln/>
        </p:spPr>
        <p:txBody>
          <a:bodyPr wrap="square" rtlCol="0" anchor="ctr"/>
          <a:lstStyle/>
          <a:p>
            <a:pPr marL="0" indent="0">
              <a:buNone/>
            </a:pPr>
            <a:r>
              <a:rPr lang="en-US" sz="4000" b="1" dirty="0">
                <a:solidFill>
                  <a:srgbClr val="00D4FF"/>
                </a:solidFill>
                <a:latin typeface="Calibri" pitchFamily="34" charset="0"/>
                <a:ea typeface="Calibri" pitchFamily="34" charset="-122"/>
                <a:cs typeface="Calibri" pitchFamily="34" charset="-120"/>
              </a:rPr>
              <a:t>TOMOYO Linux</a:t>
            </a:r>
            <a:endParaRPr lang="en-US" sz="4000" dirty="0"/>
          </a:p>
        </p:txBody>
      </p:sp>
      <p:sp>
        <p:nvSpPr>
          <p:cNvPr id="47" name="Shape 44"/>
          <p:cNvSpPr/>
          <p:nvPr/>
        </p:nvSpPr>
        <p:spPr>
          <a:xfrm>
            <a:off x="320040" y="3063240"/>
            <a:ext cx="4114800" cy="27432"/>
          </a:xfrm>
          <a:prstGeom prst="rect">
            <a:avLst/>
          </a:prstGeom>
          <a:solidFill>
            <a:srgbClr val="0099BB"/>
          </a:solidFill>
          <a:ln/>
        </p:spPr>
        <p:txBody>
          <a:bodyPr/>
          <a:lstStyle/>
          <a:p>
            <a:endParaRPr lang="fr-FR"/>
          </a:p>
        </p:txBody>
      </p:sp>
      <p:sp>
        <p:nvSpPr>
          <p:cNvPr id="48" name="Text 45"/>
          <p:cNvSpPr/>
          <p:nvPr/>
        </p:nvSpPr>
        <p:spPr>
          <a:xfrm>
            <a:off x="320040" y="3154680"/>
            <a:ext cx="5029200" cy="320040"/>
          </a:xfrm>
          <a:prstGeom prst="rect">
            <a:avLst/>
          </a:prstGeom>
          <a:noFill/>
          <a:ln/>
        </p:spPr>
        <p:txBody>
          <a:bodyPr wrap="square" rtlCol="0" anchor="ctr"/>
          <a:lstStyle/>
          <a:p>
            <a:pPr marL="0" indent="0">
              <a:buNone/>
            </a:pPr>
            <a:r>
              <a:rPr lang="en-US" sz="1300" i="1" dirty="0">
                <a:solidFill>
                  <a:srgbClr val="8BA3B5"/>
                </a:solidFill>
                <a:latin typeface="Calibri" pitchFamily="34" charset="0"/>
                <a:ea typeface="Calibri" pitchFamily="34" charset="-122"/>
                <a:cs typeface="Calibri" pitchFamily="34" charset="-120"/>
              </a:rPr>
              <a:t>Conception · Développement · Déploiement</a:t>
            </a:r>
            <a:endParaRPr lang="en-US" sz="1300" dirty="0"/>
          </a:p>
        </p:txBody>
      </p:sp>
      <p:sp>
        <p:nvSpPr>
          <p:cNvPr id="49" name="Shape 46"/>
          <p:cNvSpPr/>
          <p:nvPr/>
        </p:nvSpPr>
        <p:spPr>
          <a:xfrm>
            <a:off x="320040" y="3474720"/>
            <a:ext cx="4114800" cy="1481328"/>
          </a:xfrm>
          <a:prstGeom prst="rect">
            <a:avLst/>
          </a:prstGeom>
          <a:solidFill>
            <a:srgbClr val="162032"/>
          </a:solidFill>
          <a:ln w="12700">
            <a:solidFill>
              <a:srgbClr val="0099BB"/>
            </a:solidFill>
            <a:prstDash val="solid"/>
          </a:ln>
          <a:effectLst>
            <a:outerShdw blurRad="101600" dist="38100" dir="8100000" algn="bl" rotWithShape="0">
              <a:srgbClr val="000000">
                <a:alpha val="35000"/>
              </a:srgbClr>
            </a:outerShdw>
          </a:effectLst>
        </p:spPr>
        <p:txBody>
          <a:bodyPr/>
          <a:lstStyle/>
          <a:p>
            <a:endParaRPr lang="fr-FR"/>
          </a:p>
        </p:txBody>
      </p:sp>
      <p:sp>
        <p:nvSpPr>
          <p:cNvPr id="50" name="Text 47"/>
          <p:cNvSpPr/>
          <p:nvPr/>
        </p:nvSpPr>
        <p:spPr>
          <a:xfrm>
            <a:off x="320039" y="3422276"/>
            <a:ext cx="4114799" cy="1561204"/>
          </a:xfrm>
          <a:prstGeom prst="rect">
            <a:avLst/>
          </a:prstGeom>
          <a:noFill/>
          <a:ln/>
        </p:spPr>
        <p:txBody>
          <a:bodyPr wrap="square" rtlCol="0" anchor="ctr"/>
          <a:lstStyle/>
          <a:p>
            <a:pPr marL="0" indent="0">
              <a:buNone/>
            </a:pPr>
            <a:r>
              <a:rPr lang="en-US" sz="900" b="1" dirty="0">
                <a:solidFill>
                  <a:srgbClr val="00D4FF"/>
                </a:solidFill>
                <a:latin typeface="Calibri" pitchFamily="34" charset="0"/>
                <a:ea typeface="Calibri" pitchFamily="34" charset="-122"/>
                <a:cs typeface="Calibri" pitchFamily="34" charset="-120"/>
              </a:rPr>
              <a:t>Rédigé par
</a:t>
            </a:r>
            <a:r>
              <a:rPr lang="en-US" sz="1200" b="1" dirty="0">
                <a:solidFill>
                  <a:srgbClr val="FFFFFF"/>
                </a:solidFill>
                <a:latin typeface="Calibri" pitchFamily="34" charset="0"/>
                <a:ea typeface="Calibri" pitchFamily="34" charset="-122"/>
                <a:cs typeface="Calibri" pitchFamily="34" charset="-120"/>
              </a:rPr>
              <a:t>Membres du Groupe  </a:t>
            </a:r>
          </a:p>
          <a:p>
            <a:pPr marL="171450" indent="-171450">
              <a:buFont typeface="Arial" panose="020B0604020202020204" pitchFamily="34" charset="0"/>
              <a:buChar char="•"/>
            </a:pPr>
            <a:r>
              <a:rPr lang="fr-FR" sz="1200" dirty="0">
                <a:solidFill>
                  <a:schemeClr val="bg1">
                    <a:lumMod val="85000"/>
                  </a:schemeClr>
                </a:solidFill>
                <a:latin typeface="Times New Roman" panose="02020603050405020304" pitchFamily="18" charset="0"/>
                <a:cs typeface="Times New Roman" panose="02020603050405020304" pitchFamily="18" charset="0"/>
              </a:rPr>
              <a:t>Mme. TEMATIO ZEBAZE Powera</a:t>
            </a:r>
          </a:p>
          <a:p>
            <a:pPr marL="171450" indent="-171450">
              <a:buFont typeface="Arial" panose="020B0604020202020204" pitchFamily="34" charset="0"/>
              <a:buChar char="•"/>
            </a:pPr>
            <a:r>
              <a:rPr lang="fr-FR" sz="1200" dirty="0">
                <a:solidFill>
                  <a:schemeClr val="bg1">
                    <a:lumMod val="85000"/>
                  </a:schemeClr>
                </a:solidFill>
                <a:latin typeface="Times New Roman" panose="02020603050405020304" pitchFamily="18" charset="0"/>
                <a:cs typeface="Times New Roman" panose="02020603050405020304" pitchFamily="18" charset="0"/>
              </a:rPr>
              <a:t>M.GARKA GARKA Jules</a:t>
            </a:r>
          </a:p>
          <a:p>
            <a:pPr marL="171450" indent="-171450">
              <a:buFont typeface="Arial" panose="020B0604020202020204" pitchFamily="34" charset="0"/>
              <a:buChar char="•"/>
            </a:pPr>
            <a:r>
              <a:rPr lang="fr-FR" sz="1200" dirty="0">
                <a:solidFill>
                  <a:schemeClr val="bg1">
                    <a:lumMod val="85000"/>
                  </a:schemeClr>
                </a:solidFill>
                <a:latin typeface="Times New Roman" panose="02020603050405020304" pitchFamily="18" charset="0"/>
                <a:cs typeface="Times New Roman" panose="02020603050405020304" pitchFamily="18" charset="0"/>
              </a:rPr>
              <a:t>M. LONDJI Jean Christian</a:t>
            </a:r>
            <a:endParaRPr lang="fr-CM" sz="1200" dirty="0">
              <a:solidFill>
                <a:schemeClr val="bg1">
                  <a:lumMod val="85000"/>
                </a:schemeClr>
              </a:solidFill>
              <a:latin typeface="Times New Roman" panose="02020603050405020304" pitchFamily="18" charset="0"/>
              <a:cs typeface="Times New Roman" panose="02020603050405020304" pitchFamily="18" charset="0"/>
            </a:endParaRPr>
          </a:p>
          <a:p>
            <a:pPr marL="0" indent="0">
              <a:buNone/>
            </a:pPr>
            <a:endParaRPr lang="en-US" sz="900" dirty="0"/>
          </a:p>
          <a:p>
            <a:pPr marL="0" indent="0">
              <a:buNone/>
            </a:pPr>
            <a:r>
              <a:rPr lang="en-US" sz="900" dirty="0">
                <a:solidFill>
                  <a:srgbClr val="8BA3B5"/>
                </a:solidFill>
                <a:latin typeface="Calibri" pitchFamily="34" charset="0"/>
                <a:ea typeface="Calibri" pitchFamily="34" charset="-122"/>
                <a:cs typeface="Calibri" pitchFamily="34" charset="-120"/>
              </a:rPr>
              <a:t>Sous la supervision de  </a:t>
            </a:r>
            <a:endParaRPr lang="en-US" sz="900" dirty="0"/>
          </a:p>
          <a:p>
            <a:pPr marL="0" indent="0">
              <a:buNone/>
            </a:pPr>
            <a:r>
              <a:rPr lang="en-US" sz="1100" b="1" dirty="0">
                <a:solidFill>
                  <a:srgbClr val="E8F4FD"/>
                </a:solidFill>
                <a:latin typeface="Calibri" pitchFamily="34" charset="0"/>
                <a:ea typeface="Calibri" pitchFamily="34" charset="-122"/>
                <a:cs typeface="Calibri" pitchFamily="34" charset="-120"/>
              </a:rPr>
              <a:t>M. NGUIMBUS Emmanuel</a:t>
            </a:r>
            <a:endParaRPr lang="en-US" sz="900" dirty="0"/>
          </a:p>
        </p:txBody>
      </p:sp>
      <p:sp>
        <p:nvSpPr>
          <p:cNvPr id="51" name="Shape 48"/>
          <p:cNvSpPr/>
          <p:nvPr/>
        </p:nvSpPr>
        <p:spPr>
          <a:xfrm>
            <a:off x="7132320" y="4526280"/>
            <a:ext cx="1645920" cy="457200"/>
          </a:xfrm>
          <a:prstGeom prst="rect">
            <a:avLst/>
          </a:prstGeom>
          <a:solidFill>
            <a:srgbClr val="002A33"/>
          </a:solidFill>
          <a:ln w="12700">
            <a:solidFill>
              <a:srgbClr val="00D4FF"/>
            </a:solidFill>
            <a:prstDash val="solid"/>
          </a:ln>
        </p:spPr>
        <p:txBody>
          <a:bodyPr/>
          <a:lstStyle/>
          <a:p>
            <a:endParaRPr lang="fr-FR"/>
          </a:p>
        </p:txBody>
      </p:sp>
      <p:sp>
        <p:nvSpPr>
          <p:cNvPr id="52" name="Text 49"/>
          <p:cNvSpPr/>
          <p:nvPr/>
        </p:nvSpPr>
        <p:spPr>
          <a:xfrm>
            <a:off x="7132320" y="4544568"/>
            <a:ext cx="1645920" cy="411480"/>
          </a:xfrm>
          <a:prstGeom prst="rect">
            <a:avLst/>
          </a:prstGeom>
          <a:noFill/>
          <a:ln/>
        </p:spPr>
        <p:txBody>
          <a:bodyPr wrap="square" rtlCol="0" anchor="ctr"/>
          <a:lstStyle/>
          <a:p>
            <a:pPr marL="0" indent="0" algn="ctr">
              <a:buNone/>
            </a:pPr>
            <a:r>
              <a:rPr lang="en-US" sz="1000" b="1" dirty="0" err="1">
                <a:solidFill>
                  <a:srgbClr val="00D4FF"/>
                </a:solidFill>
                <a:latin typeface="Calibri" pitchFamily="34" charset="0"/>
                <a:ea typeface="Calibri" pitchFamily="34" charset="-122"/>
                <a:cs typeface="Calibri" pitchFamily="34" charset="-120"/>
              </a:rPr>
              <a:t>Année</a:t>
            </a:r>
            <a:r>
              <a:rPr lang="en-US" sz="1000" b="1" dirty="0">
                <a:solidFill>
                  <a:srgbClr val="00D4FF"/>
                </a:solidFill>
                <a:latin typeface="Calibri" pitchFamily="34" charset="0"/>
                <a:ea typeface="Calibri" pitchFamily="34" charset="-122"/>
                <a:cs typeface="Calibri" pitchFamily="34" charset="-120"/>
              </a:rPr>
              <a:t> 2025–2026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923"/>
        </a:solidFill>
        <a:effectLst/>
      </p:bgPr>
    </p:bg>
    <p:spTree>
      <p:nvGrpSpPr>
        <p:cNvPr id="1" name=""/>
        <p:cNvGrpSpPr/>
        <p:nvPr/>
      </p:nvGrpSpPr>
      <p:grpSpPr>
        <a:xfrm>
          <a:off x="0" y="0"/>
          <a:ext cx="0" cy="0"/>
          <a:chOff x="0" y="0"/>
          <a:chExt cx="0" cy="0"/>
        </a:xfrm>
      </p:grpSpPr>
      <p:sp>
        <p:nvSpPr>
          <p:cNvPr id="2" name="Text 0"/>
          <p:cNvSpPr/>
          <p:nvPr/>
        </p:nvSpPr>
        <p:spPr>
          <a:xfrm>
            <a:off x="365760" y="228600"/>
            <a:ext cx="841248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TABLE DES MATIÈRES</a:t>
            </a:r>
            <a:endParaRPr lang="en-US" sz="2200" dirty="0"/>
          </a:p>
        </p:txBody>
      </p:sp>
      <p:sp>
        <p:nvSpPr>
          <p:cNvPr id="3" name="Shape 1"/>
          <p:cNvSpPr/>
          <p:nvPr/>
        </p:nvSpPr>
        <p:spPr>
          <a:xfrm>
            <a:off x="365760" y="749808"/>
            <a:ext cx="1280160" cy="45720"/>
          </a:xfrm>
          <a:prstGeom prst="rect">
            <a:avLst/>
          </a:prstGeom>
          <a:solidFill>
            <a:srgbClr val="00D4FF"/>
          </a:solidFill>
          <a:ln/>
        </p:spPr>
        <p:txBody>
          <a:bodyPr/>
          <a:lstStyle/>
          <a:p>
            <a:endParaRPr lang="fr-FR"/>
          </a:p>
        </p:txBody>
      </p:sp>
      <p:sp>
        <p:nvSpPr>
          <p:cNvPr id="4" name="Shape 2"/>
          <p:cNvSpPr/>
          <p:nvPr/>
        </p:nvSpPr>
        <p:spPr>
          <a:xfrm>
            <a:off x="365760" y="914400"/>
            <a:ext cx="4114800" cy="658368"/>
          </a:xfrm>
          <a:prstGeom prst="rect">
            <a:avLst/>
          </a:prstGeom>
          <a:solidFill>
            <a:srgbClr val="1C2B3A"/>
          </a:solidFill>
          <a:ln w="12700">
            <a:solidFill>
              <a:srgbClr val="00D4FF"/>
            </a:solidFill>
            <a:prstDash val="solid"/>
          </a:ln>
          <a:effectLst>
            <a:outerShdw blurRad="101600" dist="38100" dir="8100000" algn="bl" rotWithShape="0">
              <a:srgbClr val="000000">
                <a:alpha val="35000"/>
              </a:srgbClr>
            </a:outerShdw>
          </a:effectLst>
        </p:spPr>
        <p:txBody>
          <a:bodyPr/>
          <a:lstStyle/>
          <a:p>
            <a:endParaRPr lang="fr-FR"/>
          </a:p>
        </p:txBody>
      </p:sp>
      <p:sp>
        <p:nvSpPr>
          <p:cNvPr id="5" name="Shape 3"/>
          <p:cNvSpPr/>
          <p:nvPr/>
        </p:nvSpPr>
        <p:spPr>
          <a:xfrm>
            <a:off x="365760" y="914400"/>
            <a:ext cx="502920" cy="658368"/>
          </a:xfrm>
          <a:prstGeom prst="rect">
            <a:avLst/>
          </a:prstGeom>
          <a:solidFill>
            <a:srgbClr val="00D4FF"/>
          </a:solidFill>
          <a:ln/>
        </p:spPr>
        <p:txBody>
          <a:bodyPr/>
          <a:lstStyle/>
          <a:p>
            <a:endParaRPr lang="fr-FR"/>
          </a:p>
        </p:txBody>
      </p:sp>
      <p:sp>
        <p:nvSpPr>
          <p:cNvPr id="6" name="Text 4"/>
          <p:cNvSpPr/>
          <p:nvPr/>
        </p:nvSpPr>
        <p:spPr>
          <a:xfrm>
            <a:off x="365760" y="914400"/>
            <a:ext cx="502920" cy="658368"/>
          </a:xfrm>
          <a:prstGeom prst="rect">
            <a:avLst/>
          </a:prstGeom>
          <a:noFill/>
          <a:ln/>
        </p:spPr>
        <p:txBody>
          <a:bodyPr wrap="square"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I</a:t>
            </a:r>
            <a:endParaRPr lang="en-US" sz="1300" dirty="0"/>
          </a:p>
        </p:txBody>
      </p:sp>
      <p:sp>
        <p:nvSpPr>
          <p:cNvPr id="7" name="Text 5"/>
          <p:cNvSpPr/>
          <p:nvPr/>
        </p:nvSpPr>
        <p:spPr>
          <a:xfrm>
            <a:off x="960120" y="1051560"/>
            <a:ext cx="3429000" cy="384048"/>
          </a:xfrm>
          <a:prstGeom prst="rect">
            <a:avLst/>
          </a:prstGeom>
          <a:noFill/>
          <a:ln/>
        </p:spPr>
        <p:txBody>
          <a:bodyPr wrap="square" rtlCol="0" anchor="ctr"/>
          <a:lstStyle/>
          <a:p>
            <a:pPr marL="0" indent="0">
              <a:buNone/>
            </a:pPr>
            <a:r>
              <a:rPr lang="en-US" sz="1400" dirty="0">
                <a:solidFill>
                  <a:srgbClr val="E8F4FD"/>
                </a:solidFill>
                <a:latin typeface="Calibri" pitchFamily="34" charset="0"/>
                <a:ea typeface="Calibri" pitchFamily="34" charset="-122"/>
                <a:cs typeface="Calibri" pitchFamily="34" charset="-120"/>
              </a:rPr>
              <a:t>Introduction</a:t>
            </a:r>
            <a:endParaRPr lang="en-US" sz="1400" dirty="0"/>
          </a:p>
        </p:txBody>
      </p:sp>
      <p:sp>
        <p:nvSpPr>
          <p:cNvPr id="8" name="Shape 6"/>
          <p:cNvSpPr/>
          <p:nvPr/>
        </p:nvSpPr>
        <p:spPr>
          <a:xfrm>
            <a:off x="365760" y="1719072"/>
            <a:ext cx="4114800" cy="658368"/>
          </a:xfrm>
          <a:prstGeom prst="rect">
            <a:avLst/>
          </a:prstGeom>
          <a:solidFill>
            <a:srgbClr val="1C2B3A"/>
          </a:solidFill>
          <a:ln w="12700">
            <a:solidFill>
              <a:srgbClr val="00D4FF"/>
            </a:solidFill>
            <a:prstDash val="solid"/>
          </a:ln>
          <a:effectLst>
            <a:outerShdw blurRad="101600" dist="38100" dir="8100000" algn="bl" rotWithShape="0">
              <a:srgbClr val="000000">
                <a:alpha val="35000"/>
              </a:srgbClr>
            </a:outerShdw>
          </a:effectLst>
        </p:spPr>
        <p:txBody>
          <a:bodyPr/>
          <a:lstStyle/>
          <a:p>
            <a:endParaRPr lang="fr-FR"/>
          </a:p>
        </p:txBody>
      </p:sp>
      <p:sp>
        <p:nvSpPr>
          <p:cNvPr id="9" name="Shape 7"/>
          <p:cNvSpPr/>
          <p:nvPr/>
        </p:nvSpPr>
        <p:spPr>
          <a:xfrm>
            <a:off x="365760" y="1719072"/>
            <a:ext cx="502920" cy="658368"/>
          </a:xfrm>
          <a:prstGeom prst="rect">
            <a:avLst/>
          </a:prstGeom>
          <a:solidFill>
            <a:srgbClr val="00D4FF"/>
          </a:solidFill>
          <a:ln/>
        </p:spPr>
        <p:txBody>
          <a:bodyPr/>
          <a:lstStyle/>
          <a:p>
            <a:endParaRPr lang="fr-FR"/>
          </a:p>
        </p:txBody>
      </p:sp>
      <p:sp>
        <p:nvSpPr>
          <p:cNvPr id="10" name="Text 8"/>
          <p:cNvSpPr/>
          <p:nvPr/>
        </p:nvSpPr>
        <p:spPr>
          <a:xfrm>
            <a:off x="365760" y="1719072"/>
            <a:ext cx="502920" cy="658368"/>
          </a:xfrm>
          <a:prstGeom prst="rect">
            <a:avLst/>
          </a:prstGeom>
          <a:noFill/>
          <a:ln/>
        </p:spPr>
        <p:txBody>
          <a:bodyPr wrap="square"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II</a:t>
            </a:r>
            <a:endParaRPr lang="en-US" sz="1300" dirty="0"/>
          </a:p>
        </p:txBody>
      </p:sp>
      <p:sp>
        <p:nvSpPr>
          <p:cNvPr id="11" name="Text 9"/>
          <p:cNvSpPr/>
          <p:nvPr/>
        </p:nvSpPr>
        <p:spPr>
          <a:xfrm>
            <a:off x="960120" y="1856232"/>
            <a:ext cx="3429000" cy="384048"/>
          </a:xfrm>
          <a:prstGeom prst="rect">
            <a:avLst/>
          </a:prstGeom>
          <a:noFill/>
          <a:ln/>
        </p:spPr>
        <p:txBody>
          <a:bodyPr wrap="square" rtlCol="0" anchor="ctr"/>
          <a:lstStyle/>
          <a:p>
            <a:pPr marL="0" indent="0">
              <a:buNone/>
            </a:pPr>
            <a:r>
              <a:rPr lang="en-US" sz="1400" dirty="0">
                <a:solidFill>
                  <a:srgbClr val="E8F4FD"/>
                </a:solidFill>
                <a:latin typeface="Calibri" pitchFamily="34" charset="0"/>
                <a:ea typeface="Calibri" pitchFamily="34" charset="-122"/>
                <a:cs typeface="Calibri" pitchFamily="34" charset="-120"/>
              </a:rPr>
              <a:t>Contexte &amp; Problématique</a:t>
            </a:r>
            <a:endParaRPr lang="en-US" sz="1400" dirty="0"/>
          </a:p>
        </p:txBody>
      </p:sp>
      <p:sp>
        <p:nvSpPr>
          <p:cNvPr id="12" name="Shape 10"/>
          <p:cNvSpPr/>
          <p:nvPr/>
        </p:nvSpPr>
        <p:spPr>
          <a:xfrm>
            <a:off x="365760" y="2523744"/>
            <a:ext cx="4114800" cy="658368"/>
          </a:xfrm>
          <a:prstGeom prst="rect">
            <a:avLst/>
          </a:prstGeom>
          <a:solidFill>
            <a:srgbClr val="1C2B3A"/>
          </a:solidFill>
          <a:ln w="12700">
            <a:solidFill>
              <a:srgbClr val="00D4FF"/>
            </a:solidFill>
            <a:prstDash val="solid"/>
          </a:ln>
          <a:effectLst>
            <a:outerShdw blurRad="101600" dist="38100" dir="8100000" algn="bl" rotWithShape="0">
              <a:srgbClr val="000000">
                <a:alpha val="35000"/>
              </a:srgbClr>
            </a:outerShdw>
          </a:effectLst>
        </p:spPr>
        <p:txBody>
          <a:bodyPr/>
          <a:lstStyle/>
          <a:p>
            <a:endParaRPr lang="fr-FR"/>
          </a:p>
        </p:txBody>
      </p:sp>
      <p:sp>
        <p:nvSpPr>
          <p:cNvPr id="13" name="Shape 11"/>
          <p:cNvSpPr/>
          <p:nvPr/>
        </p:nvSpPr>
        <p:spPr>
          <a:xfrm>
            <a:off x="365760" y="2523744"/>
            <a:ext cx="502920" cy="658368"/>
          </a:xfrm>
          <a:prstGeom prst="rect">
            <a:avLst/>
          </a:prstGeom>
          <a:solidFill>
            <a:srgbClr val="00D4FF"/>
          </a:solidFill>
          <a:ln/>
        </p:spPr>
        <p:txBody>
          <a:bodyPr/>
          <a:lstStyle/>
          <a:p>
            <a:endParaRPr lang="fr-FR"/>
          </a:p>
        </p:txBody>
      </p:sp>
      <p:sp>
        <p:nvSpPr>
          <p:cNvPr id="14" name="Text 12"/>
          <p:cNvSpPr/>
          <p:nvPr/>
        </p:nvSpPr>
        <p:spPr>
          <a:xfrm>
            <a:off x="365760" y="2523744"/>
            <a:ext cx="502920" cy="658368"/>
          </a:xfrm>
          <a:prstGeom prst="rect">
            <a:avLst/>
          </a:prstGeom>
          <a:noFill/>
          <a:ln/>
        </p:spPr>
        <p:txBody>
          <a:bodyPr wrap="square"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III</a:t>
            </a:r>
            <a:endParaRPr lang="en-US" sz="1300" dirty="0"/>
          </a:p>
        </p:txBody>
      </p:sp>
      <p:sp>
        <p:nvSpPr>
          <p:cNvPr id="15" name="Text 13"/>
          <p:cNvSpPr/>
          <p:nvPr/>
        </p:nvSpPr>
        <p:spPr>
          <a:xfrm>
            <a:off x="960120" y="2660904"/>
            <a:ext cx="3429000" cy="384048"/>
          </a:xfrm>
          <a:prstGeom prst="rect">
            <a:avLst/>
          </a:prstGeom>
          <a:noFill/>
          <a:ln/>
        </p:spPr>
        <p:txBody>
          <a:bodyPr wrap="square" rtlCol="0" anchor="ctr"/>
          <a:lstStyle/>
          <a:p>
            <a:pPr marL="0" indent="0">
              <a:buNone/>
            </a:pPr>
            <a:r>
              <a:rPr lang="en-US" sz="1400" dirty="0">
                <a:solidFill>
                  <a:srgbClr val="E8F4FD"/>
                </a:solidFill>
                <a:latin typeface="Calibri" pitchFamily="34" charset="0"/>
                <a:ea typeface="Calibri" pitchFamily="34" charset="-122"/>
                <a:cs typeface="Calibri" pitchFamily="34" charset="-120"/>
              </a:rPr>
              <a:t>Solution Proposée</a:t>
            </a:r>
            <a:endParaRPr lang="en-US" sz="1400" dirty="0"/>
          </a:p>
        </p:txBody>
      </p:sp>
      <p:sp>
        <p:nvSpPr>
          <p:cNvPr id="16" name="Shape 14"/>
          <p:cNvSpPr/>
          <p:nvPr/>
        </p:nvSpPr>
        <p:spPr>
          <a:xfrm>
            <a:off x="365760" y="3328416"/>
            <a:ext cx="4114800" cy="658368"/>
          </a:xfrm>
          <a:prstGeom prst="rect">
            <a:avLst/>
          </a:prstGeom>
          <a:solidFill>
            <a:srgbClr val="1C2B3A"/>
          </a:solidFill>
          <a:ln w="12700">
            <a:solidFill>
              <a:srgbClr val="00D4FF"/>
            </a:solidFill>
            <a:prstDash val="solid"/>
          </a:ln>
          <a:effectLst>
            <a:outerShdw blurRad="101600" dist="38100" dir="8100000" algn="bl" rotWithShape="0">
              <a:srgbClr val="000000">
                <a:alpha val="35000"/>
              </a:srgbClr>
            </a:outerShdw>
          </a:effectLst>
        </p:spPr>
        <p:txBody>
          <a:bodyPr/>
          <a:lstStyle/>
          <a:p>
            <a:endParaRPr lang="fr-FR"/>
          </a:p>
        </p:txBody>
      </p:sp>
      <p:sp>
        <p:nvSpPr>
          <p:cNvPr id="17" name="Shape 15"/>
          <p:cNvSpPr/>
          <p:nvPr/>
        </p:nvSpPr>
        <p:spPr>
          <a:xfrm>
            <a:off x="365760" y="3328416"/>
            <a:ext cx="502920" cy="658368"/>
          </a:xfrm>
          <a:prstGeom prst="rect">
            <a:avLst/>
          </a:prstGeom>
          <a:solidFill>
            <a:srgbClr val="00D4FF"/>
          </a:solidFill>
          <a:ln/>
        </p:spPr>
        <p:txBody>
          <a:bodyPr/>
          <a:lstStyle/>
          <a:p>
            <a:endParaRPr lang="fr-FR"/>
          </a:p>
        </p:txBody>
      </p:sp>
      <p:sp>
        <p:nvSpPr>
          <p:cNvPr id="18" name="Text 16"/>
          <p:cNvSpPr/>
          <p:nvPr/>
        </p:nvSpPr>
        <p:spPr>
          <a:xfrm>
            <a:off x="365760" y="3328416"/>
            <a:ext cx="502920" cy="658368"/>
          </a:xfrm>
          <a:prstGeom prst="rect">
            <a:avLst/>
          </a:prstGeom>
          <a:noFill/>
          <a:ln/>
        </p:spPr>
        <p:txBody>
          <a:bodyPr wrap="square"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IV</a:t>
            </a:r>
            <a:endParaRPr lang="en-US" sz="1300" dirty="0"/>
          </a:p>
        </p:txBody>
      </p:sp>
      <p:sp>
        <p:nvSpPr>
          <p:cNvPr id="19" name="Text 17"/>
          <p:cNvSpPr/>
          <p:nvPr/>
        </p:nvSpPr>
        <p:spPr>
          <a:xfrm>
            <a:off x="960120" y="3465576"/>
            <a:ext cx="3429000" cy="384048"/>
          </a:xfrm>
          <a:prstGeom prst="rect">
            <a:avLst/>
          </a:prstGeom>
          <a:noFill/>
          <a:ln/>
        </p:spPr>
        <p:txBody>
          <a:bodyPr wrap="square" rtlCol="0" anchor="ctr"/>
          <a:lstStyle/>
          <a:p>
            <a:pPr marL="0" indent="0">
              <a:buNone/>
            </a:pPr>
            <a:r>
              <a:rPr lang="en-US" sz="1400" dirty="0">
                <a:solidFill>
                  <a:srgbClr val="E8F4FD"/>
                </a:solidFill>
                <a:latin typeface="Calibri" pitchFamily="34" charset="0"/>
                <a:ea typeface="Calibri" pitchFamily="34" charset="-122"/>
                <a:cs typeface="Calibri" pitchFamily="34" charset="-120"/>
              </a:rPr>
              <a:t>Objectifs</a:t>
            </a:r>
            <a:endParaRPr lang="en-US" sz="1400" dirty="0"/>
          </a:p>
        </p:txBody>
      </p:sp>
      <p:sp>
        <p:nvSpPr>
          <p:cNvPr id="22" name="Text 20"/>
          <p:cNvSpPr/>
          <p:nvPr/>
        </p:nvSpPr>
        <p:spPr>
          <a:xfrm>
            <a:off x="365760" y="4133088"/>
            <a:ext cx="502920" cy="658368"/>
          </a:xfrm>
          <a:prstGeom prst="rect">
            <a:avLst/>
          </a:prstGeom>
          <a:noFill/>
          <a:ln/>
        </p:spPr>
        <p:txBody>
          <a:bodyPr wrap="square"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V</a:t>
            </a:r>
            <a:endParaRPr lang="en-US" sz="1300" dirty="0"/>
          </a:p>
        </p:txBody>
      </p:sp>
      <p:sp>
        <p:nvSpPr>
          <p:cNvPr id="26" name="Text 24"/>
          <p:cNvSpPr/>
          <p:nvPr/>
        </p:nvSpPr>
        <p:spPr>
          <a:xfrm>
            <a:off x="4754880" y="914400"/>
            <a:ext cx="502920" cy="658368"/>
          </a:xfrm>
          <a:prstGeom prst="rect">
            <a:avLst/>
          </a:prstGeom>
          <a:noFill/>
          <a:ln/>
        </p:spPr>
        <p:txBody>
          <a:bodyPr wrap="square"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VI</a:t>
            </a:r>
            <a:endParaRPr lang="en-US" sz="1300" dirty="0"/>
          </a:p>
        </p:txBody>
      </p:sp>
      <p:sp>
        <p:nvSpPr>
          <p:cNvPr id="28" name="Shape 26"/>
          <p:cNvSpPr/>
          <p:nvPr/>
        </p:nvSpPr>
        <p:spPr>
          <a:xfrm>
            <a:off x="4754880" y="1719072"/>
            <a:ext cx="4114800" cy="658368"/>
          </a:xfrm>
          <a:prstGeom prst="rect">
            <a:avLst/>
          </a:prstGeom>
          <a:solidFill>
            <a:srgbClr val="1C2B3A"/>
          </a:solidFill>
          <a:ln w="12700">
            <a:solidFill>
              <a:srgbClr val="FF3B3B"/>
            </a:solidFill>
            <a:prstDash val="solid"/>
          </a:ln>
          <a:effectLst>
            <a:outerShdw blurRad="101600" dist="38100" dir="8100000" algn="bl" rotWithShape="0">
              <a:srgbClr val="000000">
                <a:alpha val="35000"/>
              </a:srgbClr>
            </a:outerShdw>
          </a:effectLst>
        </p:spPr>
        <p:txBody>
          <a:bodyPr/>
          <a:lstStyle/>
          <a:p>
            <a:endParaRPr lang="fr-FR"/>
          </a:p>
        </p:txBody>
      </p:sp>
      <p:sp>
        <p:nvSpPr>
          <p:cNvPr id="29" name="Shape 27"/>
          <p:cNvSpPr/>
          <p:nvPr/>
        </p:nvSpPr>
        <p:spPr>
          <a:xfrm>
            <a:off x="4754880" y="1719072"/>
            <a:ext cx="502920" cy="658368"/>
          </a:xfrm>
          <a:prstGeom prst="rect">
            <a:avLst/>
          </a:prstGeom>
          <a:solidFill>
            <a:srgbClr val="FF3B3B"/>
          </a:solidFill>
          <a:ln/>
        </p:spPr>
        <p:txBody>
          <a:bodyPr/>
          <a:lstStyle/>
          <a:p>
            <a:endParaRPr lang="fr-FR"/>
          </a:p>
        </p:txBody>
      </p:sp>
      <p:sp>
        <p:nvSpPr>
          <p:cNvPr id="30" name="Text 28"/>
          <p:cNvSpPr/>
          <p:nvPr/>
        </p:nvSpPr>
        <p:spPr>
          <a:xfrm>
            <a:off x="4754880" y="1719072"/>
            <a:ext cx="502920" cy="658368"/>
          </a:xfrm>
          <a:prstGeom prst="rect">
            <a:avLst/>
          </a:prstGeom>
          <a:noFill/>
          <a:ln/>
        </p:spPr>
        <p:txBody>
          <a:bodyPr wrap="square"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V</a:t>
            </a:r>
            <a:endParaRPr lang="en-US" sz="1300" dirty="0"/>
          </a:p>
        </p:txBody>
      </p:sp>
      <p:sp>
        <p:nvSpPr>
          <p:cNvPr id="31" name="Text 29"/>
          <p:cNvSpPr/>
          <p:nvPr/>
        </p:nvSpPr>
        <p:spPr>
          <a:xfrm>
            <a:off x="5349240" y="1856232"/>
            <a:ext cx="3429000" cy="384048"/>
          </a:xfrm>
          <a:prstGeom prst="rect">
            <a:avLst/>
          </a:prstGeom>
          <a:noFill/>
          <a:ln/>
        </p:spPr>
        <p:txBody>
          <a:bodyPr wrap="square" rtlCol="0" anchor="ctr"/>
          <a:lstStyle/>
          <a:p>
            <a:pPr marL="0" indent="0">
              <a:buNone/>
            </a:pPr>
            <a:r>
              <a:rPr lang="en-US" sz="1400" dirty="0">
                <a:solidFill>
                  <a:srgbClr val="E8F4FD"/>
                </a:solidFill>
                <a:latin typeface="Calibri" pitchFamily="34" charset="0"/>
                <a:cs typeface="Calibri" pitchFamily="34" charset="-120"/>
              </a:rPr>
              <a:t>Intervenants</a:t>
            </a:r>
            <a:endParaRPr lang="en-US" sz="1400" dirty="0"/>
          </a:p>
        </p:txBody>
      </p:sp>
      <p:sp>
        <p:nvSpPr>
          <p:cNvPr id="32" name="Shape 30"/>
          <p:cNvSpPr/>
          <p:nvPr/>
        </p:nvSpPr>
        <p:spPr>
          <a:xfrm>
            <a:off x="4754880" y="2523744"/>
            <a:ext cx="4114800" cy="658368"/>
          </a:xfrm>
          <a:prstGeom prst="rect">
            <a:avLst/>
          </a:prstGeom>
          <a:solidFill>
            <a:srgbClr val="1C2B3A"/>
          </a:solidFill>
          <a:ln w="12700">
            <a:solidFill>
              <a:srgbClr val="00D4FF"/>
            </a:solidFill>
            <a:prstDash val="solid"/>
          </a:ln>
          <a:effectLst>
            <a:outerShdw blurRad="101600" dist="38100" dir="8100000" algn="bl" rotWithShape="0">
              <a:srgbClr val="000000">
                <a:alpha val="35000"/>
              </a:srgbClr>
            </a:outerShdw>
          </a:effectLst>
        </p:spPr>
        <p:txBody>
          <a:bodyPr/>
          <a:lstStyle/>
          <a:p>
            <a:endParaRPr lang="fr-FR"/>
          </a:p>
        </p:txBody>
      </p:sp>
      <p:sp>
        <p:nvSpPr>
          <p:cNvPr id="33" name="Shape 31"/>
          <p:cNvSpPr/>
          <p:nvPr/>
        </p:nvSpPr>
        <p:spPr>
          <a:xfrm>
            <a:off x="4754880" y="2523744"/>
            <a:ext cx="502920" cy="658368"/>
          </a:xfrm>
          <a:prstGeom prst="rect">
            <a:avLst/>
          </a:prstGeom>
          <a:solidFill>
            <a:srgbClr val="00D4FF"/>
          </a:solidFill>
          <a:ln/>
        </p:spPr>
        <p:txBody>
          <a:bodyPr/>
          <a:lstStyle/>
          <a:p>
            <a:endParaRPr lang="fr-FR"/>
          </a:p>
        </p:txBody>
      </p:sp>
      <p:sp>
        <p:nvSpPr>
          <p:cNvPr id="34" name="Text 32"/>
          <p:cNvSpPr/>
          <p:nvPr/>
        </p:nvSpPr>
        <p:spPr>
          <a:xfrm>
            <a:off x="4754880" y="2523744"/>
            <a:ext cx="502920" cy="658368"/>
          </a:xfrm>
          <a:prstGeom prst="rect">
            <a:avLst/>
          </a:prstGeom>
          <a:noFill/>
          <a:ln/>
        </p:spPr>
        <p:txBody>
          <a:bodyPr wrap="square"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VI</a:t>
            </a:r>
            <a:endParaRPr lang="en-US" sz="1300" dirty="0"/>
          </a:p>
        </p:txBody>
      </p:sp>
      <p:sp>
        <p:nvSpPr>
          <p:cNvPr id="35" name="Text 33"/>
          <p:cNvSpPr/>
          <p:nvPr/>
        </p:nvSpPr>
        <p:spPr>
          <a:xfrm>
            <a:off x="5349240" y="2660904"/>
            <a:ext cx="3429000" cy="384048"/>
          </a:xfrm>
          <a:prstGeom prst="rect">
            <a:avLst/>
          </a:prstGeom>
          <a:noFill/>
          <a:ln/>
        </p:spPr>
        <p:txBody>
          <a:bodyPr wrap="square" rtlCol="0" anchor="ctr"/>
          <a:lstStyle/>
          <a:p>
            <a:pPr marL="0" indent="0">
              <a:buNone/>
            </a:pPr>
            <a:r>
              <a:rPr lang="en-US" sz="1400" dirty="0">
                <a:solidFill>
                  <a:srgbClr val="E8F4FD"/>
                </a:solidFill>
                <a:latin typeface="Calibri" pitchFamily="34" charset="0"/>
                <a:ea typeface="Calibri" pitchFamily="34" charset="-122"/>
                <a:cs typeface="Calibri" pitchFamily="34" charset="-120"/>
              </a:rPr>
              <a:t>Livrables &amp; Échéancier</a:t>
            </a:r>
            <a:endParaRPr lang="en-US" sz="1400" dirty="0"/>
          </a:p>
        </p:txBody>
      </p:sp>
      <p:sp>
        <p:nvSpPr>
          <p:cNvPr id="36" name="Shape 34"/>
          <p:cNvSpPr/>
          <p:nvPr/>
        </p:nvSpPr>
        <p:spPr>
          <a:xfrm>
            <a:off x="4754880" y="3328416"/>
            <a:ext cx="4114800" cy="658368"/>
          </a:xfrm>
          <a:prstGeom prst="rect">
            <a:avLst/>
          </a:prstGeom>
          <a:solidFill>
            <a:srgbClr val="1C2B3A"/>
          </a:solidFill>
          <a:ln w="12700">
            <a:solidFill>
              <a:srgbClr val="00D4FF"/>
            </a:solidFill>
            <a:prstDash val="solid"/>
          </a:ln>
          <a:effectLst>
            <a:outerShdw blurRad="101600" dist="38100" dir="8100000" algn="bl" rotWithShape="0">
              <a:srgbClr val="000000">
                <a:alpha val="35000"/>
              </a:srgbClr>
            </a:outerShdw>
          </a:effectLst>
        </p:spPr>
        <p:txBody>
          <a:bodyPr/>
          <a:lstStyle/>
          <a:p>
            <a:endParaRPr lang="fr-FR"/>
          </a:p>
        </p:txBody>
      </p:sp>
      <p:sp>
        <p:nvSpPr>
          <p:cNvPr id="37" name="Shape 35"/>
          <p:cNvSpPr/>
          <p:nvPr/>
        </p:nvSpPr>
        <p:spPr>
          <a:xfrm>
            <a:off x="4754880" y="3328416"/>
            <a:ext cx="502920" cy="658368"/>
          </a:xfrm>
          <a:prstGeom prst="rect">
            <a:avLst/>
          </a:prstGeom>
          <a:solidFill>
            <a:srgbClr val="00D4FF"/>
          </a:solidFill>
          <a:ln/>
        </p:spPr>
        <p:txBody>
          <a:bodyPr/>
          <a:lstStyle/>
          <a:p>
            <a:endParaRPr lang="fr-FR"/>
          </a:p>
        </p:txBody>
      </p:sp>
      <p:sp>
        <p:nvSpPr>
          <p:cNvPr id="38" name="Text 36"/>
          <p:cNvSpPr/>
          <p:nvPr/>
        </p:nvSpPr>
        <p:spPr>
          <a:xfrm>
            <a:off x="4754880" y="3328416"/>
            <a:ext cx="502920" cy="658368"/>
          </a:xfrm>
          <a:prstGeom prst="rect">
            <a:avLst/>
          </a:prstGeom>
          <a:noFill/>
          <a:ln/>
        </p:spPr>
        <p:txBody>
          <a:bodyPr wrap="square" rtlCol="0" anchor="ctr"/>
          <a:lstStyle/>
          <a:p>
            <a:pPr marL="0" indent="0" algn="ctr">
              <a:buNone/>
            </a:pPr>
            <a:r>
              <a:rPr lang="en-US" sz="1300" b="1" dirty="0">
                <a:solidFill>
                  <a:srgbClr val="0D1117"/>
                </a:solidFill>
                <a:latin typeface="Calibri" pitchFamily="34" charset="0"/>
                <a:cs typeface="Calibri" pitchFamily="34" charset="-120"/>
              </a:rPr>
              <a:t>VII</a:t>
            </a:r>
            <a:endParaRPr lang="en-US" sz="1300" dirty="0"/>
          </a:p>
        </p:txBody>
      </p:sp>
      <p:sp>
        <p:nvSpPr>
          <p:cNvPr id="39" name="Text 37"/>
          <p:cNvSpPr/>
          <p:nvPr/>
        </p:nvSpPr>
        <p:spPr>
          <a:xfrm>
            <a:off x="5349240" y="3465576"/>
            <a:ext cx="3429000" cy="384048"/>
          </a:xfrm>
          <a:prstGeom prst="rect">
            <a:avLst/>
          </a:prstGeom>
          <a:noFill/>
          <a:ln/>
        </p:spPr>
        <p:txBody>
          <a:bodyPr wrap="square" rtlCol="0" anchor="ctr"/>
          <a:lstStyle/>
          <a:p>
            <a:pPr marL="0" indent="0">
              <a:buNone/>
            </a:pPr>
            <a:r>
              <a:rPr lang="en-US" sz="1400" dirty="0">
                <a:solidFill>
                  <a:srgbClr val="E8F4FD"/>
                </a:solidFill>
                <a:latin typeface="Calibri" pitchFamily="34" charset="0"/>
                <a:ea typeface="Calibri" pitchFamily="34" charset="-122"/>
                <a:cs typeface="Calibri" pitchFamily="34" charset="-120"/>
              </a:rPr>
              <a:t>Budget</a:t>
            </a:r>
            <a:endParaRPr lang="en-US" sz="1400" dirty="0"/>
          </a:p>
        </p:txBody>
      </p:sp>
      <p:sp>
        <p:nvSpPr>
          <p:cNvPr id="40" name="Shape 38"/>
          <p:cNvSpPr/>
          <p:nvPr/>
        </p:nvSpPr>
        <p:spPr>
          <a:xfrm>
            <a:off x="4754880" y="4133088"/>
            <a:ext cx="4114800" cy="658368"/>
          </a:xfrm>
          <a:prstGeom prst="rect">
            <a:avLst/>
          </a:prstGeom>
          <a:solidFill>
            <a:srgbClr val="1C2B3A"/>
          </a:solidFill>
          <a:ln w="12700">
            <a:solidFill>
              <a:srgbClr val="00D4FF"/>
            </a:solidFill>
            <a:prstDash val="solid"/>
          </a:ln>
          <a:effectLst>
            <a:outerShdw blurRad="101600" dist="38100" dir="8100000" algn="bl" rotWithShape="0">
              <a:srgbClr val="000000">
                <a:alpha val="35000"/>
              </a:srgbClr>
            </a:outerShdw>
          </a:effectLst>
        </p:spPr>
        <p:txBody>
          <a:bodyPr/>
          <a:lstStyle/>
          <a:p>
            <a:endParaRPr lang="fr-FR"/>
          </a:p>
        </p:txBody>
      </p:sp>
      <p:sp>
        <p:nvSpPr>
          <p:cNvPr id="41" name="Shape 39"/>
          <p:cNvSpPr/>
          <p:nvPr/>
        </p:nvSpPr>
        <p:spPr>
          <a:xfrm>
            <a:off x="4754880" y="4133088"/>
            <a:ext cx="502920" cy="658368"/>
          </a:xfrm>
          <a:prstGeom prst="rect">
            <a:avLst/>
          </a:prstGeom>
          <a:solidFill>
            <a:srgbClr val="00D4FF"/>
          </a:solidFill>
          <a:ln/>
        </p:spPr>
        <p:txBody>
          <a:bodyPr/>
          <a:lstStyle/>
          <a:p>
            <a:endParaRPr lang="fr-FR"/>
          </a:p>
        </p:txBody>
      </p:sp>
      <p:sp>
        <p:nvSpPr>
          <p:cNvPr id="42" name="Text 40"/>
          <p:cNvSpPr/>
          <p:nvPr/>
        </p:nvSpPr>
        <p:spPr>
          <a:xfrm>
            <a:off x="4754880" y="4133088"/>
            <a:ext cx="502920" cy="658368"/>
          </a:xfrm>
          <a:prstGeom prst="rect">
            <a:avLst/>
          </a:prstGeom>
          <a:noFill/>
          <a:ln/>
        </p:spPr>
        <p:txBody>
          <a:bodyPr wrap="square" rtlCol="0" anchor="ctr"/>
          <a:lstStyle/>
          <a:p>
            <a:pPr marL="0" indent="0" algn="ctr">
              <a:buNone/>
            </a:pPr>
            <a:r>
              <a:rPr lang="en-US" sz="1300" b="1" dirty="0">
                <a:solidFill>
                  <a:srgbClr val="0D1117"/>
                </a:solidFill>
                <a:latin typeface="Calibri" pitchFamily="34" charset="0"/>
                <a:cs typeface="Calibri" pitchFamily="34" charset="-120"/>
              </a:rPr>
              <a:t>VIII</a:t>
            </a:r>
            <a:endParaRPr lang="en-US" sz="1300" dirty="0"/>
          </a:p>
        </p:txBody>
      </p:sp>
      <p:sp>
        <p:nvSpPr>
          <p:cNvPr id="43" name="Text 41"/>
          <p:cNvSpPr/>
          <p:nvPr/>
        </p:nvSpPr>
        <p:spPr>
          <a:xfrm>
            <a:off x="5349240" y="4270248"/>
            <a:ext cx="3429000" cy="384048"/>
          </a:xfrm>
          <a:prstGeom prst="rect">
            <a:avLst/>
          </a:prstGeom>
          <a:noFill/>
          <a:ln/>
        </p:spPr>
        <p:txBody>
          <a:bodyPr wrap="square" rtlCol="0" anchor="ctr"/>
          <a:lstStyle/>
          <a:p>
            <a:pPr marL="0" indent="0">
              <a:buNone/>
            </a:pPr>
            <a:r>
              <a:rPr lang="en-US" sz="1400" dirty="0">
                <a:solidFill>
                  <a:srgbClr val="E8F4FD"/>
                </a:solidFill>
                <a:latin typeface="Calibri" pitchFamily="34" charset="0"/>
                <a:ea typeface="Calibri" pitchFamily="34" charset="-122"/>
                <a:cs typeface="Calibri" pitchFamily="34" charset="-120"/>
              </a:rPr>
              <a:t>Conclusion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62032"/>
          </a:solidFill>
          <a:ln/>
        </p:spPr>
        <p:txBody>
          <a:bodyPr/>
          <a:lstStyle/>
          <a:p>
            <a:endParaRPr lang="fr-FR"/>
          </a:p>
        </p:txBody>
      </p:sp>
      <p:sp>
        <p:nvSpPr>
          <p:cNvPr id="3" name="Text 1"/>
          <p:cNvSpPr/>
          <p:nvPr/>
        </p:nvSpPr>
        <p:spPr>
          <a:xfrm>
            <a:off x="365760" y="228600"/>
            <a:ext cx="822960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 INTRODUCTION</a:t>
            </a:r>
            <a:endParaRPr lang="en-US" sz="2200" dirty="0"/>
          </a:p>
        </p:txBody>
      </p:sp>
      <p:pic>
        <p:nvPicPr>
          <p:cNvPr id="4" name="Image 0" descr="preencoded.png"/>
          <p:cNvPicPr>
            <a:picLocks noChangeAspect="1"/>
          </p:cNvPicPr>
          <p:nvPr/>
        </p:nvPicPr>
        <p:blipFill>
          <a:blip r:embed="rId3"/>
          <a:stretch>
            <a:fillRect/>
          </a:stretch>
        </p:blipFill>
        <p:spPr>
          <a:xfrm>
            <a:off x="8503920" y="45720"/>
            <a:ext cx="548640" cy="548640"/>
          </a:xfrm>
          <a:prstGeom prst="rect">
            <a:avLst/>
          </a:prstGeom>
        </p:spPr>
      </p:pic>
      <p:sp>
        <p:nvSpPr>
          <p:cNvPr id="5" name="Shape 2"/>
          <p:cNvSpPr/>
          <p:nvPr/>
        </p:nvSpPr>
        <p:spPr>
          <a:xfrm>
            <a:off x="365760" y="1143000"/>
            <a:ext cx="8412480" cy="1280160"/>
          </a:xfrm>
          <a:prstGeom prst="rect">
            <a:avLst/>
          </a:prstGeom>
          <a:solidFill>
            <a:srgbClr val="002A33"/>
          </a:solidFill>
          <a:ln w="12700">
            <a:solidFill>
              <a:srgbClr val="00D4FF"/>
            </a:solidFill>
            <a:prstDash val="solid"/>
          </a:ln>
          <a:effectLst>
            <a:outerShdw blurRad="101600" dist="38100" dir="8100000" algn="bl" rotWithShape="0">
              <a:srgbClr val="000000">
                <a:alpha val="35000"/>
              </a:srgbClr>
            </a:outerShdw>
          </a:effectLst>
        </p:spPr>
        <p:txBody>
          <a:bodyPr/>
          <a:lstStyle/>
          <a:p>
            <a:endParaRPr lang="fr-FR"/>
          </a:p>
        </p:txBody>
      </p:sp>
      <p:sp>
        <p:nvSpPr>
          <p:cNvPr id="6" name="Shape 3"/>
          <p:cNvSpPr/>
          <p:nvPr/>
        </p:nvSpPr>
        <p:spPr>
          <a:xfrm>
            <a:off x="365760" y="1143000"/>
            <a:ext cx="64008" cy="1280160"/>
          </a:xfrm>
          <a:prstGeom prst="rect">
            <a:avLst/>
          </a:prstGeom>
          <a:solidFill>
            <a:srgbClr val="00D4FF"/>
          </a:solidFill>
          <a:ln/>
        </p:spPr>
        <p:txBody>
          <a:bodyPr/>
          <a:lstStyle/>
          <a:p>
            <a:endParaRPr lang="fr-FR"/>
          </a:p>
        </p:txBody>
      </p:sp>
      <p:sp>
        <p:nvSpPr>
          <p:cNvPr id="7" name="Text 4"/>
          <p:cNvSpPr/>
          <p:nvPr/>
        </p:nvSpPr>
        <p:spPr>
          <a:xfrm>
            <a:off x="548640" y="1234440"/>
            <a:ext cx="8046720" cy="1097280"/>
          </a:xfrm>
          <a:prstGeom prst="rect">
            <a:avLst/>
          </a:prstGeom>
          <a:noFill/>
          <a:ln/>
        </p:spPr>
        <p:txBody>
          <a:bodyPr wrap="square" rtlCol="0" anchor="ctr"/>
          <a:lstStyle/>
          <a:p>
            <a:pPr marL="0" indent="0">
              <a:buNone/>
            </a:pPr>
            <a:r>
              <a:rPr lang="en-US" sz="1400" i="1" dirty="0">
                <a:solidFill>
                  <a:srgbClr val="E8F4FD"/>
                </a:solidFill>
                <a:latin typeface="Calibri" pitchFamily="34" charset="0"/>
                <a:ea typeface="Calibri" pitchFamily="34" charset="-122"/>
                <a:cs typeface="Calibri" pitchFamily="34" charset="-120"/>
              </a:rPr>
              <a:t>Les systèmes Linux modernes exigent des mécanismes de contrôle d'accès obligatoires (MAC) fins et auditables. TOMOYO Linux est un module LSM (Linux Security Module) permettant de définir des politiques de sécurité par processus, basées sur les chemins d'accès — offrant une granularité incomparable face aux menaces internes et aux exploits.</a:t>
            </a:r>
            <a:endParaRPr lang="en-US" sz="1400" dirty="0"/>
          </a:p>
        </p:txBody>
      </p:sp>
      <p:sp>
        <p:nvSpPr>
          <p:cNvPr id="8" name="Shape 5"/>
          <p:cNvSpPr/>
          <p:nvPr/>
        </p:nvSpPr>
        <p:spPr>
          <a:xfrm>
            <a:off x="365760" y="2606040"/>
            <a:ext cx="2651760" cy="2331720"/>
          </a:xfrm>
          <a:prstGeom prst="rect">
            <a:avLst/>
          </a:prstGeom>
          <a:solidFill>
            <a:srgbClr val="1C2B3A"/>
          </a:solidFill>
          <a:ln w="12700">
            <a:solidFill>
              <a:srgbClr val="00D4FF"/>
            </a:solidFill>
            <a:prstDash val="solid"/>
          </a:ln>
          <a:effectLst>
            <a:outerShdw blurRad="101600" dist="38100" dir="8100000" algn="bl" rotWithShape="0">
              <a:srgbClr val="000000">
                <a:alpha val="35000"/>
              </a:srgbClr>
            </a:outerShdw>
          </a:effectLst>
        </p:spPr>
        <p:txBody>
          <a:bodyPr/>
          <a:lstStyle/>
          <a:p>
            <a:endParaRPr lang="fr-FR"/>
          </a:p>
        </p:txBody>
      </p:sp>
      <p:pic>
        <p:nvPicPr>
          <p:cNvPr id="9" name="Image 1" descr="preencoded.png"/>
          <p:cNvPicPr>
            <a:picLocks noChangeAspect="1"/>
          </p:cNvPicPr>
          <p:nvPr/>
        </p:nvPicPr>
        <p:blipFill>
          <a:blip r:embed="rId4"/>
          <a:stretch>
            <a:fillRect/>
          </a:stretch>
        </p:blipFill>
        <p:spPr>
          <a:xfrm>
            <a:off x="1417320" y="2697480"/>
            <a:ext cx="548640" cy="548640"/>
          </a:xfrm>
          <a:prstGeom prst="rect">
            <a:avLst/>
          </a:prstGeom>
        </p:spPr>
      </p:pic>
      <p:sp>
        <p:nvSpPr>
          <p:cNvPr id="10" name="Text 6"/>
          <p:cNvSpPr/>
          <p:nvPr/>
        </p:nvSpPr>
        <p:spPr>
          <a:xfrm>
            <a:off x="457200" y="3291840"/>
            <a:ext cx="2468880" cy="411480"/>
          </a:xfrm>
          <a:prstGeom prst="rect">
            <a:avLst/>
          </a:prstGeom>
          <a:noFill/>
          <a:ln/>
        </p:spPr>
        <p:txBody>
          <a:bodyPr wrap="square" rtlCol="0" anchor="ctr"/>
          <a:lstStyle/>
          <a:p>
            <a:pPr marL="0" indent="0" algn="ctr">
              <a:buNone/>
            </a:pPr>
            <a:r>
              <a:rPr lang="en-US" sz="1300" b="1" dirty="0">
                <a:solidFill>
                  <a:srgbClr val="00D4FF"/>
                </a:solidFill>
                <a:latin typeface="Calibri" pitchFamily="34" charset="0"/>
                <a:ea typeface="Calibri" pitchFamily="34" charset="-122"/>
                <a:cs typeface="Calibri" pitchFamily="34" charset="-120"/>
              </a:rPr>
              <a:t>Sécurité par chemin</a:t>
            </a:r>
            <a:endParaRPr lang="en-US" sz="1300" dirty="0"/>
          </a:p>
        </p:txBody>
      </p:sp>
      <p:sp>
        <p:nvSpPr>
          <p:cNvPr id="11" name="Text 7"/>
          <p:cNvSpPr/>
          <p:nvPr/>
        </p:nvSpPr>
        <p:spPr>
          <a:xfrm>
            <a:off x="457200" y="3703320"/>
            <a:ext cx="2468880" cy="1097280"/>
          </a:xfrm>
          <a:prstGeom prst="rect">
            <a:avLst/>
          </a:prstGeom>
          <a:noFill/>
          <a:ln/>
        </p:spPr>
        <p:txBody>
          <a:bodyPr wrap="square" rtlCol="0" anchor="ctr"/>
          <a:lstStyle/>
          <a:p>
            <a:pPr marL="0" indent="0" algn="ctr">
              <a:buNone/>
            </a:pPr>
            <a:r>
              <a:rPr lang="en-US" sz="1100" dirty="0">
                <a:solidFill>
                  <a:srgbClr val="8BA3B5"/>
                </a:solidFill>
                <a:latin typeface="Calibri" pitchFamily="34" charset="0"/>
                <a:ea typeface="Calibri" pitchFamily="34" charset="-122"/>
                <a:cs typeface="Calibri" pitchFamily="34" charset="-120"/>
              </a:rPr>
              <a:t>TOMOYO contrôle les accès fichiers par chemin absolu, limitant chaque processus à son périmètre strict.</a:t>
            </a:r>
            <a:endParaRPr lang="en-US" sz="1100" dirty="0"/>
          </a:p>
        </p:txBody>
      </p:sp>
      <p:sp>
        <p:nvSpPr>
          <p:cNvPr id="12" name="Shape 8"/>
          <p:cNvSpPr/>
          <p:nvPr/>
        </p:nvSpPr>
        <p:spPr>
          <a:xfrm>
            <a:off x="3200400" y="2606040"/>
            <a:ext cx="2651760" cy="2331720"/>
          </a:xfrm>
          <a:prstGeom prst="rect">
            <a:avLst/>
          </a:prstGeom>
          <a:solidFill>
            <a:srgbClr val="1C2B3A"/>
          </a:solidFill>
          <a:ln w="12700">
            <a:solidFill>
              <a:srgbClr val="FFB300"/>
            </a:solidFill>
            <a:prstDash val="solid"/>
          </a:ln>
          <a:effectLst>
            <a:outerShdw blurRad="101600" dist="38100" dir="8100000" algn="bl" rotWithShape="0">
              <a:srgbClr val="000000">
                <a:alpha val="35000"/>
              </a:srgbClr>
            </a:outerShdw>
          </a:effectLst>
        </p:spPr>
        <p:txBody>
          <a:bodyPr/>
          <a:lstStyle/>
          <a:p>
            <a:endParaRPr lang="fr-FR"/>
          </a:p>
        </p:txBody>
      </p:sp>
      <p:pic>
        <p:nvPicPr>
          <p:cNvPr id="13" name="Image 2" descr="preencoded.png"/>
          <p:cNvPicPr>
            <a:picLocks noChangeAspect="1"/>
          </p:cNvPicPr>
          <p:nvPr/>
        </p:nvPicPr>
        <p:blipFill>
          <a:blip r:embed="rId5"/>
          <a:stretch>
            <a:fillRect/>
          </a:stretch>
        </p:blipFill>
        <p:spPr>
          <a:xfrm>
            <a:off x="4251960" y="2697480"/>
            <a:ext cx="548640" cy="548640"/>
          </a:xfrm>
          <a:prstGeom prst="rect">
            <a:avLst/>
          </a:prstGeom>
        </p:spPr>
      </p:pic>
      <p:sp>
        <p:nvSpPr>
          <p:cNvPr id="14" name="Text 9"/>
          <p:cNvSpPr/>
          <p:nvPr/>
        </p:nvSpPr>
        <p:spPr>
          <a:xfrm>
            <a:off x="3291840" y="3291840"/>
            <a:ext cx="2468880" cy="411480"/>
          </a:xfrm>
          <a:prstGeom prst="rect">
            <a:avLst/>
          </a:prstGeom>
          <a:noFill/>
          <a:ln/>
        </p:spPr>
        <p:txBody>
          <a:bodyPr wrap="square" rtlCol="0" anchor="ctr"/>
          <a:lstStyle/>
          <a:p>
            <a:pPr marL="0" indent="0" algn="ctr">
              <a:buNone/>
            </a:pPr>
            <a:r>
              <a:rPr lang="en-US" sz="1300" b="1" dirty="0">
                <a:solidFill>
                  <a:srgbClr val="FFB300"/>
                </a:solidFill>
                <a:latin typeface="Calibri" pitchFamily="34" charset="0"/>
                <a:ea typeface="Calibri" pitchFamily="34" charset="-122"/>
                <a:cs typeface="Calibri" pitchFamily="34" charset="-120"/>
              </a:rPr>
              <a:t>Interface Web Absente</a:t>
            </a:r>
            <a:endParaRPr lang="en-US" sz="1300" dirty="0"/>
          </a:p>
        </p:txBody>
      </p:sp>
      <p:sp>
        <p:nvSpPr>
          <p:cNvPr id="15" name="Text 10"/>
          <p:cNvSpPr/>
          <p:nvPr/>
        </p:nvSpPr>
        <p:spPr>
          <a:xfrm>
            <a:off x="3291840" y="3703320"/>
            <a:ext cx="2468880" cy="1097280"/>
          </a:xfrm>
          <a:prstGeom prst="rect">
            <a:avLst/>
          </a:prstGeom>
          <a:noFill/>
          <a:ln/>
        </p:spPr>
        <p:txBody>
          <a:bodyPr wrap="square" rtlCol="0" anchor="ctr"/>
          <a:lstStyle/>
          <a:p>
            <a:pPr marL="0" indent="0" algn="ctr">
              <a:buNone/>
            </a:pPr>
            <a:r>
              <a:rPr lang="en-US" sz="1100" dirty="0">
                <a:solidFill>
                  <a:srgbClr val="8BA3B5"/>
                </a:solidFill>
                <a:latin typeface="Calibri" pitchFamily="34" charset="0"/>
                <a:ea typeface="Calibri" pitchFamily="34" charset="-122"/>
                <a:cs typeface="Calibri" pitchFamily="34" charset="-120"/>
              </a:rPr>
              <a:t>Aucune interface graphique officielle n'existe pour gérer les politiques TOMOYO — administration CLI complexe uniquement.</a:t>
            </a:r>
            <a:endParaRPr lang="en-US" sz="1100" dirty="0"/>
          </a:p>
        </p:txBody>
      </p:sp>
      <p:sp>
        <p:nvSpPr>
          <p:cNvPr id="16" name="Shape 11"/>
          <p:cNvSpPr/>
          <p:nvPr/>
        </p:nvSpPr>
        <p:spPr>
          <a:xfrm>
            <a:off x="6035040" y="2606040"/>
            <a:ext cx="2651760" cy="2331720"/>
          </a:xfrm>
          <a:prstGeom prst="rect">
            <a:avLst/>
          </a:prstGeom>
          <a:solidFill>
            <a:srgbClr val="1C2B3A"/>
          </a:solidFill>
          <a:ln w="12700">
            <a:solidFill>
              <a:srgbClr val="00E676"/>
            </a:solidFill>
            <a:prstDash val="solid"/>
          </a:ln>
          <a:effectLst>
            <a:outerShdw blurRad="101600" dist="38100" dir="8100000" algn="bl" rotWithShape="0">
              <a:srgbClr val="000000">
                <a:alpha val="35000"/>
              </a:srgbClr>
            </a:outerShdw>
          </a:effectLst>
        </p:spPr>
        <p:txBody>
          <a:bodyPr/>
          <a:lstStyle/>
          <a:p>
            <a:endParaRPr lang="fr-FR"/>
          </a:p>
        </p:txBody>
      </p:sp>
      <p:pic>
        <p:nvPicPr>
          <p:cNvPr id="17" name="Image 3" descr="preencoded.png"/>
          <p:cNvPicPr>
            <a:picLocks noChangeAspect="1"/>
          </p:cNvPicPr>
          <p:nvPr/>
        </p:nvPicPr>
        <p:blipFill>
          <a:blip r:embed="rId6"/>
          <a:stretch>
            <a:fillRect/>
          </a:stretch>
        </p:blipFill>
        <p:spPr>
          <a:xfrm>
            <a:off x="7086600" y="2697480"/>
            <a:ext cx="548640" cy="548640"/>
          </a:xfrm>
          <a:prstGeom prst="rect">
            <a:avLst/>
          </a:prstGeom>
        </p:spPr>
      </p:pic>
      <p:sp>
        <p:nvSpPr>
          <p:cNvPr id="18" name="Text 12"/>
          <p:cNvSpPr/>
          <p:nvPr/>
        </p:nvSpPr>
        <p:spPr>
          <a:xfrm>
            <a:off x="6126480" y="3291840"/>
            <a:ext cx="2468880" cy="411480"/>
          </a:xfrm>
          <a:prstGeom prst="rect">
            <a:avLst/>
          </a:prstGeom>
          <a:noFill/>
          <a:ln/>
        </p:spPr>
        <p:txBody>
          <a:bodyPr wrap="square" rtlCol="0" anchor="ctr"/>
          <a:lstStyle/>
          <a:p>
            <a:pPr marL="0" indent="0" algn="ctr">
              <a:buNone/>
            </a:pPr>
            <a:r>
              <a:rPr lang="en-US" sz="1300" b="1" dirty="0">
                <a:solidFill>
                  <a:srgbClr val="00E676"/>
                </a:solidFill>
                <a:latin typeface="Calibri" pitchFamily="34" charset="0"/>
                <a:ea typeface="Calibri" pitchFamily="34" charset="-122"/>
                <a:cs typeface="Calibri" pitchFamily="34" charset="-120"/>
              </a:rPr>
              <a:t>Enjeu Pédagogique</a:t>
            </a:r>
            <a:endParaRPr lang="en-US" sz="1300" dirty="0"/>
          </a:p>
        </p:txBody>
      </p:sp>
      <p:sp>
        <p:nvSpPr>
          <p:cNvPr id="19" name="Text 13"/>
          <p:cNvSpPr/>
          <p:nvPr/>
        </p:nvSpPr>
        <p:spPr>
          <a:xfrm>
            <a:off x="6126480" y="3703320"/>
            <a:ext cx="2468880" cy="1097280"/>
          </a:xfrm>
          <a:prstGeom prst="rect">
            <a:avLst/>
          </a:prstGeom>
          <a:noFill/>
          <a:ln/>
        </p:spPr>
        <p:txBody>
          <a:bodyPr wrap="square" rtlCol="0" anchor="ctr"/>
          <a:lstStyle/>
          <a:p>
            <a:pPr marL="0" indent="0" algn="ctr">
              <a:buNone/>
            </a:pPr>
            <a:r>
              <a:rPr lang="en-US" sz="1100" dirty="0">
                <a:solidFill>
                  <a:srgbClr val="8BA3B5"/>
                </a:solidFill>
                <a:latin typeface="Calibri" pitchFamily="34" charset="0"/>
                <a:ea typeface="Calibri" pitchFamily="34" charset="-122"/>
                <a:cs typeface="Calibri" pitchFamily="34" charset="-120"/>
              </a:rPr>
              <a:t>Ce projet allie sécurité opérationnelle et démonstration Attack/Defense pour illustrer la valeur du confinement applicatif.</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62032"/>
          </a:solidFill>
          <a:ln/>
        </p:spPr>
        <p:txBody>
          <a:bodyPr/>
          <a:lstStyle/>
          <a:p>
            <a:endParaRPr lang="fr-FR"/>
          </a:p>
        </p:txBody>
      </p:sp>
      <p:sp>
        <p:nvSpPr>
          <p:cNvPr id="3" name="Text 1"/>
          <p:cNvSpPr/>
          <p:nvPr/>
        </p:nvSpPr>
        <p:spPr>
          <a:xfrm>
            <a:off x="365760" y="228600"/>
            <a:ext cx="822960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II. CONTEXTE &amp; PROBLÉMATIQUE</a:t>
            </a:r>
            <a:endParaRPr lang="en-US" sz="2200" dirty="0"/>
          </a:p>
        </p:txBody>
      </p:sp>
      <p:sp>
        <p:nvSpPr>
          <p:cNvPr id="4" name="Shape 2"/>
          <p:cNvSpPr/>
          <p:nvPr/>
        </p:nvSpPr>
        <p:spPr>
          <a:xfrm>
            <a:off x="365760" y="1051560"/>
            <a:ext cx="4114800" cy="3840480"/>
          </a:xfrm>
          <a:prstGeom prst="rect">
            <a:avLst/>
          </a:prstGeom>
          <a:solidFill>
            <a:srgbClr val="1C2B3A"/>
          </a:solidFill>
          <a:ln w="12700">
            <a:solidFill>
              <a:srgbClr val="0099BB"/>
            </a:solidFill>
            <a:prstDash val="solid"/>
          </a:ln>
          <a:effectLst>
            <a:outerShdw blurRad="101600" dist="38100" dir="8100000" algn="bl" rotWithShape="0">
              <a:srgbClr val="000000">
                <a:alpha val="35000"/>
              </a:srgbClr>
            </a:outerShdw>
          </a:effectLst>
        </p:spPr>
        <p:txBody>
          <a:bodyPr/>
          <a:lstStyle/>
          <a:p>
            <a:endParaRPr lang="fr-FR"/>
          </a:p>
        </p:txBody>
      </p:sp>
      <p:sp>
        <p:nvSpPr>
          <p:cNvPr id="5" name="Text 3"/>
          <p:cNvSpPr/>
          <p:nvPr/>
        </p:nvSpPr>
        <p:spPr>
          <a:xfrm>
            <a:off x="502920" y="1143000"/>
            <a:ext cx="3840480" cy="365760"/>
          </a:xfrm>
          <a:prstGeom prst="rect">
            <a:avLst/>
          </a:prstGeom>
          <a:noFill/>
          <a:ln/>
        </p:spPr>
        <p:txBody>
          <a:bodyPr wrap="square" rtlCol="0" anchor="ctr"/>
          <a:lstStyle/>
          <a:p>
            <a:pPr marL="0" indent="0">
              <a:buNone/>
            </a:pPr>
            <a:r>
              <a:rPr lang="en-US" sz="1400" b="1" dirty="0">
                <a:solidFill>
                  <a:srgbClr val="00D4FF"/>
                </a:solidFill>
                <a:latin typeface="Calibri" pitchFamily="34" charset="0"/>
                <a:ea typeface="Calibri" pitchFamily="34" charset="-122"/>
                <a:cs typeface="Calibri" pitchFamily="34" charset="-120"/>
              </a:rPr>
              <a:t>CONTEXTE</a:t>
            </a:r>
            <a:endParaRPr lang="en-US" sz="1400" dirty="0"/>
          </a:p>
        </p:txBody>
      </p:sp>
      <p:sp>
        <p:nvSpPr>
          <p:cNvPr id="6" name="Shape 4"/>
          <p:cNvSpPr/>
          <p:nvPr/>
        </p:nvSpPr>
        <p:spPr>
          <a:xfrm>
            <a:off x="502920" y="1508760"/>
            <a:ext cx="3749040" cy="27432"/>
          </a:xfrm>
          <a:prstGeom prst="rect">
            <a:avLst/>
          </a:prstGeom>
          <a:solidFill>
            <a:srgbClr val="0099BB"/>
          </a:solidFill>
          <a:ln/>
        </p:spPr>
        <p:txBody>
          <a:bodyPr/>
          <a:lstStyle/>
          <a:p>
            <a:endParaRPr lang="fr-FR"/>
          </a:p>
        </p:txBody>
      </p:sp>
      <p:pic>
        <p:nvPicPr>
          <p:cNvPr id="7" name="Image 0" descr="preencoded.png"/>
          <p:cNvPicPr>
            <a:picLocks noChangeAspect="1"/>
          </p:cNvPicPr>
          <p:nvPr/>
        </p:nvPicPr>
        <p:blipFill>
          <a:blip r:embed="rId3"/>
          <a:stretch>
            <a:fillRect/>
          </a:stretch>
        </p:blipFill>
        <p:spPr>
          <a:xfrm>
            <a:off x="548640" y="1645920"/>
            <a:ext cx="228600" cy="228600"/>
          </a:xfrm>
          <a:prstGeom prst="rect">
            <a:avLst/>
          </a:prstGeom>
        </p:spPr>
      </p:pic>
      <p:sp>
        <p:nvSpPr>
          <p:cNvPr id="8" name="Text 5"/>
          <p:cNvSpPr/>
          <p:nvPr/>
        </p:nvSpPr>
        <p:spPr>
          <a:xfrm>
            <a:off x="868680" y="1627632"/>
            <a:ext cx="3474720" cy="347472"/>
          </a:xfrm>
          <a:prstGeom prst="rect">
            <a:avLst/>
          </a:prstGeom>
          <a:noFill/>
          <a:ln/>
        </p:spPr>
        <p:txBody>
          <a:bodyPr wrap="square" rtlCol="0" anchor="ctr"/>
          <a:lstStyle/>
          <a:p>
            <a:pPr marL="0" indent="0">
              <a:buNone/>
            </a:pPr>
            <a:r>
              <a:rPr lang="en-US" sz="1150" dirty="0">
                <a:solidFill>
                  <a:srgbClr val="E8F4FD"/>
                </a:solidFill>
                <a:latin typeface="Calibri" pitchFamily="34" charset="0"/>
                <a:ea typeface="Calibri" pitchFamily="34" charset="-122"/>
                <a:cs typeface="Calibri" pitchFamily="34" charset="-120"/>
              </a:rPr>
              <a:t>TOMOYO Linux est un LSM intégré au noyau Linux depuis la version 2.6.30</a:t>
            </a:r>
            <a:endParaRPr lang="en-US" sz="1150" dirty="0"/>
          </a:p>
        </p:txBody>
      </p:sp>
      <p:pic>
        <p:nvPicPr>
          <p:cNvPr id="9" name="Image 1" descr="preencoded.png"/>
          <p:cNvPicPr>
            <a:picLocks noChangeAspect="1"/>
          </p:cNvPicPr>
          <p:nvPr/>
        </p:nvPicPr>
        <p:blipFill>
          <a:blip r:embed="rId3"/>
          <a:stretch>
            <a:fillRect/>
          </a:stretch>
        </p:blipFill>
        <p:spPr>
          <a:xfrm>
            <a:off x="548640" y="2103120"/>
            <a:ext cx="228600" cy="228600"/>
          </a:xfrm>
          <a:prstGeom prst="rect">
            <a:avLst/>
          </a:prstGeom>
        </p:spPr>
      </p:pic>
      <p:sp>
        <p:nvSpPr>
          <p:cNvPr id="10" name="Text 6"/>
          <p:cNvSpPr/>
          <p:nvPr/>
        </p:nvSpPr>
        <p:spPr>
          <a:xfrm>
            <a:off x="868680" y="2084832"/>
            <a:ext cx="3474720" cy="347472"/>
          </a:xfrm>
          <a:prstGeom prst="rect">
            <a:avLst/>
          </a:prstGeom>
          <a:noFill/>
          <a:ln/>
        </p:spPr>
        <p:txBody>
          <a:bodyPr wrap="square" rtlCol="0" anchor="ctr"/>
          <a:lstStyle/>
          <a:p>
            <a:pPr marL="0" indent="0">
              <a:buNone/>
            </a:pPr>
            <a:r>
              <a:rPr lang="en-US" sz="1150" dirty="0">
                <a:solidFill>
                  <a:srgbClr val="E8F4FD"/>
                </a:solidFill>
                <a:latin typeface="Calibri" pitchFamily="34" charset="0"/>
                <a:ea typeface="Calibri" pitchFamily="34" charset="-122"/>
                <a:cs typeface="Calibri" pitchFamily="34" charset="-120"/>
              </a:rPr>
              <a:t>Définit des politiques de sécurité basées sur le nom de chemin (pathname-based MAC)</a:t>
            </a:r>
            <a:endParaRPr lang="en-US" sz="1150" dirty="0"/>
          </a:p>
        </p:txBody>
      </p:sp>
      <p:pic>
        <p:nvPicPr>
          <p:cNvPr id="11" name="Image 2" descr="preencoded.png"/>
          <p:cNvPicPr>
            <a:picLocks noChangeAspect="1"/>
          </p:cNvPicPr>
          <p:nvPr/>
        </p:nvPicPr>
        <p:blipFill>
          <a:blip r:embed="rId3"/>
          <a:stretch>
            <a:fillRect/>
          </a:stretch>
        </p:blipFill>
        <p:spPr>
          <a:xfrm>
            <a:off x="548640" y="2560320"/>
            <a:ext cx="228600" cy="228600"/>
          </a:xfrm>
          <a:prstGeom prst="rect">
            <a:avLst/>
          </a:prstGeom>
        </p:spPr>
      </p:pic>
      <p:sp>
        <p:nvSpPr>
          <p:cNvPr id="12" name="Text 7"/>
          <p:cNvSpPr/>
          <p:nvPr/>
        </p:nvSpPr>
        <p:spPr>
          <a:xfrm>
            <a:off x="868680" y="2542032"/>
            <a:ext cx="3474720" cy="347472"/>
          </a:xfrm>
          <a:prstGeom prst="rect">
            <a:avLst/>
          </a:prstGeom>
          <a:noFill/>
          <a:ln/>
        </p:spPr>
        <p:txBody>
          <a:bodyPr wrap="square" rtlCol="0" anchor="ctr"/>
          <a:lstStyle/>
          <a:p>
            <a:pPr marL="0" indent="0">
              <a:buNone/>
            </a:pPr>
            <a:r>
              <a:rPr lang="en-US" sz="1150" dirty="0">
                <a:solidFill>
                  <a:srgbClr val="E8F4FD"/>
                </a:solidFill>
                <a:latin typeface="Calibri" pitchFamily="34" charset="0"/>
                <a:ea typeface="Calibri" pitchFamily="34" charset="-122"/>
                <a:cs typeface="Calibri" pitchFamily="34" charset="-120"/>
              </a:rPr>
              <a:t>Mode Apprentissage : capture automatique des accès légitimes</a:t>
            </a:r>
            <a:endParaRPr lang="en-US" sz="1150" dirty="0"/>
          </a:p>
        </p:txBody>
      </p:sp>
      <p:pic>
        <p:nvPicPr>
          <p:cNvPr id="13" name="Image 3" descr="preencoded.png"/>
          <p:cNvPicPr>
            <a:picLocks noChangeAspect="1"/>
          </p:cNvPicPr>
          <p:nvPr/>
        </p:nvPicPr>
        <p:blipFill>
          <a:blip r:embed="rId3"/>
          <a:stretch>
            <a:fillRect/>
          </a:stretch>
        </p:blipFill>
        <p:spPr>
          <a:xfrm>
            <a:off x="548640" y="3017520"/>
            <a:ext cx="228600" cy="228600"/>
          </a:xfrm>
          <a:prstGeom prst="rect">
            <a:avLst/>
          </a:prstGeom>
        </p:spPr>
      </p:pic>
      <p:sp>
        <p:nvSpPr>
          <p:cNvPr id="14" name="Text 8"/>
          <p:cNvSpPr/>
          <p:nvPr/>
        </p:nvSpPr>
        <p:spPr>
          <a:xfrm>
            <a:off x="868680" y="2999232"/>
            <a:ext cx="3474720" cy="347472"/>
          </a:xfrm>
          <a:prstGeom prst="rect">
            <a:avLst/>
          </a:prstGeom>
          <a:noFill/>
          <a:ln/>
        </p:spPr>
        <p:txBody>
          <a:bodyPr wrap="square" rtlCol="0" anchor="ctr"/>
          <a:lstStyle/>
          <a:p>
            <a:pPr marL="0" indent="0">
              <a:buNone/>
            </a:pPr>
            <a:r>
              <a:rPr lang="en-US" sz="1150" dirty="0">
                <a:solidFill>
                  <a:srgbClr val="E8F4FD"/>
                </a:solidFill>
                <a:latin typeface="Calibri" pitchFamily="34" charset="0"/>
                <a:ea typeface="Calibri" pitchFamily="34" charset="-122"/>
                <a:cs typeface="Calibri" pitchFamily="34" charset="-120"/>
              </a:rPr>
              <a:t>Mode Enforcement : bloque tout accès non déclaré dans la politique</a:t>
            </a:r>
            <a:endParaRPr lang="en-US" sz="1150" dirty="0"/>
          </a:p>
        </p:txBody>
      </p:sp>
      <p:pic>
        <p:nvPicPr>
          <p:cNvPr id="15" name="Image 4" descr="preencoded.png"/>
          <p:cNvPicPr>
            <a:picLocks noChangeAspect="1"/>
          </p:cNvPicPr>
          <p:nvPr/>
        </p:nvPicPr>
        <p:blipFill>
          <a:blip r:embed="rId3"/>
          <a:stretch>
            <a:fillRect/>
          </a:stretch>
        </p:blipFill>
        <p:spPr>
          <a:xfrm>
            <a:off x="548640" y="3474720"/>
            <a:ext cx="228600" cy="228600"/>
          </a:xfrm>
          <a:prstGeom prst="rect">
            <a:avLst/>
          </a:prstGeom>
        </p:spPr>
      </p:pic>
      <p:sp>
        <p:nvSpPr>
          <p:cNvPr id="16" name="Text 9"/>
          <p:cNvSpPr/>
          <p:nvPr/>
        </p:nvSpPr>
        <p:spPr>
          <a:xfrm>
            <a:off x="868680" y="3456432"/>
            <a:ext cx="3474720" cy="347472"/>
          </a:xfrm>
          <a:prstGeom prst="rect">
            <a:avLst/>
          </a:prstGeom>
          <a:noFill/>
          <a:ln/>
        </p:spPr>
        <p:txBody>
          <a:bodyPr wrap="square" rtlCol="0" anchor="ctr"/>
          <a:lstStyle/>
          <a:p>
            <a:pPr marL="0" indent="0">
              <a:buNone/>
            </a:pPr>
            <a:r>
              <a:rPr lang="en-US" sz="1150" dirty="0">
                <a:solidFill>
                  <a:srgbClr val="E8F4FD"/>
                </a:solidFill>
                <a:latin typeface="Calibri" pitchFamily="34" charset="0"/>
                <a:ea typeface="Calibri" pitchFamily="34" charset="-122"/>
                <a:cs typeface="Calibri" pitchFamily="34" charset="-120"/>
              </a:rPr>
              <a:t>Administration actuelle : CLI uniquement — fichiers texte complexes à gérer</a:t>
            </a:r>
            <a:endParaRPr lang="en-US" sz="1150" dirty="0"/>
          </a:p>
        </p:txBody>
      </p:sp>
      <p:sp>
        <p:nvSpPr>
          <p:cNvPr id="17" name="Shape 10"/>
          <p:cNvSpPr/>
          <p:nvPr/>
        </p:nvSpPr>
        <p:spPr>
          <a:xfrm>
            <a:off x="4663440" y="1051560"/>
            <a:ext cx="4114800" cy="3840480"/>
          </a:xfrm>
          <a:prstGeom prst="rect">
            <a:avLst/>
          </a:prstGeom>
          <a:solidFill>
            <a:srgbClr val="2A0808"/>
          </a:solidFill>
          <a:ln w="12700">
            <a:solidFill>
              <a:srgbClr val="FF3B3B"/>
            </a:solidFill>
            <a:prstDash val="solid"/>
          </a:ln>
          <a:effectLst>
            <a:outerShdw blurRad="101600" dist="38100" dir="8100000" algn="bl" rotWithShape="0">
              <a:srgbClr val="000000">
                <a:alpha val="35000"/>
              </a:srgbClr>
            </a:outerShdw>
          </a:effectLst>
        </p:spPr>
        <p:txBody>
          <a:bodyPr/>
          <a:lstStyle/>
          <a:p>
            <a:endParaRPr lang="fr-FR"/>
          </a:p>
        </p:txBody>
      </p:sp>
      <p:sp>
        <p:nvSpPr>
          <p:cNvPr id="18" name="Text 11"/>
          <p:cNvSpPr/>
          <p:nvPr/>
        </p:nvSpPr>
        <p:spPr>
          <a:xfrm>
            <a:off x="4800600" y="1143000"/>
            <a:ext cx="3840480" cy="365760"/>
          </a:xfrm>
          <a:prstGeom prst="rect">
            <a:avLst/>
          </a:prstGeom>
          <a:noFill/>
          <a:ln/>
        </p:spPr>
        <p:txBody>
          <a:bodyPr wrap="square" rtlCol="0" anchor="ctr"/>
          <a:lstStyle/>
          <a:p>
            <a:pPr marL="0" indent="0">
              <a:buNone/>
            </a:pPr>
            <a:r>
              <a:rPr lang="en-US" sz="1400" b="1" dirty="0">
                <a:solidFill>
                  <a:srgbClr val="FF3B3B"/>
                </a:solidFill>
                <a:latin typeface="Calibri" pitchFamily="34" charset="0"/>
                <a:ea typeface="Calibri" pitchFamily="34" charset="-122"/>
                <a:cs typeface="Calibri" pitchFamily="34" charset="-120"/>
              </a:rPr>
              <a:t>PROBLÉMATIQUE</a:t>
            </a:r>
            <a:endParaRPr lang="en-US" sz="1400" dirty="0"/>
          </a:p>
        </p:txBody>
      </p:sp>
      <p:sp>
        <p:nvSpPr>
          <p:cNvPr id="19" name="Shape 12"/>
          <p:cNvSpPr/>
          <p:nvPr/>
        </p:nvSpPr>
        <p:spPr>
          <a:xfrm>
            <a:off x="4800600" y="1508760"/>
            <a:ext cx="3749040" cy="27432"/>
          </a:xfrm>
          <a:prstGeom prst="rect">
            <a:avLst/>
          </a:prstGeom>
          <a:solidFill>
            <a:srgbClr val="CC1111"/>
          </a:solidFill>
          <a:ln/>
        </p:spPr>
        <p:txBody>
          <a:bodyPr/>
          <a:lstStyle/>
          <a:p>
            <a:endParaRPr lang="fr-FR"/>
          </a:p>
        </p:txBody>
      </p:sp>
      <p:sp>
        <p:nvSpPr>
          <p:cNvPr id="20" name="Text 13"/>
          <p:cNvSpPr/>
          <p:nvPr/>
        </p:nvSpPr>
        <p:spPr>
          <a:xfrm>
            <a:off x="5029200" y="2117196"/>
            <a:ext cx="3611880" cy="1440181"/>
          </a:xfrm>
          <a:prstGeom prst="rect">
            <a:avLst/>
          </a:prstGeom>
          <a:noFill/>
          <a:ln/>
        </p:spPr>
        <p:txBody>
          <a:bodyPr wrap="square" rtlCol="0" anchor="ctr"/>
          <a:lstStyle/>
          <a:p>
            <a:pPr marL="0" indent="0">
              <a:buNone/>
            </a:pPr>
            <a:r>
              <a:rPr lang="en-US" sz="1150" i="1" dirty="0">
                <a:solidFill>
                  <a:srgbClr val="8BA3B5"/>
                </a:solidFill>
                <a:latin typeface="Calibri" pitchFamily="34" charset="0"/>
                <a:ea typeface="Calibri" pitchFamily="34" charset="-122"/>
                <a:cs typeface="Calibri" pitchFamily="34" charset="-120"/>
              </a:rPr>
              <a:t>Comment simplifier la gestion et la </a:t>
            </a:r>
            <a:r>
              <a:rPr lang="en-US" sz="1150" i="1" dirty="0" err="1">
                <a:solidFill>
                  <a:srgbClr val="8BA3B5"/>
                </a:solidFill>
                <a:latin typeface="Calibri" pitchFamily="34" charset="0"/>
                <a:ea typeface="Calibri" pitchFamily="34" charset="-122"/>
                <a:cs typeface="Calibri" pitchFamily="34" charset="-120"/>
              </a:rPr>
              <a:t>visualisation</a:t>
            </a:r>
            <a:r>
              <a:rPr lang="en-US" sz="1150" i="1" dirty="0">
                <a:solidFill>
                  <a:srgbClr val="8BA3B5"/>
                </a:solidFill>
                <a:latin typeface="Calibri" pitchFamily="34" charset="0"/>
                <a:ea typeface="Calibri" pitchFamily="34" charset="-122"/>
                <a:cs typeface="Calibri" pitchFamily="34" charset="-120"/>
              </a:rPr>
              <a:t> des politiques TOMOYO via </a:t>
            </a:r>
            <a:r>
              <a:rPr lang="en-US" sz="1150" i="1" dirty="0" err="1">
                <a:solidFill>
                  <a:srgbClr val="8BA3B5"/>
                </a:solidFill>
                <a:latin typeface="Calibri" pitchFamily="34" charset="0"/>
                <a:ea typeface="Calibri" pitchFamily="34" charset="-122"/>
                <a:cs typeface="Calibri" pitchFamily="34" charset="-120"/>
              </a:rPr>
              <a:t>une</a:t>
            </a:r>
            <a:r>
              <a:rPr lang="en-US" sz="1150" i="1" dirty="0">
                <a:solidFill>
                  <a:srgbClr val="8BA3B5"/>
                </a:solidFill>
                <a:latin typeface="Calibri" pitchFamily="34" charset="0"/>
                <a:ea typeface="Calibri" pitchFamily="34" charset="-122"/>
                <a:cs typeface="Calibri" pitchFamily="34" charset="-120"/>
              </a:rPr>
              <a:t> </a:t>
            </a:r>
            <a:r>
              <a:rPr lang="en-US" sz="1150" i="1" dirty="0" err="1">
                <a:solidFill>
                  <a:srgbClr val="8BA3B5"/>
                </a:solidFill>
                <a:latin typeface="Calibri" pitchFamily="34" charset="0"/>
                <a:ea typeface="Calibri" pitchFamily="34" charset="-122"/>
                <a:cs typeface="Calibri" pitchFamily="34" charset="-120"/>
              </a:rPr>
              <a:t>plateforme</a:t>
            </a:r>
            <a:r>
              <a:rPr lang="en-US" sz="1150" i="1" dirty="0">
                <a:solidFill>
                  <a:srgbClr val="8BA3B5"/>
                </a:solidFill>
                <a:latin typeface="Calibri" pitchFamily="34" charset="0"/>
                <a:ea typeface="Calibri" pitchFamily="34" charset="-122"/>
                <a:cs typeface="Calibri" pitchFamily="34" charset="-120"/>
              </a:rPr>
              <a:t> web ?</a:t>
            </a:r>
            <a:endParaRPr lang="en-US" sz="1150" dirty="0"/>
          </a:p>
        </p:txBody>
      </p:sp>
      <p:pic>
        <p:nvPicPr>
          <p:cNvPr id="23" name="Image 6" descr="preencoded.png"/>
          <p:cNvPicPr>
            <a:picLocks noChangeAspect="1"/>
          </p:cNvPicPr>
          <p:nvPr/>
        </p:nvPicPr>
        <p:blipFill>
          <a:blip r:embed="rId4"/>
          <a:stretch>
            <a:fillRect/>
          </a:stretch>
        </p:blipFill>
        <p:spPr>
          <a:xfrm>
            <a:off x="4800600" y="2697480"/>
            <a:ext cx="228600" cy="228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62032"/>
          </a:solidFill>
          <a:ln/>
        </p:spPr>
        <p:txBody>
          <a:bodyPr/>
          <a:lstStyle/>
          <a:p>
            <a:endParaRPr lang="fr-FR"/>
          </a:p>
        </p:txBody>
      </p:sp>
      <p:sp>
        <p:nvSpPr>
          <p:cNvPr id="3" name="Text 1"/>
          <p:cNvSpPr/>
          <p:nvPr/>
        </p:nvSpPr>
        <p:spPr>
          <a:xfrm>
            <a:off x="365760" y="228600"/>
            <a:ext cx="822960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III. SOLUTION PROPOSÉE</a:t>
            </a:r>
            <a:endParaRPr lang="en-US" sz="2200" dirty="0"/>
          </a:p>
        </p:txBody>
      </p:sp>
      <p:sp>
        <p:nvSpPr>
          <p:cNvPr id="4" name="Shape 2"/>
          <p:cNvSpPr/>
          <p:nvPr/>
        </p:nvSpPr>
        <p:spPr>
          <a:xfrm>
            <a:off x="365760" y="1051560"/>
            <a:ext cx="8275320" cy="1338072"/>
          </a:xfrm>
          <a:prstGeom prst="rect">
            <a:avLst/>
          </a:prstGeom>
          <a:solidFill>
            <a:srgbClr val="002A33"/>
          </a:solidFill>
          <a:ln w="12700">
            <a:solidFill>
              <a:srgbClr val="00D4FF"/>
            </a:solidFill>
            <a:prstDash val="solid"/>
          </a:ln>
          <a:effectLst>
            <a:outerShdw blurRad="101600" dist="38100" dir="8100000" algn="bl" rotWithShape="0">
              <a:srgbClr val="000000">
                <a:alpha val="35000"/>
              </a:srgbClr>
            </a:outerShdw>
          </a:effectLst>
        </p:spPr>
        <p:txBody>
          <a:bodyPr/>
          <a:lstStyle/>
          <a:p>
            <a:endParaRPr lang="fr-FR"/>
          </a:p>
        </p:txBody>
      </p:sp>
      <p:sp>
        <p:nvSpPr>
          <p:cNvPr id="5" name="Shape 3"/>
          <p:cNvSpPr/>
          <p:nvPr/>
        </p:nvSpPr>
        <p:spPr>
          <a:xfrm>
            <a:off x="365760" y="1051560"/>
            <a:ext cx="64008" cy="1005840"/>
          </a:xfrm>
          <a:prstGeom prst="rect">
            <a:avLst/>
          </a:prstGeom>
          <a:solidFill>
            <a:srgbClr val="00D4FF"/>
          </a:solidFill>
          <a:ln/>
        </p:spPr>
        <p:txBody>
          <a:bodyPr/>
          <a:lstStyle/>
          <a:p>
            <a:endParaRPr lang="fr-FR"/>
          </a:p>
        </p:txBody>
      </p:sp>
      <p:sp>
        <p:nvSpPr>
          <p:cNvPr id="6" name="Text 4"/>
          <p:cNvSpPr/>
          <p:nvPr/>
        </p:nvSpPr>
        <p:spPr>
          <a:xfrm>
            <a:off x="548640" y="1115568"/>
            <a:ext cx="8092440" cy="868680"/>
          </a:xfrm>
          <a:prstGeom prst="rect">
            <a:avLst/>
          </a:prstGeom>
          <a:noFill/>
          <a:ln/>
        </p:spPr>
        <p:txBody>
          <a:bodyPr wrap="square" rtlCol="0" anchor="ctr"/>
          <a:lstStyle/>
          <a:p>
            <a:pPr marL="0" indent="0">
              <a:buNone/>
            </a:pPr>
            <a:r>
              <a:rPr lang="en-US" sz="1300" dirty="0">
                <a:solidFill>
                  <a:srgbClr val="E8F4FD"/>
                </a:solidFill>
                <a:latin typeface="Calibri" pitchFamily="34" charset="0"/>
                <a:ea typeface="Calibri" pitchFamily="34" charset="-122"/>
                <a:cs typeface="Calibri" pitchFamily="34" charset="-120"/>
              </a:rPr>
              <a:t>Développer TomoyoManager — une plateforme web complète offrant une interface graphique intuitive pour </a:t>
            </a:r>
            <a:r>
              <a:rPr lang="en-US" sz="1300" dirty="0" err="1">
                <a:solidFill>
                  <a:srgbClr val="E8F4FD"/>
                </a:solidFill>
                <a:latin typeface="Calibri" pitchFamily="34" charset="0"/>
                <a:ea typeface="Calibri" pitchFamily="34" charset="-122"/>
                <a:cs typeface="Calibri" pitchFamily="34" charset="-120"/>
              </a:rPr>
              <a:t>faciliter</a:t>
            </a:r>
            <a:r>
              <a:rPr lang="en-US" sz="1300" dirty="0">
                <a:solidFill>
                  <a:srgbClr val="E8F4FD"/>
                </a:solidFill>
                <a:latin typeface="Calibri" pitchFamily="34" charset="0"/>
                <a:ea typeface="Calibri" pitchFamily="34" charset="-122"/>
                <a:cs typeface="Calibri" pitchFamily="34" charset="-120"/>
              </a:rPr>
              <a:t> et simplifier </a:t>
            </a:r>
            <a:r>
              <a:rPr lang="en-US" sz="1300" dirty="0" err="1">
                <a:solidFill>
                  <a:srgbClr val="E8F4FD"/>
                </a:solidFill>
                <a:latin typeface="Calibri" pitchFamily="34" charset="0"/>
                <a:ea typeface="Calibri" pitchFamily="34" charset="-122"/>
                <a:cs typeface="Calibri" pitchFamily="34" charset="-120"/>
              </a:rPr>
              <a:t>l’administration</a:t>
            </a:r>
            <a:r>
              <a:rPr lang="en-US" sz="1300" dirty="0">
                <a:solidFill>
                  <a:srgbClr val="E8F4FD"/>
                </a:solidFill>
                <a:latin typeface="Calibri" pitchFamily="34" charset="0"/>
                <a:ea typeface="Calibri" pitchFamily="34" charset="-122"/>
                <a:cs typeface="Calibri" pitchFamily="34" charset="-120"/>
              </a:rPr>
              <a:t> des politiques TOMOYO Linux.</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62032"/>
          </a:solidFill>
          <a:ln/>
        </p:spPr>
        <p:txBody>
          <a:bodyPr/>
          <a:lstStyle/>
          <a:p>
            <a:endParaRPr lang="fr-FR"/>
          </a:p>
        </p:txBody>
      </p:sp>
      <p:sp>
        <p:nvSpPr>
          <p:cNvPr id="3" name="Text 1"/>
          <p:cNvSpPr/>
          <p:nvPr/>
        </p:nvSpPr>
        <p:spPr>
          <a:xfrm>
            <a:off x="365760" y="228600"/>
            <a:ext cx="822960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IV. OBJECTIFS</a:t>
            </a:r>
            <a:endParaRPr lang="en-US" sz="2200" dirty="0"/>
          </a:p>
        </p:txBody>
      </p:sp>
      <p:sp>
        <p:nvSpPr>
          <p:cNvPr id="4" name="Shape 2"/>
          <p:cNvSpPr/>
          <p:nvPr/>
        </p:nvSpPr>
        <p:spPr>
          <a:xfrm>
            <a:off x="365760" y="1051560"/>
            <a:ext cx="8412480" cy="777240"/>
          </a:xfrm>
          <a:prstGeom prst="rect">
            <a:avLst/>
          </a:prstGeom>
          <a:solidFill>
            <a:srgbClr val="1C2B3A"/>
          </a:solidFill>
          <a:ln w="19050">
            <a:solidFill>
              <a:srgbClr val="00D4FF"/>
            </a:solidFill>
            <a:prstDash val="solid"/>
          </a:ln>
          <a:effectLst>
            <a:outerShdw blurRad="101600" dist="38100" dir="8100000" algn="bl" rotWithShape="0">
              <a:srgbClr val="000000">
                <a:alpha val="35000"/>
              </a:srgbClr>
            </a:outerShdw>
          </a:effectLst>
        </p:spPr>
        <p:txBody>
          <a:bodyPr/>
          <a:lstStyle/>
          <a:p>
            <a:endParaRPr lang="fr-FR"/>
          </a:p>
        </p:txBody>
      </p:sp>
      <p:pic>
        <p:nvPicPr>
          <p:cNvPr id="5" name="Image 0" descr="preencoded.png"/>
          <p:cNvPicPr>
            <a:picLocks noChangeAspect="1"/>
          </p:cNvPicPr>
          <p:nvPr/>
        </p:nvPicPr>
        <p:blipFill>
          <a:blip r:embed="rId3"/>
          <a:stretch>
            <a:fillRect/>
          </a:stretch>
        </p:blipFill>
        <p:spPr>
          <a:xfrm>
            <a:off x="502920" y="1115568"/>
            <a:ext cx="502920" cy="502920"/>
          </a:xfrm>
          <a:prstGeom prst="rect">
            <a:avLst/>
          </a:prstGeom>
        </p:spPr>
      </p:pic>
      <p:sp>
        <p:nvSpPr>
          <p:cNvPr id="6" name="Text 3"/>
          <p:cNvSpPr/>
          <p:nvPr/>
        </p:nvSpPr>
        <p:spPr>
          <a:xfrm>
            <a:off x="1097280" y="1115568"/>
            <a:ext cx="7498080" cy="658368"/>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OBJECTIF GÉNÉRAL  </a:t>
            </a:r>
            <a:r>
              <a:rPr lang="en-US" sz="1300" dirty="0">
                <a:solidFill>
                  <a:srgbClr val="E8F4FD"/>
                </a:solidFill>
                <a:latin typeface="Calibri" pitchFamily="34" charset="0"/>
                <a:ea typeface="Calibri" pitchFamily="34" charset="-122"/>
                <a:cs typeface="Calibri" pitchFamily="34" charset="-120"/>
              </a:rPr>
              <a:t>Concevoir, développer et déployer une plateforme web permettant d'administrer, visualiser et démontrer les politiques TOMOYO Linux sans expertise CLI, en intégrant un scénario complet Attack/Defense.</a:t>
            </a:r>
            <a:endParaRPr lang="en-US" sz="1300" dirty="0"/>
          </a:p>
        </p:txBody>
      </p:sp>
      <p:sp>
        <p:nvSpPr>
          <p:cNvPr id="7" name="Text 4"/>
          <p:cNvSpPr/>
          <p:nvPr/>
        </p:nvSpPr>
        <p:spPr>
          <a:xfrm>
            <a:off x="365760" y="1993392"/>
            <a:ext cx="8229600" cy="365760"/>
          </a:xfrm>
          <a:prstGeom prst="rect">
            <a:avLst/>
          </a:prstGeom>
          <a:noFill/>
          <a:ln/>
        </p:spPr>
        <p:txBody>
          <a:bodyPr wrap="square" rtlCol="0" anchor="ctr"/>
          <a:lstStyle/>
          <a:p>
            <a:pPr marL="0" indent="0">
              <a:buNone/>
            </a:pPr>
            <a:r>
              <a:rPr lang="en-US" sz="1400" b="1" dirty="0">
                <a:solidFill>
                  <a:srgbClr val="00D4FF"/>
                </a:solidFill>
                <a:latin typeface="Calibri" pitchFamily="34" charset="0"/>
                <a:ea typeface="Calibri" pitchFamily="34" charset="-122"/>
                <a:cs typeface="Calibri" pitchFamily="34" charset="-120"/>
              </a:rPr>
              <a:t>OBJECTIFS SPÉCIFIQUES</a:t>
            </a:r>
            <a:endParaRPr lang="en-US" sz="1400" dirty="0"/>
          </a:p>
        </p:txBody>
      </p:sp>
      <p:sp>
        <p:nvSpPr>
          <p:cNvPr id="8" name="Shape 5"/>
          <p:cNvSpPr/>
          <p:nvPr/>
        </p:nvSpPr>
        <p:spPr>
          <a:xfrm>
            <a:off x="365760" y="2423160"/>
            <a:ext cx="4206240" cy="749808"/>
          </a:xfrm>
          <a:prstGeom prst="rect">
            <a:avLst/>
          </a:prstGeom>
          <a:solidFill>
            <a:srgbClr val="1C2B3A"/>
          </a:solidFill>
          <a:ln w="6350">
            <a:solidFill>
              <a:srgbClr val="00D4FF"/>
            </a:solidFill>
            <a:prstDash val="solid"/>
          </a:ln>
          <a:effectLst>
            <a:outerShdw blurRad="101600" dist="38100" dir="8100000" algn="bl" rotWithShape="0">
              <a:srgbClr val="000000">
                <a:alpha val="35000"/>
              </a:srgbClr>
            </a:outerShdw>
          </a:effectLst>
        </p:spPr>
        <p:txBody>
          <a:bodyPr/>
          <a:lstStyle/>
          <a:p>
            <a:endParaRPr lang="fr-FR"/>
          </a:p>
        </p:txBody>
      </p:sp>
      <p:sp>
        <p:nvSpPr>
          <p:cNvPr id="9" name="Shape 6"/>
          <p:cNvSpPr/>
          <p:nvPr/>
        </p:nvSpPr>
        <p:spPr>
          <a:xfrm>
            <a:off x="365760" y="2423160"/>
            <a:ext cx="475488" cy="749808"/>
          </a:xfrm>
          <a:prstGeom prst="rect">
            <a:avLst/>
          </a:prstGeom>
          <a:solidFill>
            <a:srgbClr val="00D4FF"/>
          </a:solidFill>
          <a:ln/>
        </p:spPr>
        <p:txBody>
          <a:bodyPr/>
          <a:lstStyle/>
          <a:p>
            <a:endParaRPr lang="fr-FR"/>
          </a:p>
        </p:txBody>
      </p:sp>
      <p:sp>
        <p:nvSpPr>
          <p:cNvPr id="10" name="Text 7"/>
          <p:cNvSpPr/>
          <p:nvPr/>
        </p:nvSpPr>
        <p:spPr>
          <a:xfrm>
            <a:off x="365760" y="2423160"/>
            <a:ext cx="475488" cy="749808"/>
          </a:xfrm>
          <a:prstGeom prst="rect">
            <a:avLst/>
          </a:prstGeom>
          <a:noFill/>
          <a:ln/>
        </p:spPr>
        <p:txBody>
          <a:bodyPr wrap="square" rtlCol="0" anchor="ctr"/>
          <a:lstStyle/>
          <a:p>
            <a:pPr marL="0" indent="0" algn="ctr">
              <a:buNone/>
            </a:pPr>
            <a:r>
              <a:rPr lang="en-US" sz="1500" b="1" dirty="0">
                <a:solidFill>
                  <a:srgbClr val="0D1117"/>
                </a:solidFill>
                <a:latin typeface="Calibri" pitchFamily="34" charset="0"/>
                <a:ea typeface="Calibri" pitchFamily="34" charset="-122"/>
                <a:cs typeface="Calibri" pitchFamily="34" charset="-120"/>
              </a:rPr>
              <a:t>01</a:t>
            </a:r>
            <a:endParaRPr lang="en-US" sz="1500" dirty="0"/>
          </a:p>
        </p:txBody>
      </p:sp>
      <p:sp>
        <p:nvSpPr>
          <p:cNvPr id="11" name="Text 8"/>
          <p:cNvSpPr/>
          <p:nvPr/>
        </p:nvSpPr>
        <p:spPr>
          <a:xfrm>
            <a:off x="914400" y="2532888"/>
            <a:ext cx="3566160" cy="54864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Implémenter un tableau de bord de visualisation des politiques TOMOYO actives en temps réel</a:t>
            </a:r>
            <a:endParaRPr lang="en-US" sz="1100" dirty="0"/>
          </a:p>
        </p:txBody>
      </p:sp>
      <p:sp>
        <p:nvSpPr>
          <p:cNvPr id="12" name="Shape 9"/>
          <p:cNvSpPr/>
          <p:nvPr/>
        </p:nvSpPr>
        <p:spPr>
          <a:xfrm>
            <a:off x="4800600" y="2423160"/>
            <a:ext cx="4206240" cy="749808"/>
          </a:xfrm>
          <a:prstGeom prst="rect">
            <a:avLst/>
          </a:prstGeom>
          <a:solidFill>
            <a:srgbClr val="1C2B3A"/>
          </a:solidFill>
          <a:ln w="6350">
            <a:solidFill>
              <a:srgbClr val="00D4FF"/>
            </a:solidFill>
            <a:prstDash val="solid"/>
          </a:ln>
          <a:effectLst>
            <a:outerShdw blurRad="101600" dist="38100" dir="8100000" algn="bl" rotWithShape="0">
              <a:srgbClr val="000000">
                <a:alpha val="35000"/>
              </a:srgbClr>
            </a:outerShdw>
          </a:effectLst>
        </p:spPr>
        <p:txBody>
          <a:bodyPr/>
          <a:lstStyle/>
          <a:p>
            <a:endParaRPr lang="fr-FR"/>
          </a:p>
        </p:txBody>
      </p:sp>
      <p:sp>
        <p:nvSpPr>
          <p:cNvPr id="13" name="Shape 10"/>
          <p:cNvSpPr/>
          <p:nvPr/>
        </p:nvSpPr>
        <p:spPr>
          <a:xfrm>
            <a:off x="4800600" y="2423160"/>
            <a:ext cx="475488" cy="749808"/>
          </a:xfrm>
          <a:prstGeom prst="rect">
            <a:avLst/>
          </a:prstGeom>
          <a:solidFill>
            <a:srgbClr val="00D4FF"/>
          </a:solidFill>
          <a:ln/>
        </p:spPr>
        <p:txBody>
          <a:bodyPr/>
          <a:lstStyle/>
          <a:p>
            <a:endParaRPr lang="fr-FR"/>
          </a:p>
        </p:txBody>
      </p:sp>
      <p:sp>
        <p:nvSpPr>
          <p:cNvPr id="14" name="Text 11"/>
          <p:cNvSpPr/>
          <p:nvPr/>
        </p:nvSpPr>
        <p:spPr>
          <a:xfrm>
            <a:off x="4800600" y="2423160"/>
            <a:ext cx="475488" cy="749808"/>
          </a:xfrm>
          <a:prstGeom prst="rect">
            <a:avLst/>
          </a:prstGeom>
          <a:noFill/>
          <a:ln/>
        </p:spPr>
        <p:txBody>
          <a:bodyPr wrap="square" rtlCol="0" anchor="ctr"/>
          <a:lstStyle/>
          <a:p>
            <a:pPr marL="0" indent="0" algn="ctr">
              <a:buNone/>
            </a:pPr>
            <a:r>
              <a:rPr lang="en-US" sz="1500" b="1" dirty="0">
                <a:solidFill>
                  <a:srgbClr val="0D1117"/>
                </a:solidFill>
                <a:latin typeface="Calibri" pitchFamily="34" charset="0"/>
                <a:ea typeface="Calibri" pitchFamily="34" charset="-122"/>
                <a:cs typeface="Calibri" pitchFamily="34" charset="-120"/>
              </a:rPr>
              <a:t>02</a:t>
            </a:r>
            <a:endParaRPr lang="en-US" sz="1500" dirty="0"/>
          </a:p>
        </p:txBody>
      </p:sp>
      <p:sp>
        <p:nvSpPr>
          <p:cNvPr id="15" name="Text 12"/>
          <p:cNvSpPr/>
          <p:nvPr/>
        </p:nvSpPr>
        <p:spPr>
          <a:xfrm>
            <a:off x="5349240" y="2532888"/>
            <a:ext cx="3566160" cy="54864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Développer les boutons de basculement Learning Mode / Enforcement Mode avec confirmation sécurisée</a:t>
            </a:r>
            <a:endParaRPr lang="en-US" sz="1100" dirty="0"/>
          </a:p>
        </p:txBody>
      </p:sp>
      <p:sp>
        <p:nvSpPr>
          <p:cNvPr id="16" name="Shape 13"/>
          <p:cNvSpPr/>
          <p:nvPr/>
        </p:nvSpPr>
        <p:spPr>
          <a:xfrm>
            <a:off x="365760" y="3291840"/>
            <a:ext cx="4206240" cy="749808"/>
          </a:xfrm>
          <a:prstGeom prst="rect">
            <a:avLst/>
          </a:prstGeom>
          <a:solidFill>
            <a:srgbClr val="1C2B3A"/>
          </a:solidFill>
          <a:ln w="6350">
            <a:solidFill>
              <a:srgbClr val="00E676"/>
            </a:solidFill>
            <a:prstDash val="solid"/>
          </a:ln>
          <a:effectLst>
            <a:outerShdw blurRad="101600" dist="38100" dir="8100000" algn="bl" rotWithShape="0">
              <a:srgbClr val="000000">
                <a:alpha val="35000"/>
              </a:srgbClr>
            </a:outerShdw>
          </a:effectLst>
        </p:spPr>
        <p:txBody>
          <a:bodyPr/>
          <a:lstStyle/>
          <a:p>
            <a:endParaRPr lang="fr-FR"/>
          </a:p>
        </p:txBody>
      </p:sp>
      <p:sp>
        <p:nvSpPr>
          <p:cNvPr id="17" name="Shape 14"/>
          <p:cNvSpPr/>
          <p:nvPr/>
        </p:nvSpPr>
        <p:spPr>
          <a:xfrm>
            <a:off x="365760" y="3291840"/>
            <a:ext cx="475488" cy="749808"/>
          </a:xfrm>
          <a:prstGeom prst="rect">
            <a:avLst/>
          </a:prstGeom>
          <a:solidFill>
            <a:srgbClr val="00E676"/>
          </a:solidFill>
          <a:ln/>
        </p:spPr>
        <p:txBody>
          <a:bodyPr/>
          <a:lstStyle/>
          <a:p>
            <a:endParaRPr lang="fr-FR"/>
          </a:p>
        </p:txBody>
      </p:sp>
      <p:sp>
        <p:nvSpPr>
          <p:cNvPr id="18" name="Text 15"/>
          <p:cNvSpPr/>
          <p:nvPr/>
        </p:nvSpPr>
        <p:spPr>
          <a:xfrm>
            <a:off x="365760" y="3291840"/>
            <a:ext cx="475488" cy="749808"/>
          </a:xfrm>
          <a:prstGeom prst="rect">
            <a:avLst/>
          </a:prstGeom>
          <a:noFill/>
          <a:ln/>
        </p:spPr>
        <p:txBody>
          <a:bodyPr wrap="square" rtlCol="0" anchor="ctr"/>
          <a:lstStyle/>
          <a:p>
            <a:pPr marL="0" indent="0" algn="ctr">
              <a:buNone/>
            </a:pPr>
            <a:r>
              <a:rPr lang="en-US" sz="1500" b="1" dirty="0">
                <a:solidFill>
                  <a:srgbClr val="0D1117"/>
                </a:solidFill>
                <a:latin typeface="Calibri" pitchFamily="34" charset="0"/>
                <a:ea typeface="Calibri" pitchFamily="34" charset="-122"/>
                <a:cs typeface="Calibri" pitchFamily="34" charset="-120"/>
              </a:rPr>
              <a:t>03</a:t>
            </a:r>
            <a:endParaRPr lang="en-US" sz="1500" dirty="0"/>
          </a:p>
        </p:txBody>
      </p:sp>
      <p:sp>
        <p:nvSpPr>
          <p:cNvPr id="19" name="Text 16"/>
          <p:cNvSpPr/>
          <p:nvPr/>
        </p:nvSpPr>
        <p:spPr>
          <a:xfrm>
            <a:off x="914400" y="3401568"/>
            <a:ext cx="3566160" cy="54864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Créer un moteur de génération automatique de règles : lancement app → capture → génération policy</a:t>
            </a:r>
            <a:endParaRPr lang="en-US" sz="1100" dirty="0"/>
          </a:p>
        </p:txBody>
      </p:sp>
      <p:sp>
        <p:nvSpPr>
          <p:cNvPr id="20" name="Shape 17"/>
          <p:cNvSpPr/>
          <p:nvPr/>
        </p:nvSpPr>
        <p:spPr>
          <a:xfrm>
            <a:off x="4800600" y="3291840"/>
            <a:ext cx="4206240" cy="749808"/>
          </a:xfrm>
          <a:prstGeom prst="rect">
            <a:avLst/>
          </a:prstGeom>
          <a:solidFill>
            <a:srgbClr val="1C2B3A"/>
          </a:solidFill>
          <a:ln w="6350">
            <a:solidFill>
              <a:srgbClr val="00D4FF"/>
            </a:solidFill>
            <a:prstDash val="solid"/>
          </a:ln>
          <a:effectLst>
            <a:outerShdw blurRad="101600" dist="38100" dir="8100000" algn="bl" rotWithShape="0">
              <a:srgbClr val="000000">
                <a:alpha val="35000"/>
              </a:srgbClr>
            </a:outerShdw>
          </a:effectLst>
        </p:spPr>
        <p:txBody>
          <a:bodyPr/>
          <a:lstStyle/>
          <a:p>
            <a:endParaRPr lang="fr-FR"/>
          </a:p>
        </p:txBody>
      </p:sp>
      <p:sp>
        <p:nvSpPr>
          <p:cNvPr id="21" name="Shape 18"/>
          <p:cNvSpPr/>
          <p:nvPr/>
        </p:nvSpPr>
        <p:spPr>
          <a:xfrm>
            <a:off x="4800600" y="3291840"/>
            <a:ext cx="475488" cy="749808"/>
          </a:xfrm>
          <a:prstGeom prst="rect">
            <a:avLst/>
          </a:prstGeom>
          <a:solidFill>
            <a:srgbClr val="00D4FF"/>
          </a:solidFill>
          <a:ln/>
        </p:spPr>
        <p:txBody>
          <a:bodyPr/>
          <a:lstStyle/>
          <a:p>
            <a:endParaRPr lang="fr-FR"/>
          </a:p>
        </p:txBody>
      </p:sp>
      <p:sp>
        <p:nvSpPr>
          <p:cNvPr id="22" name="Text 19"/>
          <p:cNvSpPr/>
          <p:nvPr/>
        </p:nvSpPr>
        <p:spPr>
          <a:xfrm>
            <a:off x="4800600" y="3291840"/>
            <a:ext cx="475488" cy="749808"/>
          </a:xfrm>
          <a:prstGeom prst="rect">
            <a:avLst/>
          </a:prstGeom>
          <a:noFill/>
          <a:ln/>
        </p:spPr>
        <p:txBody>
          <a:bodyPr wrap="square" rtlCol="0" anchor="ctr"/>
          <a:lstStyle/>
          <a:p>
            <a:pPr marL="0" indent="0" algn="ctr">
              <a:buNone/>
            </a:pPr>
            <a:r>
              <a:rPr lang="en-US" sz="1500" b="1" dirty="0">
                <a:solidFill>
                  <a:srgbClr val="0D1117"/>
                </a:solidFill>
                <a:latin typeface="Calibri" pitchFamily="34" charset="0"/>
                <a:ea typeface="Calibri" pitchFamily="34" charset="-122"/>
                <a:cs typeface="Calibri" pitchFamily="34" charset="-120"/>
              </a:rPr>
              <a:t>04</a:t>
            </a:r>
            <a:endParaRPr lang="en-US" sz="1500" dirty="0"/>
          </a:p>
        </p:txBody>
      </p:sp>
      <p:sp>
        <p:nvSpPr>
          <p:cNvPr id="23" name="Text 20"/>
          <p:cNvSpPr/>
          <p:nvPr/>
        </p:nvSpPr>
        <p:spPr>
          <a:xfrm>
            <a:off x="5349240" y="3401568"/>
            <a:ext cx="3566160" cy="54864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Intégrer un éditeur web de règles avec validation syntaxique obligatoire avant toute application</a:t>
            </a:r>
            <a:endParaRPr lang="en-US" sz="1100" dirty="0"/>
          </a:p>
        </p:txBody>
      </p:sp>
      <p:sp>
        <p:nvSpPr>
          <p:cNvPr id="24" name="Shape 21"/>
          <p:cNvSpPr/>
          <p:nvPr/>
        </p:nvSpPr>
        <p:spPr>
          <a:xfrm>
            <a:off x="365760" y="4160520"/>
            <a:ext cx="4206240" cy="749808"/>
          </a:xfrm>
          <a:prstGeom prst="rect">
            <a:avLst/>
          </a:prstGeom>
          <a:solidFill>
            <a:srgbClr val="1C2B3A"/>
          </a:solidFill>
          <a:ln w="6350">
            <a:solidFill>
              <a:srgbClr val="FF3B3B"/>
            </a:solidFill>
            <a:prstDash val="solid"/>
          </a:ln>
          <a:effectLst>
            <a:outerShdw blurRad="101600" dist="38100" dir="8100000" algn="bl" rotWithShape="0">
              <a:srgbClr val="000000">
                <a:alpha val="35000"/>
              </a:srgbClr>
            </a:outerShdw>
          </a:effectLst>
        </p:spPr>
        <p:txBody>
          <a:bodyPr/>
          <a:lstStyle/>
          <a:p>
            <a:endParaRPr lang="fr-FR"/>
          </a:p>
        </p:txBody>
      </p:sp>
      <p:sp>
        <p:nvSpPr>
          <p:cNvPr id="25" name="Shape 22"/>
          <p:cNvSpPr/>
          <p:nvPr/>
        </p:nvSpPr>
        <p:spPr>
          <a:xfrm>
            <a:off x="365760" y="4160520"/>
            <a:ext cx="475488" cy="749808"/>
          </a:xfrm>
          <a:prstGeom prst="rect">
            <a:avLst/>
          </a:prstGeom>
          <a:solidFill>
            <a:srgbClr val="FF3B3B"/>
          </a:solidFill>
          <a:ln/>
        </p:spPr>
        <p:txBody>
          <a:bodyPr/>
          <a:lstStyle/>
          <a:p>
            <a:endParaRPr lang="fr-FR"/>
          </a:p>
        </p:txBody>
      </p:sp>
      <p:sp>
        <p:nvSpPr>
          <p:cNvPr id="26" name="Text 23"/>
          <p:cNvSpPr/>
          <p:nvPr/>
        </p:nvSpPr>
        <p:spPr>
          <a:xfrm>
            <a:off x="365760" y="4160520"/>
            <a:ext cx="475488" cy="749808"/>
          </a:xfrm>
          <a:prstGeom prst="rect">
            <a:avLst/>
          </a:prstGeom>
          <a:noFill/>
          <a:ln/>
        </p:spPr>
        <p:txBody>
          <a:bodyPr wrap="square" rtlCol="0" anchor="ctr"/>
          <a:lstStyle/>
          <a:p>
            <a:pPr marL="0" indent="0" algn="ctr">
              <a:buNone/>
            </a:pPr>
            <a:r>
              <a:rPr lang="en-US" sz="1500" b="1" dirty="0">
                <a:solidFill>
                  <a:srgbClr val="0D1117"/>
                </a:solidFill>
                <a:latin typeface="Calibri" pitchFamily="34" charset="0"/>
                <a:ea typeface="Calibri" pitchFamily="34" charset="-122"/>
                <a:cs typeface="Calibri" pitchFamily="34" charset="-120"/>
              </a:rPr>
              <a:t>05</a:t>
            </a:r>
            <a:endParaRPr lang="en-US" sz="1500" dirty="0"/>
          </a:p>
        </p:txBody>
      </p:sp>
      <p:sp>
        <p:nvSpPr>
          <p:cNvPr id="27" name="Text 24"/>
          <p:cNvSpPr/>
          <p:nvPr/>
        </p:nvSpPr>
        <p:spPr>
          <a:xfrm>
            <a:off x="914400" y="4270248"/>
            <a:ext cx="3566160" cy="54864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Déployer une application web volontairement vulnérable pour démonstration du scénario Attack/Defense</a:t>
            </a:r>
            <a:endParaRPr lang="en-US" sz="1100" dirty="0"/>
          </a:p>
        </p:txBody>
      </p:sp>
      <p:sp>
        <p:nvSpPr>
          <p:cNvPr id="28" name="Shape 25"/>
          <p:cNvSpPr/>
          <p:nvPr/>
        </p:nvSpPr>
        <p:spPr>
          <a:xfrm>
            <a:off x="4800600" y="4160520"/>
            <a:ext cx="4206240" cy="749808"/>
          </a:xfrm>
          <a:prstGeom prst="rect">
            <a:avLst/>
          </a:prstGeom>
          <a:solidFill>
            <a:srgbClr val="1C2B3A"/>
          </a:solidFill>
          <a:ln w="6350">
            <a:solidFill>
              <a:srgbClr val="FFB300"/>
            </a:solidFill>
            <a:prstDash val="solid"/>
          </a:ln>
          <a:effectLst>
            <a:outerShdw blurRad="101600" dist="38100" dir="8100000" algn="bl" rotWithShape="0">
              <a:srgbClr val="000000">
                <a:alpha val="35000"/>
              </a:srgbClr>
            </a:outerShdw>
          </a:effectLst>
        </p:spPr>
        <p:txBody>
          <a:bodyPr/>
          <a:lstStyle/>
          <a:p>
            <a:endParaRPr lang="fr-FR"/>
          </a:p>
        </p:txBody>
      </p:sp>
      <p:sp>
        <p:nvSpPr>
          <p:cNvPr id="29" name="Shape 26"/>
          <p:cNvSpPr/>
          <p:nvPr/>
        </p:nvSpPr>
        <p:spPr>
          <a:xfrm>
            <a:off x="4800600" y="4160520"/>
            <a:ext cx="475488" cy="749808"/>
          </a:xfrm>
          <a:prstGeom prst="rect">
            <a:avLst/>
          </a:prstGeom>
          <a:solidFill>
            <a:srgbClr val="FFB300"/>
          </a:solidFill>
          <a:ln/>
        </p:spPr>
        <p:txBody>
          <a:bodyPr/>
          <a:lstStyle/>
          <a:p>
            <a:endParaRPr lang="fr-FR"/>
          </a:p>
        </p:txBody>
      </p:sp>
      <p:sp>
        <p:nvSpPr>
          <p:cNvPr id="30" name="Text 27"/>
          <p:cNvSpPr/>
          <p:nvPr/>
        </p:nvSpPr>
        <p:spPr>
          <a:xfrm>
            <a:off x="4800600" y="4160520"/>
            <a:ext cx="475488" cy="749808"/>
          </a:xfrm>
          <a:prstGeom prst="rect">
            <a:avLst/>
          </a:prstGeom>
          <a:noFill/>
          <a:ln/>
        </p:spPr>
        <p:txBody>
          <a:bodyPr wrap="square" rtlCol="0" anchor="ctr"/>
          <a:lstStyle/>
          <a:p>
            <a:pPr marL="0" indent="0" algn="ctr">
              <a:buNone/>
            </a:pPr>
            <a:r>
              <a:rPr lang="en-US" sz="1500" b="1" dirty="0">
                <a:solidFill>
                  <a:srgbClr val="0D1117"/>
                </a:solidFill>
                <a:latin typeface="Calibri" pitchFamily="34" charset="0"/>
                <a:ea typeface="Calibri" pitchFamily="34" charset="-122"/>
                <a:cs typeface="Calibri" pitchFamily="34" charset="-120"/>
              </a:rPr>
              <a:t>06</a:t>
            </a:r>
            <a:endParaRPr lang="en-US" sz="1500" dirty="0"/>
          </a:p>
        </p:txBody>
      </p:sp>
      <p:sp>
        <p:nvSpPr>
          <p:cNvPr id="31" name="Text 28"/>
          <p:cNvSpPr/>
          <p:nvPr/>
        </p:nvSpPr>
        <p:spPr>
          <a:xfrm>
            <a:off x="5349240" y="4270248"/>
            <a:ext cx="3566160" cy="54864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Documenter et présenter la démonstration : attaque (lecture /etc/shadow) bloquée par TOMOYO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a:effectLst/>
      </p:bgPr>
    </p:bg>
    <p:spTree>
      <p:nvGrpSpPr>
        <p:cNvPr id="1" name=""/>
        <p:cNvGrpSpPr/>
        <p:nvPr/>
      </p:nvGrpSpPr>
      <p:grpSpPr>
        <a:xfrm>
          <a:off x="0" y="0"/>
          <a:ext cx="0" cy="0"/>
          <a:chOff x="0" y="0"/>
          <a:chExt cx="0" cy="0"/>
        </a:xfrm>
      </p:grpSpPr>
      <p:sp>
        <p:nvSpPr>
          <p:cNvPr id="3" name="Shape 1"/>
          <p:cNvSpPr/>
          <p:nvPr/>
        </p:nvSpPr>
        <p:spPr>
          <a:xfrm>
            <a:off x="45720"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4" name="Shape 2"/>
          <p:cNvSpPr/>
          <p:nvPr/>
        </p:nvSpPr>
        <p:spPr>
          <a:xfrm>
            <a:off x="704088"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5" name="Shape 3"/>
          <p:cNvSpPr/>
          <p:nvPr/>
        </p:nvSpPr>
        <p:spPr>
          <a:xfrm>
            <a:off x="1362456"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6" name="Shape 4"/>
          <p:cNvSpPr/>
          <p:nvPr/>
        </p:nvSpPr>
        <p:spPr>
          <a:xfrm>
            <a:off x="2020824"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7" name="Shape 5"/>
          <p:cNvSpPr/>
          <p:nvPr/>
        </p:nvSpPr>
        <p:spPr>
          <a:xfrm>
            <a:off x="2679192"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8" name="Shape 6"/>
          <p:cNvSpPr/>
          <p:nvPr/>
        </p:nvSpPr>
        <p:spPr>
          <a:xfrm>
            <a:off x="3337560"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9" name="Shape 7"/>
          <p:cNvSpPr/>
          <p:nvPr/>
        </p:nvSpPr>
        <p:spPr>
          <a:xfrm>
            <a:off x="3995928"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10" name="Shape 8"/>
          <p:cNvSpPr/>
          <p:nvPr/>
        </p:nvSpPr>
        <p:spPr>
          <a:xfrm>
            <a:off x="4654296"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11" name="Shape 9"/>
          <p:cNvSpPr/>
          <p:nvPr/>
        </p:nvSpPr>
        <p:spPr>
          <a:xfrm>
            <a:off x="5312664"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12" name="Shape 10"/>
          <p:cNvSpPr/>
          <p:nvPr/>
        </p:nvSpPr>
        <p:spPr>
          <a:xfrm>
            <a:off x="5971032"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13" name="Shape 11"/>
          <p:cNvSpPr/>
          <p:nvPr/>
        </p:nvSpPr>
        <p:spPr>
          <a:xfrm>
            <a:off x="6629400"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14" name="Shape 12"/>
          <p:cNvSpPr/>
          <p:nvPr/>
        </p:nvSpPr>
        <p:spPr>
          <a:xfrm>
            <a:off x="7287768"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15" name="Shape 13"/>
          <p:cNvSpPr/>
          <p:nvPr/>
        </p:nvSpPr>
        <p:spPr>
          <a:xfrm>
            <a:off x="7946136"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16" name="Shape 14"/>
          <p:cNvSpPr/>
          <p:nvPr/>
        </p:nvSpPr>
        <p:spPr>
          <a:xfrm>
            <a:off x="8604504"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17" name="Shape 15"/>
          <p:cNvSpPr/>
          <p:nvPr/>
        </p:nvSpPr>
        <p:spPr>
          <a:xfrm>
            <a:off x="45720"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18" name="Shape 16"/>
          <p:cNvSpPr/>
          <p:nvPr/>
        </p:nvSpPr>
        <p:spPr>
          <a:xfrm>
            <a:off x="704088"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19" name="Shape 17"/>
          <p:cNvSpPr/>
          <p:nvPr/>
        </p:nvSpPr>
        <p:spPr>
          <a:xfrm>
            <a:off x="1362456"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0" name="Shape 18"/>
          <p:cNvSpPr/>
          <p:nvPr/>
        </p:nvSpPr>
        <p:spPr>
          <a:xfrm>
            <a:off x="2020824"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1" name="Shape 19"/>
          <p:cNvSpPr/>
          <p:nvPr/>
        </p:nvSpPr>
        <p:spPr>
          <a:xfrm>
            <a:off x="2679192"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2" name="Shape 20"/>
          <p:cNvSpPr/>
          <p:nvPr/>
        </p:nvSpPr>
        <p:spPr>
          <a:xfrm>
            <a:off x="3337560"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3" name="Shape 21"/>
          <p:cNvSpPr/>
          <p:nvPr/>
        </p:nvSpPr>
        <p:spPr>
          <a:xfrm>
            <a:off x="3995928"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4" name="Shape 22"/>
          <p:cNvSpPr/>
          <p:nvPr/>
        </p:nvSpPr>
        <p:spPr>
          <a:xfrm>
            <a:off x="4654296"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5" name="Shape 23"/>
          <p:cNvSpPr/>
          <p:nvPr/>
        </p:nvSpPr>
        <p:spPr>
          <a:xfrm>
            <a:off x="5312664"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6" name="Shape 24"/>
          <p:cNvSpPr/>
          <p:nvPr/>
        </p:nvSpPr>
        <p:spPr>
          <a:xfrm>
            <a:off x="5971032"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7" name="Shape 25"/>
          <p:cNvSpPr/>
          <p:nvPr/>
        </p:nvSpPr>
        <p:spPr>
          <a:xfrm>
            <a:off x="6629400"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8" name="Shape 26"/>
          <p:cNvSpPr/>
          <p:nvPr/>
        </p:nvSpPr>
        <p:spPr>
          <a:xfrm>
            <a:off x="7287768"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9" name="Shape 27"/>
          <p:cNvSpPr/>
          <p:nvPr/>
        </p:nvSpPr>
        <p:spPr>
          <a:xfrm>
            <a:off x="7946136"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30" name="Shape 28"/>
          <p:cNvSpPr/>
          <p:nvPr/>
        </p:nvSpPr>
        <p:spPr>
          <a:xfrm>
            <a:off x="8604504"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31" name="Shape 29"/>
          <p:cNvSpPr/>
          <p:nvPr/>
        </p:nvSpPr>
        <p:spPr>
          <a:xfrm>
            <a:off x="45720"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32" name="Shape 30"/>
          <p:cNvSpPr/>
          <p:nvPr/>
        </p:nvSpPr>
        <p:spPr>
          <a:xfrm>
            <a:off x="704088"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33" name="Shape 31"/>
          <p:cNvSpPr/>
          <p:nvPr/>
        </p:nvSpPr>
        <p:spPr>
          <a:xfrm>
            <a:off x="1362456"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34" name="Shape 32"/>
          <p:cNvSpPr/>
          <p:nvPr/>
        </p:nvSpPr>
        <p:spPr>
          <a:xfrm>
            <a:off x="2020824"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35" name="Shape 33"/>
          <p:cNvSpPr/>
          <p:nvPr/>
        </p:nvSpPr>
        <p:spPr>
          <a:xfrm>
            <a:off x="2679192"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36" name="Shape 34"/>
          <p:cNvSpPr/>
          <p:nvPr/>
        </p:nvSpPr>
        <p:spPr>
          <a:xfrm>
            <a:off x="3337560"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37" name="Shape 35"/>
          <p:cNvSpPr/>
          <p:nvPr/>
        </p:nvSpPr>
        <p:spPr>
          <a:xfrm>
            <a:off x="3995928"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38" name="Shape 36"/>
          <p:cNvSpPr/>
          <p:nvPr/>
        </p:nvSpPr>
        <p:spPr>
          <a:xfrm>
            <a:off x="4654296"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39" name="Shape 37"/>
          <p:cNvSpPr/>
          <p:nvPr/>
        </p:nvSpPr>
        <p:spPr>
          <a:xfrm>
            <a:off x="5312664"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40" name="Shape 38"/>
          <p:cNvSpPr/>
          <p:nvPr/>
        </p:nvSpPr>
        <p:spPr>
          <a:xfrm>
            <a:off x="5971032"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41" name="Shape 39"/>
          <p:cNvSpPr/>
          <p:nvPr/>
        </p:nvSpPr>
        <p:spPr>
          <a:xfrm>
            <a:off x="6629400"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42" name="Shape 40"/>
          <p:cNvSpPr/>
          <p:nvPr/>
        </p:nvSpPr>
        <p:spPr>
          <a:xfrm>
            <a:off x="7287768"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43" name="Shape 41"/>
          <p:cNvSpPr/>
          <p:nvPr/>
        </p:nvSpPr>
        <p:spPr>
          <a:xfrm>
            <a:off x="7946136"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44" name="Shape 42"/>
          <p:cNvSpPr/>
          <p:nvPr/>
        </p:nvSpPr>
        <p:spPr>
          <a:xfrm>
            <a:off x="8604504"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45" name="Shape 43"/>
          <p:cNvSpPr/>
          <p:nvPr/>
        </p:nvSpPr>
        <p:spPr>
          <a:xfrm>
            <a:off x="45720"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46" name="Shape 44"/>
          <p:cNvSpPr/>
          <p:nvPr/>
        </p:nvSpPr>
        <p:spPr>
          <a:xfrm>
            <a:off x="704088"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47" name="Shape 45"/>
          <p:cNvSpPr/>
          <p:nvPr/>
        </p:nvSpPr>
        <p:spPr>
          <a:xfrm>
            <a:off x="1362456"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48" name="Shape 46"/>
          <p:cNvSpPr/>
          <p:nvPr/>
        </p:nvSpPr>
        <p:spPr>
          <a:xfrm>
            <a:off x="2020824"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49" name="Shape 47"/>
          <p:cNvSpPr/>
          <p:nvPr/>
        </p:nvSpPr>
        <p:spPr>
          <a:xfrm>
            <a:off x="2679192"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0" name="Shape 48"/>
          <p:cNvSpPr/>
          <p:nvPr/>
        </p:nvSpPr>
        <p:spPr>
          <a:xfrm>
            <a:off x="3337560"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1" name="Shape 49"/>
          <p:cNvSpPr/>
          <p:nvPr/>
        </p:nvSpPr>
        <p:spPr>
          <a:xfrm>
            <a:off x="3995928"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2" name="Shape 50"/>
          <p:cNvSpPr/>
          <p:nvPr/>
        </p:nvSpPr>
        <p:spPr>
          <a:xfrm>
            <a:off x="4654296"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3" name="Shape 51"/>
          <p:cNvSpPr/>
          <p:nvPr/>
        </p:nvSpPr>
        <p:spPr>
          <a:xfrm>
            <a:off x="5312664"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4" name="Shape 52"/>
          <p:cNvSpPr/>
          <p:nvPr/>
        </p:nvSpPr>
        <p:spPr>
          <a:xfrm>
            <a:off x="5971032"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5" name="Shape 53"/>
          <p:cNvSpPr/>
          <p:nvPr/>
        </p:nvSpPr>
        <p:spPr>
          <a:xfrm>
            <a:off x="6629400"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6" name="Shape 54"/>
          <p:cNvSpPr/>
          <p:nvPr/>
        </p:nvSpPr>
        <p:spPr>
          <a:xfrm>
            <a:off x="7287768"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7" name="Shape 55"/>
          <p:cNvSpPr/>
          <p:nvPr/>
        </p:nvSpPr>
        <p:spPr>
          <a:xfrm>
            <a:off x="7946136"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8" name="Shape 56"/>
          <p:cNvSpPr/>
          <p:nvPr/>
        </p:nvSpPr>
        <p:spPr>
          <a:xfrm>
            <a:off x="8604504"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9" name="Shape 57"/>
          <p:cNvSpPr/>
          <p:nvPr/>
        </p:nvSpPr>
        <p:spPr>
          <a:xfrm>
            <a:off x="45720"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0" name="Shape 58"/>
          <p:cNvSpPr/>
          <p:nvPr/>
        </p:nvSpPr>
        <p:spPr>
          <a:xfrm>
            <a:off x="704088"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1" name="Shape 59"/>
          <p:cNvSpPr/>
          <p:nvPr/>
        </p:nvSpPr>
        <p:spPr>
          <a:xfrm>
            <a:off x="1362456"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2" name="Shape 60"/>
          <p:cNvSpPr/>
          <p:nvPr/>
        </p:nvSpPr>
        <p:spPr>
          <a:xfrm>
            <a:off x="2020824"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3" name="Shape 61"/>
          <p:cNvSpPr/>
          <p:nvPr/>
        </p:nvSpPr>
        <p:spPr>
          <a:xfrm>
            <a:off x="2679192"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4" name="Shape 62"/>
          <p:cNvSpPr/>
          <p:nvPr/>
        </p:nvSpPr>
        <p:spPr>
          <a:xfrm>
            <a:off x="3337560"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5" name="Shape 63"/>
          <p:cNvSpPr/>
          <p:nvPr/>
        </p:nvSpPr>
        <p:spPr>
          <a:xfrm>
            <a:off x="3995928"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6" name="Shape 64"/>
          <p:cNvSpPr/>
          <p:nvPr/>
        </p:nvSpPr>
        <p:spPr>
          <a:xfrm>
            <a:off x="4654296"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7" name="Shape 65"/>
          <p:cNvSpPr/>
          <p:nvPr/>
        </p:nvSpPr>
        <p:spPr>
          <a:xfrm>
            <a:off x="5312664"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8" name="Shape 66"/>
          <p:cNvSpPr/>
          <p:nvPr/>
        </p:nvSpPr>
        <p:spPr>
          <a:xfrm>
            <a:off x="5971032"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9" name="Shape 67"/>
          <p:cNvSpPr/>
          <p:nvPr/>
        </p:nvSpPr>
        <p:spPr>
          <a:xfrm>
            <a:off x="6629400"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70" name="Shape 68"/>
          <p:cNvSpPr/>
          <p:nvPr/>
        </p:nvSpPr>
        <p:spPr>
          <a:xfrm>
            <a:off x="7287768"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71" name="Shape 69"/>
          <p:cNvSpPr/>
          <p:nvPr/>
        </p:nvSpPr>
        <p:spPr>
          <a:xfrm>
            <a:off x="7946136"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72" name="Shape 70"/>
          <p:cNvSpPr/>
          <p:nvPr/>
        </p:nvSpPr>
        <p:spPr>
          <a:xfrm>
            <a:off x="8604504"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73" name="Shape 71"/>
          <p:cNvSpPr/>
          <p:nvPr/>
        </p:nvSpPr>
        <p:spPr>
          <a:xfrm>
            <a:off x="45720"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74" name="Shape 72"/>
          <p:cNvSpPr/>
          <p:nvPr/>
        </p:nvSpPr>
        <p:spPr>
          <a:xfrm>
            <a:off x="704088"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75" name="Shape 73"/>
          <p:cNvSpPr/>
          <p:nvPr/>
        </p:nvSpPr>
        <p:spPr>
          <a:xfrm>
            <a:off x="1362456"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76" name="Shape 74"/>
          <p:cNvSpPr/>
          <p:nvPr/>
        </p:nvSpPr>
        <p:spPr>
          <a:xfrm>
            <a:off x="2020824"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77" name="Shape 75"/>
          <p:cNvSpPr/>
          <p:nvPr/>
        </p:nvSpPr>
        <p:spPr>
          <a:xfrm>
            <a:off x="2679192"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78" name="Shape 76"/>
          <p:cNvSpPr/>
          <p:nvPr/>
        </p:nvSpPr>
        <p:spPr>
          <a:xfrm>
            <a:off x="3337560"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79" name="Shape 77"/>
          <p:cNvSpPr/>
          <p:nvPr/>
        </p:nvSpPr>
        <p:spPr>
          <a:xfrm>
            <a:off x="3995928"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80" name="Shape 78"/>
          <p:cNvSpPr/>
          <p:nvPr/>
        </p:nvSpPr>
        <p:spPr>
          <a:xfrm>
            <a:off x="4654296"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81" name="Shape 79"/>
          <p:cNvSpPr/>
          <p:nvPr/>
        </p:nvSpPr>
        <p:spPr>
          <a:xfrm>
            <a:off x="5312664"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82" name="Shape 80"/>
          <p:cNvSpPr/>
          <p:nvPr/>
        </p:nvSpPr>
        <p:spPr>
          <a:xfrm>
            <a:off x="5971032"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83" name="Shape 81"/>
          <p:cNvSpPr/>
          <p:nvPr/>
        </p:nvSpPr>
        <p:spPr>
          <a:xfrm>
            <a:off x="6629400"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84" name="Shape 82"/>
          <p:cNvSpPr/>
          <p:nvPr/>
        </p:nvSpPr>
        <p:spPr>
          <a:xfrm>
            <a:off x="7287768"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85" name="Shape 83"/>
          <p:cNvSpPr/>
          <p:nvPr/>
        </p:nvSpPr>
        <p:spPr>
          <a:xfrm>
            <a:off x="7946136"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86" name="Shape 84"/>
          <p:cNvSpPr/>
          <p:nvPr/>
        </p:nvSpPr>
        <p:spPr>
          <a:xfrm>
            <a:off x="8604504"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87" name="Shape 85"/>
          <p:cNvSpPr/>
          <p:nvPr/>
        </p:nvSpPr>
        <p:spPr>
          <a:xfrm>
            <a:off x="45720"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88" name="Shape 86"/>
          <p:cNvSpPr/>
          <p:nvPr/>
        </p:nvSpPr>
        <p:spPr>
          <a:xfrm>
            <a:off x="704088"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89" name="Shape 87"/>
          <p:cNvSpPr/>
          <p:nvPr/>
        </p:nvSpPr>
        <p:spPr>
          <a:xfrm>
            <a:off x="1362456"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0" name="Shape 88"/>
          <p:cNvSpPr/>
          <p:nvPr/>
        </p:nvSpPr>
        <p:spPr>
          <a:xfrm>
            <a:off x="2020824"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1" name="Shape 89"/>
          <p:cNvSpPr/>
          <p:nvPr/>
        </p:nvSpPr>
        <p:spPr>
          <a:xfrm>
            <a:off x="2679192"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2" name="Shape 90"/>
          <p:cNvSpPr/>
          <p:nvPr/>
        </p:nvSpPr>
        <p:spPr>
          <a:xfrm>
            <a:off x="3337560"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3" name="Shape 91"/>
          <p:cNvSpPr/>
          <p:nvPr/>
        </p:nvSpPr>
        <p:spPr>
          <a:xfrm>
            <a:off x="3995928"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4" name="Shape 92"/>
          <p:cNvSpPr/>
          <p:nvPr/>
        </p:nvSpPr>
        <p:spPr>
          <a:xfrm>
            <a:off x="4654296"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5" name="Shape 93"/>
          <p:cNvSpPr/>
          <p:nvPr/>
        </p:nvSpPr>
        <p:spPr>
          <a:xfrm>
            <a:off x="5312664"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6" name="Shape 94"/>
          <p:cNvSpPr/>
          <p:nvPr/>
        </p:nvSpPr>
        <p:spPr>
          <a:xfrm>
            <a:off x="5971032"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7" name="Shape 95"/>
          <p:cNvSpPr/>
          <p:nvPr/>
        </p:nvSpPr>
        <p:spPr>
          <a:xfrm>
            <a:off x="6629400"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8" name="Shape 96"/>
          <p:cNvSpPr/>
          <p:nvPr/>
        </p:nvSpPr>
        <p:spPr>
          <a:xfrm>
            <a:off x="7287768"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9" name="Shape 97"/>
          <p:cNvSpPr/>
          <p:nvPr/>
        </p:nvSpPr>
        <p:spPr>
          <a:xfrm>
            <a:off x="7946136"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100" name="Shape 98"/>
          <p:cNvSpPr/>
          <p:nvPr/>
        </p:nvSpPr>
        <p:spPr>
          <a:xfrm>
            <a:off x="8604504"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101" name="Shape 99"/>
          <p:cNvSpPr/>
          <p:nvPr/>
        </p:nvSpPr>
        <p:spPr>
          <a:xfrm>
            <a:off x="45720"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02" name="Shape 100"/>
          <p:cNvSpPr/>
          <p:nvPr/>
        </p:nvSpPr>
        <p:spPr>
          <a:xfrm>
            <a:off x="704088"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03" name="Shape 101"/>
          <p:cNvSpPr/>
          <p:nvPr/>
        </p:nvSpPr>
        <p:spPr>
          <a:xfrm>
            <a:off x="1362456"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04" name="Shape 102"/>
          <p:cNvSpPr/>
          <p:nvPr/>
        </p:nvSpPr>
        <p:spPr>
          <a:xfrm>
            <a:off x="2020824"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05" name="Shape 103"/>
          <p:cNvSpPr/>
          <p:nvPr/>
        </p:nvSpPr>
        <p:spPr>
          <a:xfrm>
            <a:off x="2679192"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06" name="Shape 104"/>
          <p:cNvSpPr/>
          <p:nvPr/>
        </p:nvSpPr>
        <p:spPr>
          <a:xfrm>
            <a:off x="3337560"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07" name="Shape 105"/>
          <p:cNvSpPr/>
          <p:nvPr/>
        </p:nvSpPr>
        <p:spPr>
          <a:xfrm>
            <a:off x="3995928"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08" name="Shape 106"/>
          <p:cNvSpPr/>
          <p:nvPr/>
        </p:nvSpPr>
        <p:spPr>
          <a:xfrm>
            <a:off x="4654296"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09" name="Shape 107"/>
          <p:cNvSpPr/>
          <p:nvPr/>
        </p:nvSpPr>
        <p:spPr>
          <a:xfrm>
            <a:off x="5312664"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10" name="Shape 108"/>
          <p:cNvSpPr/>
          <p:nvPr/>
        </p:nvSpPr>
        <p:spPr>
          <a:xfrm>
            <a:off x="5971032"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11" name="Shape 109"/>
          <p:cNvSpPr/>
          <p:nvPr/>
        </p:nvSpPr>
        <p:spPr>
          <a:xfrm>
            <a:off x="6629400"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12" name="Shape 110"/>
          <p:cNvSpPr/>
          <p:nvPr/>
        </p:nvSpPr>
        <p:spPr>
          <a:xfrm>
            <a:off x="7287768"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13" name="Shape 111"/>
          <p:cNvSpPr/>
          <p:nvPr/>
        </p:nvSpPr>
        <p:spPr>
          <a:xfrm>
            <a:off x="7946136"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14" name="Shape 112"/>
          <p:cNvSpPr/>
          <p:nvPr/>
        </p:nvSpPr>
        <p:spPr>
          <a:xfrm>
            <a:off x="8604504"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15" name="Shape 113"/>
          <p:cNvSpPr/>
          <p:nvPr/>
        </p:nvSpPr>
        <p:spPr>
          <a:xfrm>
            <a:off x="45720"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16" name="Shape 114"/>
          <p:cNvSpPr/>
          <p:nvPr/>
        </p:nvSpPr>
        <p:spPr>
          <a:xfrm>
            <a:off x="704088"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17" name="Shape 115"/>
          <p:cNvSpPr/>
          <p:nvPr/>
        </p:nvSpPr>
        <p:spPr>
          <a:xfrm>
            <a:off x="1362456"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18" name="Shape 116"/>
          <p:cNvSpPr/>
          <p:nvPr/>
        </p:nvSpPr>
        <p:spPr>
          <a:xfrm>
            <a:off x="2020824"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19" name="Shape 117"/>
          <p:cNvSpPr/>
          <p:nvPr/>
        </p:nvSpPr>
        <p:spPr>
          <a:xfrm>
            <a:off x="2679192"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0" name="Shape 118"/>
          <p:cNvSpPr/>
          <p:nvPr/>
        </p:nvSpPr>
        <p:spPr>
          <a:xfrm>
            <a:off x="3337560"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1" name="Shape 119"/>
          <p:cNvSpPr/>
          <p:nvPr/>
        </p:nvSpPr>
        <p:spPr>
          <a:xfrm>
            <a:off x="3995928"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2" name="Shape 120"/>
          <p:cNvSpPr/>
          <p:nvPr/>
        </p:nvSpPr>
        <p:spPr>
          <a:xfrm>
            <a:off x="4654296"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3" name="Shape 121"/>
          <p:cNvSpPr/>
          <p:nvPr/>
        </p:nvSpPr>
        <p:spPr>
          <a:xfrm>
            <a:off x="5312664"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4" name="Shape 122"/>
          <p:cNvSpPr/>
          <p:nvPr/>
        </p:nvSpPr>
        <p:spPr>
          <a:xfrm>
            <a:off x="5971032"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5" name="Shape 123"/>
          <p:cNvSpPr/>
          <p:nvPr/>
        </p:nvSpPr>
        <p:spPr>
          <a:xfrm>
            <a:off x="6629400"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6" name="Shape 124"/>
          <p:cNvSpPr/>
          <p:nvPr/>
        </p:nvSpPr>
        <p:spPr>
          <a:xfrm>
            <a:off x="7287768"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7" name="Shape 125"/>
          <p:cNvSpPr/>
          <p:nvPr/>
        </p:nvSpPr>
        <p:spPr>
          <a:xfrm>
            <a:off x="7946136"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8" name="Shape 126"/>
          <p:cNvSpPr/>
          <p:nvPr/>
        </p:nvSpPr>
        <p:spPr>
          <a:xfrm>
            <a:off x="8604504"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9" name="Shape 127"/>
          <p:cNvSpPr/>
          <p:nvPr/>
        </p:nvSpPr>
        <p:spPr>
          <a:xfrm>
            <a:off x="0" y="0"/>
            <a:ext cx="73152" cy="5143500"/>
          </a:xfrm>
          <a:prstGeom prst="rect">
            <a:avLst/>
          </a:prstGeom>
          <a:solidFill>
            <a:srgbClr val="00D4FF"/>
          </a:solidFill>
          <a:ln/>
        </p:spPr>
        <p:txBody>
          <a:bodyPr/>
          <a:lstStyle/>
          <a:p>
            <a:endParaRPr lang="fr-FR"/>
          </a:p>
        </p:txBody>
      </p:sp>
      <p:sp>
        <p:nvSpPr>
          <p:cNvPr id="130" name="Shape 128"/>
          <p:cNvSpPr/>
          <p:nvPr/>
        </p:nvSpPr>
        <p:spPr>
          <a:xfrm>
            <a:off x="9070848" y="0"/>
            <a:ext cx="73152" cy="5143500"/>
          </a:xfrm>
          <a:prstGeom prst="rect">
            <a:avLst/>
          </a:prstGeom>
          <a:solidFill>
            <a:srgbClr val="00D4FF"/>
          </a:solidFill>
          <a:ln/>
        </p:spPr>
        <p:txBody>
          <a:bodyPr/>
          <a:lstStyle/>
          <a:p>
            <a:endParaRPr lang="fr-FR"/>
          </a:p>
        </p:txBody>
      </p:sp>
      <p:graphicFrame>
        <p:nvGraphicFramePr>
          <p:cNvPr id="142" name="Tableau 141">
            <a:extLst>
              <a:ext uri="{FF2B5EF4-FFF2-40B4-BE49-F238E27FC236}">
                <a16:creationId xmlns:a16="http://schemas.microsoft.com/office/drawing/2014/main" id="{9CA73ACA-3E7B-4802-AACE-CECAF500F96F}"/>
              </a:ext>
            </a:extLst>
          </p:cNvPr>
          <p:cNvGraphicFramePr>
            <a:graphicFrameLocks noGrp="1"/>
          </p:cNvGraphicFramePr>
          <p:nvPr>
            <p:extLst>
              <p:ext uri="{D42A27DB-BD31-4B8C-83A1-F6EECF244321}">
                <p14:modId xmlns:p14="http://schemas.microsoft.com/office/powerpoint/2010/main" val="174628569"/>
              </p:ext>
            </p:extLst>
          </p:nvPr>
        </p:nvGraphicFramePr>
        <p:xfrm>
          <a:off x="228600" y="932143"/>
          <a:ext cx="8631936" cy="4115345"/>
        </p:xfrm>
        <a:graphic>
          <a:graphicData uri="http://schemas.openxmlformats.org/drawingml/2006/table">
            <a:tbl>
              <a:tblPr firstRow="1" bandRow="1">
                <a:tableStyleId>{5C22544A-7EE6-4342-B048-85BDC9FD1C3A}</a:tableStyleId>
              </a:tblPr>
              <a:tblGrid>
                <a:gridCol w="2891536">
                  <a:extLst>
                    <a:ext uri="{9D8B030D-6E8A-4147-A177-3AD203B41FA5}">
                      <a16:colId xmlns:a16="http://schemas.microsoft.com/office/drawing/2014/main" val="1052236360"/>
                    </a:ext>
                  </a:extLst>
                </a:gridCol>
                <a:gridCol w="2870200">
                  <a:extLst>
                    <a:ext uri="{9D8B030D-6E8A-4147-A177-3AD203B41FA5}">
                      <a16:colId xmlns:a16="http://schemas.microsoft.com/office/drawing/2014/main" val="797637916"/>
                    </a:ext>
                  </a:extLst>
                </a:gridCol>
                <a:gridCol w="2870200">
                  <a:extLst>
                    <a:ext uri="{9D8B030D-6E8A-4147-A177-3AD203B41FA5}">
                      <a16:colId xmlns:a16="http://schemas.microsoft.com/office/drawing/2014/main" val="4202146595"/>
                    </a:ext>
                  </a:extLst>
                </a:gridCol>
              </a:tblGrid>
              <a:tr h="654849">
                <a:tc>
                  <a:txBody>
                    <a:bodyPr/>
                    <a:lstStyle/>
                    <a:p>
                      <a:r>
                        <a:rPr lang="fr-FR" dirty="0"/>
                        <a:t>Noms et Prénoms</a:t>
                      </a:r>
                      <a:endParaRPr lang="fr-CM" dirty="0"/>
                    </a:p>
                  </a:txBody>
                  <a:tcPr/>
                </a:tc>
                <a:tc>
                  <a:txBody>
                    <a:bodyPr/>
                    <a:lstStyle/>
                    <a:p>
                      <a:r>
                        <a:rPr lang="fr-FR" dirty="0"/>
                        <a:t>Fonctions</a:t>
                      </a:r>
                      <a:endParaRPr lang="fr-CM" dirty="0"/>
                    </a:p>
                  </a:txBody>
                  <a:tcPr/>
                </a:tc>
                <a:tc>
                  <a:txBody>
                    <a:bodyPr/>
                    <a:lstStyle/>
                    <a:p>
                      <a:r>
                        <a:rPr lang="fr-FR" dirty="0"/>
                        <a:t>Rôles</a:t>
                      </a:r>
                      <a:endParaRPr lang="fr-CM" dirty="0"/>
                    </a:p>
                  </a:txBody>
                  <a:tcPr/>
                </a:tc>
                <a:extLst>
                  <a:ext uri="{0D108BD9-81ED-4DB2-BD59-A6C34878D82A}">
                    <a16:rowId xmlns:a16="http://schemas.microsoft.com/office/drawing/2014/main" val="746800613"/>
                  </a:ext>
                </a:extLst>
              </a:tr>
              <a:tr h="712530">
                <a:tc>
                  <a:txBody>
                    <a:bodyPr/>
                    <a:lstStyle/>
                    <a:p>
                      <a:pPr algn="ctr">
                        <a:lnSpc>
                          <a:spcPct val="150000"/>
                        </a:lnSpc>
                      </a:pPr>
                      <a:r>
                        <a:rPr lang="fr-FR" dirty="0">
                          <a:latin typeface="Times New Roman" panose="02020603050405020304" pitchFamily="18" charset="0"/>
                          <a:cs typeface="Times New Roman" panose="02020603050405020304" pitchFamily="18" charset="0"/>
                        </a:rPr>
                        <a:t>M. NGUIMBUS Emmanuel</a:t>
                      </a:r>
                      <a:endParaRPr lang="fr-CM"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fr-FR" dirty="0">
                          <a:latin typeface="Times New Roman" panose="02020603050405020304" pitchFamily="18" charset="0"/>
                          <a:cs typeface="Times New Roman" panose="02020603050405020304" pitchFamily="18" charset="0"/>
                        </a:rPr>
                        <a:t>Professeur en sécurité de système d’exploitation</a:t>
                      </a:r>
                      <a:endParaRPr lang="fr-CM"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fr-FR" dirty="0">
                          <a:latin typeface="Times New Roman" panose="02020603050405020304" pitchFamily="18" charset="0"/>
                          <a:cs typeface="Times New Roman" panose="02020603050405020304" pitchFamily="18" charset="0"/>
                        </a:rPr>
                        <a:t>Maitre d’ouvrage </a:t>
                      </a:r>
                      <a:endParaRPr lang="fr-CM"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43860695"/>
                  </a:ext>
                </a:extLst>
              </a:tr>
              <a:tr h="712530">
                <a:tc>
                  <a:txBody>
                    <a:bodyPr/>
                    <a:lstStyle/>
                    <a:p>
                      <a:pPr algn="ctr">
                        <a:lnSpc>
                          <a:spcPct val="150000"/>
                        </a:lnSpc>
                      </a:pPr>
                      <a:r>
                        <a:rPr lang="fr-FR" dirty="0">
                          <a:latin typeface="Times New Roman" panose="02020603050405020304" pitchFamily="18" charset="0"/>
                          <a:cs typeface="Times New Roman" panose="02020603050405020304" pitchFamily="18" charset="0"/>
                        </a:rPr>
                        <a:t>M.GARKA GARKA Jules</a:t>
                      </a:r>
                      <a:endParaRPr lang="fr-CM"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fr-FR" dirty="0">
                          <a:latin typeface="Times New Roman" panose="02020603050405020304" pitchFamily="18" charset="0"/>
                          <a:cs typeface="Times New Roman" panose="02020603050405020304" pitchFamily="18" charset="0"/>
                        </a:rPr>
                        <a:t>Master 1 en sécurité des systèmes d’information</a:t>
                      </a:r>
                      <a:endParaRPr lang="fr-CM"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fr-CM" dirty="0">
                          <a:latin typeface="Times New Roman" panose="02020603050405020304" pitchFamily="18" charset="0"/>
                          <a:cs typeface="Times New Roman" panose="02020603050405020304" pitchFamily="18" charset="0"/>
                        </a:rPr>
                        <a:t>Auditeur</a:t>
                      </a:r>
                    </a:p>
                    <a:p>
                      <a:pPr algn="ctr">
                        <a:lnSpc>
                          <a:spcPct val="150000"/>
                        </a:lnSpc>
                      </a:pPr>
                      <a:r>
                        <a:rPr lang="fr-CM" dirty="0">
                          <a:latin typeface="Times New Roman" panose="02020603050405020304" pitchFamily="18" charset="0"/>
                          <a:cs typeface="Times New Roman" panose="02020603050405020304" pitchFamily="18" charset="0"/>
                        </a:rPr>
                        <a:t>Maitre d’</a:t>
                      </a:r>
                      <a:r>
                        <a:rPr lang="fr-CM">
                          <a:latin typeface="Times New Roman" panose="02020603050405020304" pitchFamily="18" charset="0"/>
                          <a:cs typeface="Times New Roman" panose="02020603050405020304" pitchFamily="18" charset="0"/>
                        </a:rPr>
                        <a:t>oeuvre</a:t>
                      </a:r>
                      <a:endParaRPr lang="fr-CM"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15049038"/>
                  </a:ext>
                </a:extLst>
              </a:tr>
              <a:tr h="712530">
                <a:tc>
                  <a:txBody>
                    <a:bodyPr/>
                    <a:lstStyle/>
                    <a:p>
                      <a:pPr algn="ctr">
                        <a:lnSpc>
                          <a:spcPct val="150000"/>
                        </a:lnSpc>
                      </a:pPr>
                      <a:r>
                        <a:rPr lang="fr-FR" dirty="0">
                          <a:latin typeface="Times New Roman" panose="02020603050405020304" pitchFamily="18" charset="0"/>
                          <a:cs typeface="Times New Roman" panose="02020603050405020304" pitchFamily="18" charset="0"/>
                        </a:rPr>
                        <a:t>Mme. TEMATIO ZEBAZE </a:t>
                      </a:r>
                      <a:r>
                        <a:rPr lang="fr-FR" dirty="0" err="1">
                          <a:latin typeface="Times New Roman" panose="02020603050405020304" pitchFamily="18" charset="0"/>
                          <a:cs typeface="Times New Roman" panose="02020603050405020304" pitchFamily="18" charset="0"/>
                        </a:rPr>
                        <a:t>Powera</a:t>
                      </a:r>
                      <a:endParaRPr lang="fr-CM"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fr-FR" dirty="0">
                          <a:latin typeface="Times New Roman" panose="02020603050405020304" pitchFamily="18" charset="0"/>
                          <a:cs typeface="Times New Roman" panose="02020603050405020304" pitchFamily="18" charset="0"/>
                        </a:rPr>
                        <a:t>Master 1 en sécurité des systèmes d’information </a:t>
                      </a:r>
                      <a:endParaRPr lang="fr-CM"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fr-CM" dirty="0">
                          <a:latin typeface="Times New Roman" panose="02020603050405020304" pitchFamily="18" charset="0"/>
                          <a:cs typeface="Times New Roman" panose="02020603050405020304" pitchFamily="18" charset="0"/>
                        </a:rPr>
                        <a:t>Administrateur</a:t>
                      </a:r>
                    </a:p>
                  </a:txBody>
                  <a:tcPr/>
                </a:tc>
                <a:extLst>
                  <a:ext uri="{0D108BD9-81ED-4DB2-BD59-A6C34878D82A}">
                    <a16:rowId xmlns:a16="http://schemas.microsoft.com/office/drawing/2014/main" val="2777296584"/>
                  </a:ext>
                </a:extLst>
              </a:tr>
              <a:tr h="654849">
                <a:tc>
                  <a:txBody>
                    <a:bodyPr/>
                    <a:lstStyle/>
                    <a:p>
                      <a:pPr algn="ctr">
                        <a:lnSpc>
                          <a:spcPct val="150000"/>
                        </a:lnSpc>
                      </a:pPr>
                      <a:r>
                        <a:rPr lang="fr-FR" dirty="0">
                          <a:latin typeface="Times New Roman" panose="02020603050405020304" pitchFamily="18" charset="0"/>
                          <a:cs typeface="Times New Roman" panose="02020603050405020304" pitchFamily="18" charset="0"/>
                        </a:rPr>
                        <a:t>M. LONDJI Jean Christian</a:t>
                      </a:r>
                      <a:endParaRPr lang="fr-CM"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dirty="0">
                          <a:latin typeface="Times New Roman" panose="02020603050405020304" pitchFamily="18" charset="0"/>
                          <a:cs typeface="Times New Roman" panose="02020603050405020304" pitchFamily="18" charset="0"/>
                        </a:rPr>
                        <a:t>Master 1 en sécurité des systèmes d’information </a:t>
                      </a:r>
                      <a:endParaRPr lang="fr-CM"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fr-CM" dirty="0">
                          <a:latin typeface="Times New Roman" panose="02020603050405020304" pitchFamily="18" charset="0"/>
                          <a:cs typeface="Times New Roman" panose="02020603050405020304" pitchFamily="18" charset="0"/>
                        </a:rPr>
                        <a:t>Développeur </a:t>
                      </a:r>
                    </a:p>
                  </a:txBody>
                  <a:tcPr/>
                </a:tc>
                <a:extLst>
                  <a:ext uri="{0D108BD9-81ED-4DB2-BD59-A6C34878D82A}">
                    <a16:rowId xmlns:a16="http://schemas.microsoft.com/office/drawing/2014/main" val="2238280573"/>
                  </a:ext>
                </a:extLst>
              </a:tr>
            </a:tbl>
          </a:graphicData>
        </a:graphic>
      </p:graphicFrame>
      <p:sp>
        <p:nvSpPr>
          <p:cNvPr id="145" name="Shape 0">
            <a:extLst>
              <a:ext uri="{FF2B5EF4-FFF2-40B4-BE49-F238E27FC236}">
                <a16:creationId xmlns:a16="http://schemas.microsoft.com/office/drawing/2014/main" id="{93ACCB5E-F051-4EF5-A9D3-7112DE573666}"/>
              </a:ext>
            </a:extLst>
          </p:cNvPr>
          <p:cNvSpPr/>
          <p:nvPr/>
        </p:nvSpPr>
        <p:spPr>
          <a:xfrm>
            <a:off x="1162812" y="100312"/>
            <a:ext cx="5145024" cy="658368"/>
          </a:xfrm>
          <a:prstGeom prst="rect">
            <a:avLst/>
          </a:prstGeom>
          <a:solidFill>
            <a:srgbClr val="162032"/>
          </a:solidFill>
          <a:ln/>
        </p:spPr>
        <p:txBody>
          <a:bodyPr/>
          <a:lstStyle/>
          <a:p>
            <a:pPr>
              <a:lnSpc>
                <a:spcPct val="150000"/>
              </a:lnSpc>
            </a:pPr>
            <a:r>
              <a:rPr lang="fr-FR" dirty="0">
                <a:solidFill>
                  <a:schemeClr val="bg1"/>
                </a:solidFill>
                <a:latin typeface="Times New Roman" panose="02020603050405020304" pitchFamily="18" charset="0"/>
                <a:cs typeface="Times New Roman" panose="02020603050405020304" pitchFamily="18" charset="0"/>
              </a:rPr>
              <a:t>V. Intervenants du projet </a:t>
            </a:r>
            <a:endParaRPr lang="fr-CM"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62032"/>
          </a:solidFill>
          <a:ln/>
        </p:spPr>
        <p:txBody>
          <a:bodyPr/>
          <a:lstStyle/>
          <a:p>
            <a:endParaRPr lang="fr-FR"/>
          </a:p>
        </p:txBody>
      </p:sp>
      <p:sp>
        <p:nvSpPr>
          <p:cNvPr id="3" name="Text 1"/>
          <p:cNvSpPr/>
          <p:nvPr/>
        </p:nvSpPr>
        <p:spPr>
          <a:xfrm>
            <a:off x="365760" y="228600"/>
            <a:ext cx="822960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VIII. LIVRABLES &amp; ÉCHÉANCIER</a:t>
            </a:r>
            <a:endParaRPr lang="en-US" sz="2200" dirty="0"/>
          </a:p>
        </p:txBody>
      </p:sp>
      <p:sp>
        <p:nvSpPr>
          <p:cNvPr id="4" name="Text 2"/>
          <p:cNvSpPr/>
          <p:nvPr/>
        </p:nvSpPr>
        <p:spPr>
          <a:xfrm>
            <a:off x="365760" y="1097280"/>
            <a:ext cx="4114800" cy="347472"/>
          </a:xfrm>
          <a:prstGeom prst="rect">
            <a:avLst/>
          </a:prstGeom>
          <a:noFill/>
          <a:ln/>
        </p:spPr>
        <p:txBody>
          <a:bodyPr wrap="square" rtlCol="0" anchor="ctr"/>
          <a:lstStyle/>
          <a:p>
            <a:pPr marL="0" indent="0">
              <a:buNone/>
            </a:pPr>
            <a:r>
              <a:rPr lang="en-US" sz="1400" b="1" dirty="0">
                <a:solidFill>
                  <a:srgbClr val="00D4FF"/>
                </a:solidFill>
                <a:latin typeface="Calibri" pitchFamily="34" charset="0"/>
                <a:ea typeface="Calibri" pitchFamily="34" charset="-122"/>
                <a:cs typeface="Calibri" pitchFamily="34" charset="-120"/>
              </a:rPr>
              <a:t>LIVRABLES</a:t>
            </a:r>
            <a:endParaRPr lang="en-US" sz="1400" dirty="0"/>
          </a:p>
        </p:txBody>
      </p:sp>
      <p:sp>
        <p:nvSpPr>
          <p:cNvPr id="5" name="Shape 3"/>
          <p:cNvSpPr/>
          <p:nvPr/>
        </p:nvSpPr>
        <p:spPr>
          <a:xfrm>
            <a:off x="365760" y="1508760"/>
            <a:ext cx="4114800" cy="493776"/>
          </a:xfrm>
          <a:prstGeom prst="rect">
            <a:avLst/>
          </a:prstGeom>
          <a:solidFill>
            <a:srgbClr val="1C2B3A"/>
          </a:solidFill>
          <a:ln w="6350">
            <a:solidFill>
              <a:srgbClr val="0099BB"/>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502920" y="1581912"/>
            <a:ext cx="256032" cy="256032"/>
          </a:xfrm>
          <a:prstGeom prst="rect">
            <a:avLst/>
          </a:prstGeom>
        </p:spPr>
      </p:pic>
      <p:sp>
        <p:nvSpPr>
          <p:cNvPr id="7" name="Text 4"/>
          <p:cNvSpPr/>
          <p:nvPr/>
        </p:nvSpPr>
        <p:spPr>
          <a:xfrm>
            <a:off x="841248" y="1572768"/>
            <a:ext cx="3520440" cy="347472"/>
          </a:xfrm>
          <a:prstGeom prst="rect">
            <a:avLst/>
          </a:prstGeom>
          <a:noFill/>
          <a:ln/>
        </p:spPr>
        <p:txBody>
          <a:bodyPr wrap="square" rtlCol="0" anchor="ctr"/>
          <a:lstStyle/>
          <a:p>
            <a:pPr marL="0" indent="0">
              <a:buNone/>
            </a:pPr>
            <a:r>
              <a:rPr lang="en-US" sz="1150" b="1" dirty="0">
                <a:solidFill>
                  <a:srgbClr val="E8F4FD"/>
                </a:solidFill>
                <a:latin typeface="Calibri" pitchFamily="34" charset="0"/>
                <a:ea typeface="Calibri" pitchFamily="34" charset="-122"/>
                <a:cs typeface="Calibri" pitchFamily="34" charset="-120"/>
              </a:rPr>
              <a:t>Cahier des charges  </a:t>
            </a:r>
            <a:r>
              <a:rPr lang="en-US" sz="1150" i="1" dirty="0">
                <a:solidFill>
                  <a:srgbClr val="8BA3B5"/>
                </a:solidFill>
                <a:latin typeface="Calibri" pitchFamily="34" charset="0"/>
                <a:ea typeface="Calibri" pitchFamily="34" charset="-122"/>
                <a:cs typeface="Calibri" pitchFamily="34" charset="-120"/>
              </a:rPr>
              <a:t>Document de référence du projet</a:t>
            </a:r>
            <a:endParaRPr lang="en-US" sz="1150" dirty="0"/>
          </a:p>
        </p:txBody>
      </p:sp>
      <p:sp>
        <p:nvSpPr>
          <p:cNvPr id="8" name="Shape 5"/>
          <p:cNvSpPr/>
          <p:nvPr/>
        </p:nvSpPr>
        <p:spPr>
          <a:xfrm>
            <a:off x="365760" y="2075688"/>
            <a:ext cx="4114800" cy="493776"/>
          </a:xfrm>
          <a:prstGeom prst="rect">
            <a:avLst/>
          </a:prstGeom>
          <a:solidFill>
            <a:srgbClr val="1C2B3A"/>
          </a:solidFill>
          <a:ln w="6350">
            <a:solidFill>
              <a:srgbClr val="0099BB"/>
            </a:solidFill>
            <a:prstDash val="solid"/>
          </a:ln>
        </p:spPr>
        <p:txBody>
          <a:bodyPr/>
          <a:lstStyle/>
          <a:p>
            <a:endParaRPr lang="fr-FR"/>
          </a:p>
        </p:txBody>
      </p:sp>
      <p:pic>
        <p:nvPicPr>
          <p:cNvPr id="9" name="Image 1" descr="preencoded.png"/>
          <p:cNvPicPr>
            <a:picLocks noChangeAspect="1"/>
          </p:cNvPicPr>
          <p:nvPr/>
        </p:nvPicPr>
        <p:blipFill>
          <a:blip r:embed="rId3"/>
          <a:stretch>
            <a:fillRect/>
          </a:stretch>
        </p:blipFill>
        <p:spPr>
          <a:xfrm>
            <a:off x="502920" y="2148840"/>
            <a:ext cx="256032" cy="256032"/>
          </a:xfrm>
          <a:prstGeom prst="rect">
            <a:avLst/>
          </a:prstGeom>
        </p:spPr>
      </p:pic>
      <p:sp>
        <p:nvSpPr>
          <p:cNvPr id="10" name="Text 6"/>
          <p:cNvSpPr/>
          <p:nvPr/>
        </p:nvSpPr>
        <p:spPr>
          <a:xfrm>
            <a:off x="841248" y="2139696"/>
            <a:ext cx="3520440" cy="347472"/>
          </a:xfrm>
          <a:prstGeom prst="rect">
            <a:avLst/>
          </a:prstGeom>
          <a:noFill/>
          <a:ln/>
        </p:spPr>
        <p:txBody>
          <a:bodyPr wrap="square" rtlCol="0" anchor="ctr"/>
          <a:lstStyle/>
          <a:p>
            <a:pPr marL="0" indent="0">
              <a:buNone/>
            </a:pPr>
            <a:r>
              <a:rPr lang="en-US" sz="1150" b="1" dirty="0">
                <a:solidFill>
                  <a:srgbClr val="E8F4FD"/>
                </a:solidFill>
                <a:latin typeface="Calibri" pitchFamily="34" charset="0"/>
                <a:ea typeface="Calibri" pitchFamily="34" charset="-122"/>
                <a:cs typeface="Calibri" pitchFamily="34" charset="-120"/>
              </a:rPr>
              <a:t>Cahier d'analyse  </a:t>
            </a:r>
            <a:r>
              <a:rPr lang="en-US" sz="1150" i="1" dirty="0">
                <a:solidFill>
                  <a:srgbClr val="8BA3B5"/>
                </a:solidFill>
                <a:latin typeface="Calibri" pitchFamily="34" charset="0"/>
                <a:ea typeface="Calibri" pitchFamily="34" charset="-122"/>
                <a:cs typeface="Calibri" pitchFamily="34" charset="-120"/>
              </a:rPr>
              <a:t>Étude fonctionnelle détaillée</a:t>
            </a:r>
            <a:endParaRPr lang="en-US" sz="1150" dirty="0"/>
          </a:p>
        </p:txBody>
      </p:sp>
      <p:sp>
        <p:nvSpPr>
          <p:cNvPr id="11" name="Shape 7"/>
          <p:cNvSpPr/>
          <p:nvPr/>
        </p:nvSpPr>
        <p:spPr>
          <a:xfrm>
            <a:off x="365760" y="2642616"/>
            <a:ext cx="4114800" cy="493776"/>
          </a:xfrm>
          <a:prstGeom prst="rect">
            <a:avLst/>
          </a:prstGeom>
          <a:solidFill>
            <a:srgbClr val="1C2B3A"/>
          </a:solidFill>
          <a:ln w="6350">
            <a:solidFill>
              <a:srgbClr val="0099BB"/>
            </a:solidFill>
            <a:prstDash val="solid"/>
          </a:ln>
        </p:spPr>
        <p:txBody>
          <a:bodyPr/>
          <a:lstStyle/>
          <a:p>
            <a:endParaRPr lang="fr-FR"/>
          </a:p>
        </p:txBody>
      </p:sp>
      <p:pic>
        <p:nvPicPr>
          <p:cNvPr id="12" name="Image 2" descr="preencoded.png"/>
          <p:cNvPicPr>
            <a:picLocks noChangeAspect="1"/>
          </p:cNvPicPr>
          <p:nvPr/>
        </p:nvPicPr>
        <p:blipFill>
          <a:blip r:embed="rId3"/>
          <a:stretch>
            <a:fillRect/>
          </a:stretch>
        </p:blipFill>
        <p:spPr>
          <a:xfrm>
            <a:off x="502920" y="2715768"/>
            <a:ext cx="256032" cy="256032"/>
          </a:xfrm>
          <a:prstGeom prst="rect">
            <a:avLst/>
          </a:prstGeom>
        </p:spPr>
      </p:pic>
      <p:sp>
        <p:nvSpPr>
          <p:cNvPr id="13" name="Text 8"/>
          <p:cNvSpPr/>
          <p:nvPr/>
        </p:nvSpPr>
        <p:spPr>
          <a:xfrm>
            <a:off x="841248" y="2706624"/>
            <a:ext cx="3520440" cy="347472"/>
          </a:xfrm>
          <a:prstGeom prst="rect">
            <a:avLst/>
          </a:prstGeom>
          <a:noFill/>
          <a:ln/>
        </p:spPr>
        <p:txBody>
          <a:bodyPr wrap="square" rtlCol="0" anchor="ctr"/>
          <a:lstStyle/>
          <a:p>
            <a:pPr marL="0" indent="0">
              <a:buNone/>
            </a:pPr>
            <a:r>
              <a:rPr lang="en-US" sz="1150" b="1" dirty="0">
                <a:solidFill>
                  <a:srgbClr val="E8F4FD"/>
                </a:solidFill>
                <a:latin typeface="Calibri" pitchFamily="34" charset="0"/>
                <a:ea typeface="Calibri" pitchFamily="34" charset="-122"/>
                <a:cs typeface="Calibri" pitchFamily="34" charset="-120"/>
              </a:rPr>
              <a:t>Cahier de conception  </a:t>
            </a:r>
            <a:r>
              <a:rPr lang="en-US" sz="1150" i="1" dirty="0">
                <a:solidFill>
                  <a:srgbClr val="8BA3B5"/>
                </a:solidFill>
                <a:latin typeface="Calibri" pitchFamily="34" charset="0"/>
                <a:ea typeface="Calibri" pitchFamily="34" charset="-122"/>
                <a:cs typeface="Calibri" pitchFamily="34" charset="-120"/>
              </a:rPr>
              <a:t>Architecture &amp; modèles de données</a:t>
            </a:r>
            <a:endParaRPr lang="en-US" sz="1150" dirty="0"/>
          </a:p>
        </p:txBody>
      </p:sp>
      <p:sp>
        <p:nvSpPr>
          <p:cNvPr id="14" name="Shape 9"/>
          <p:cNvSpPr/>
          <p:nvPr/>
        </p:nvSpPr>
        <p:spPr>
          <a:xfrm>
            <a:off x="365760" y="3209544"/>
            <a:ext cx="4114800" cy="493776"/>
          </a:xfrm>
          <a:prstGeom prst="rect">
            <a:avLst/>
          </a:prstGeom>
          <a:solidFill>
            <a:srgbClr val="1C2B3A"/>
          </a:solidFill>
          <a:ln w="6350">
            <a:solidFill>
              <a:srgbClr val="0099BB"/>
            </a:solidFill>
            <a:prstDash val="solid"/>
          </a:ln>
        </p:spPr>
        <p:txBody>
          <a:bodyPr/>
          <a:lstStyle/>
          <a:p>
            <a:endParaRPr lang="fr-FR"/>
          </a:p>
        </p:txBody>
      </p:sp>
      <p:pic>
        <p:nvPicPr>
          <p:cNvPr id="15" name="Image 3" descr="preencoded.png"/>
          <p:cNvPicPr>
            <a:picLocks noChangeAspect="1"/>
          </p:cNvPicPr>
          <p:nvPr/>
        </p:nvPicPr>
        <p:blipFill>
          <a:blip r:embed="rId4"/>
          <a:stretch>
            <a:fillRect/>
          </a:stretch>
        </p:blipFill>
        <p:spPr>
          <a:xfrm>
            <a:off x="502920" y="3282696"/>
            <a:ext cx="256032" cy="256032"/>
          </a:xfrm>
          <a:prstGeom prst="rect">
            <a:avLst/>
          </a:prstGeom>
        </p:spPr>
      </p:pic>
      <p:sp>
        <p:nvSpPr>
          <p:cNvPr id="16" name="Text 10"/>
          <p:cNvSpPr/>
          <p:nvPr/>
        </p:nvSpPr>
        <p:spPr>
          <a:xfrm>
            <a:off x="841248" y="3273552"/>
            <a:ext cx="3520440" cy="347472"/>
          </a:xfrm>
          <a:prstGeom prst="rect">
            <a:avLst/>
          </a:prstGeom>
          <a:noFill/>
          <a:ln/>
        </p:spPr>
        <p:txBody>
          <a:bodyPr wrap="square" rtlCol="0" anchor="ctr"/>
          <a:lstStyle/>
          <a:p>
            <a:pPr marL="0" indent="0">
              <a:buNone/>
            </a:pPr>
            <a:r>
              <a:rPr lang="en-US" sz="1150" b="1" dirty="0">
                <a:solidFill>
                  <a:srgbClr val="E8F4FD"/>
                </a:solidFill>
                <a:latin typeface="Calibri" pitchFamily="34" charset="0"/>
                <a:ea typeface="Calibri" pitchFamily="34" charset="-122"/>
                <a:cs typeface="Calibri" pitchFamily="34" charset="-120"/>
              </a:rPr>
              <a:t>Plateforme TomoyoManager  </a:t>
            </a:r>
            <a:r>
              <a:rPr lang="en-US" sz="1150" i="1" dirty="0">
                <a:solidFill>
                  <a:srgbClr val="8BA3B5"/>
                </a:solidFill>
                <a:latin typeface="Calibri" pitchFamily="34" charset="0"/>
                <a:ea typeface="Calibri" pitchFamily="34" charset="-122"/>
                <a:cs typeface="Calibri" pitchFamily="34" charset="-120"/>
              </a:rPr>
              <a:t>Application web fonctionnelle complète</a:t>
            </a:r>
            <a:endParaRPr lang="en-US" sz="1150" dirty="0"/>
          </a:p>
        </p:txBody>
      </p:sp>
      <p:sp>
        <p:nvSpPr>
          <p:cNvPr id="17" name="Shape 11"/>
          <p:cNvSpPr/>
          <p:nvPr/>
        </p:nvSpPr>
        <p:spPr>
          <a:xfrm>
            <a:off x="365760" y="3776472"/>
            <a:ext cx="4114800" cy="493776"/>
          </a:xfrm>
          <a:prstGeom prst="rect">
            <a:avLst/>
          </a:prstGeom>
          <a:solidFill>
            <a:srgbClr val="1C2B3A"/>
          </a:solidFill>
          <a:ln w="6350">
            <a:solidFill>
              <a:srgbClr val="0099BB"/>
            </a:solidFill>
            <a:prstDash val="solid"/>
          </a:ln>
        </p:spPr>
        <p:txBody>
          <a:bodyPr/>
          <a:lstStyle/>
          <a:p>
            <a:endParaRPr lang="fr-FR"/>
          </a:p>
        </p:txBody>
      </p:sp>
      <p:pic>
        <p:nvPicPr>
          <p:cNvPr id="18" name="Image 4" descr="preencoded.png"/>
          <p:cNvPicPr>
            <a:picLocks noChangeAspect="1"/>
          </p:cNvPicPr>
          <p:nvPr/>
        </p:nvPicPr>
        <p:blipFill>
          <a:blip r:embed="rId5"/>
          <a:stretch>
            <a:fillRect/>
          </a:stretch>
        </p:blipFill>
        <p:spPr>
          <a:xfrm>
            <a:off x="502920" y="3849624"/>
            <a:ext cx="256032" cy="256032"/>
          </a:xfrm>
          <a:prstGeom prst="rect">
            <a:avLst/>
          </a:prstGeom>
        </p:spPr>
      </p:pic>
      <p:sp>
        <p:nvSpPr>
          <p:cNvPr id="19" name="Text 12"/>
          <p:cNvSpPr/>
          <p:nvPr/>
        </p:nvSpPr>
        <p:spPr>
          <a:xfrm>
            <a:off x="841248" y="3840480"/>
            <a:ext cx="3520440" cy="347472"/>
          </a:xfrm>
          <a:prstGeom prst="rect">
            <a:avLst/>
          </a:prstGeom>
          <a:noFill/>
          <a:ln/>
        </p:spPr>
        <p:txBody>
          <a:bodyPr wrap="square" rtlCol="0" anchor="ctr"/>
          <a:lstStyle/>
          <a:p>
            <a:pPr marL="0" indent="0">
              <a:buNone/>
            </a:pPr>
            <a:r>
              <a:rPr lang="en-US" sz="1150" b="1" dirty="0">
                <a:solidFill>
                  <a:srgbClr val="E8F4FD"/>
                </a:solidFill>
                <a:latin typeface="Calibri" pitchFamily="34" charset="0"/>
                <a:ea typeface="Calibri" pitchFamily="34" charset="-122"/>
                <a:cs typeface="Calibri" pitchFamily="34" charset="-120"/>
              </a:rPr>
              <a:t>Scripts de déploiement  </a:t>
            </a:r>
            <a:r>
              <a:rPr lang="en-US" sz="1150" i="1" dirty="0">
                <a:solidFill>
                  <a:srgbClr val="8BA3B5"/>
                </a:solidFill>
                <a:latin typeface="Calibri" pitchFamily="34" charset="0"/>
                <a:ea typeface="Calibri" pitchFamily="34" charset="-122"/>
                <a:cs typeface="Calibri" pitchFamily="34" charset="-120"/>
              </a:rPr>
              <a:t>Ansible / Shell — installation automatisée</a:t>
            </a:r>
            <a:endParaRPr lang="en-US" sz="1150" dirty="0"/>
          </a:p>
        </p:txBody>
      </p:sp>
      <p:sp>
        <p:nvSpPr>
          <p:cNvPr id="20" name="Shape 13"/>
          <p:cNvSpPr/>
          <p:nvPr/>
        </p:nvSpPr>
        <p:spPr>
          <a:xfrm>
            <a:off x="365760" y="4343400"/>
            <a:ext cx="4114800" cy="493776"/>
          </a:xfrm>
          <a:prstGeom prst="rect">
            <a:avLst/>
          </a:prstGeom>
          <a:solidFill>
            <a:srgbClr val="1C2B3A"/>
          </a:solidFill>
          <a:ln w="6350">
            <a:solidFill>
              <a:srgbClr val="0099BB"/>
            </a:solidFill>
            <a:prstDash val="solid"/>
          </a:ln>
        </p:spPr>
        <p:txBody>
          <a:bodyPr/>
          <a:lstStyle/>
          <a:p>
            <a:endParaRPr lang="fr-FR"/>
          </a:p>
        </p:txBody>
      </p:sp>
      <p:pic>
        <p:nvPicPr>
          <p:cNvPr id="21" name="Image 5" descr="preencoded.png"/>
          <p:cNvPicPr>
            <a:picLocks noChangeAspect="1"/>
          </p:cNvPicPr>
          <p:nvPr/>
        </p:nvPicPr>
        <p:blipFill>
          <a:blip r:embed="rId6"/>
          <a:stretch>
            <a:fillRect/>
          </a:stretch>
        </p:blipFill>
        <p:spPr>
          <a:xfrm>
            <a:off x="502920" y="4416552"/>
            <a:ext cx="256032" cy="256032"/>
          </a:xfrm>
          <a:prstGeom prst="rect">
            <a:avLst/>
          </a:prstGeom>
        </p:spPr>
      </p:pic>
      <p:sp>
        <p:nvSpPr>
          <p:cNvPr id="22" name="Text 14"/>
          <p:cNvSpPr/>
          <p:nvPr/>
        </p:nvSpPr>
        <p:spPr>
          <a:xfrm>
            <a:off x="841248" y="4407408"/>
            <a:ext cx="3520440" cy="347472"/>
          </a:xfrm>
          <a:prstGeom prst="rect">
            <a:avLst/>
          </a:prstGeom>
          <a:noFill/>
          <a:ln/>
        </p:spPr>
        <p:txBody>
          <a:bodyPr wrap="square" rtlCol="0" anchor="ctr"/>
          <a:lstStyle/>
          <a:p>
            <a:pPr marL="0" indent="0">
              <a:buNone/>
            </a:pPr>
            <a:r>
              <a:rPr lang="en-US" sz="1150" b="1" dirty="0">
                <a:solidFill>
                  <a:srgbClr val="E8F4FD"/>
                </a:solidFill>
                <a:latin typeface="Calibri" pitchFamily="34" charset="0"/>
                <a:ea typeface="Calibri" pitchFamily="34" charset="-122"/>
                <a:cs typeface="Calibri" pitchFamily="34" charset="-120"/>
              </a:rPr>
              <a:t>Démo Attack/Defense  </a:t>
            </a:r>
            <a:r>
              <a:rPr lang="en-US" sz="1150" i="1" dirty="0">
                <a:solidFill>
                  <a:srgbClr val="8BA3B5"/>
                </a:solidFill>
                <a:latin typeface="Calibri" pitchFamily="34" charset="0"/>
                <a:ea typeface="Calibri" pitchFamily="34" charset="-122"/>
                <a:cs typeface="Calibri" pitchFamily="34" charset="-120"/>
              </a:rPr>
              <a:t>Scénario documenté + rapport vidéo</a:t>
            </a:r>
            <a:endParaRPr lang="en-US" sz="1150" dirty="0"/>
          </a:p>
        </p:txBody>
      </p:sp>
      <p:sp>
        <p:nvSpPr>
          <p:cNvPr id="23" name="Text 15"/>
          <p:cNvSpPr/>
          <p:nvPr/>
        </p:nvSpPr>
        <p:spPr>
          <a:xfrm>
            <a:off x="4800600" y="1097280"/>
            <a:ext cx="4114800" cy="347472"/>
          </a:xfrm>
          <a:prstGeom prst="rect">
            <a:avLst/>
          </a:prstGeom>
          <a:noFill/>
          <a:ln/>
        </p:spPr>
        <p:txBody>
          <a:bodyPr wrap="square" rtlCol="0" anchor="ctr"/>
          <a:lstStyle/>
          <a:p>
            <a:pPr marL="0" indent="0">
              <a:buNone/>
            </a:pPr>
            <a:r>
              <a:rPr lang="en-US" sz="1400" b="1" dirty="0">
                <a:solidFill>
                  <a:srgbClr val="00D4FF"/>
                </a:solidFill>
                <a:latin typeface="Calibri" pitchFamily="34" charset="0"/>
                <a:ea typeface="Calibri" pitchFamily="34" charset="-122"/>
                <a:cs typeface="Calibri" pitchFamily="34" charset="-120"/>
              </a:rPr>
              <a:t>ÉCHÉANCIER</a:t>
            </a:r>
            <a:endParaRPr lang="en-US" sz="1400" dirty="0"/>
          </a:p>
        </p:txBody>
      </p:sp>
      <p:sp>
        <p:nvSpPr>
          <p:cNvPr id="24" name="Shape 16"/>
          <p:cNvSpPr/>
          <p:nvPr/>
        </p:nvSpPr>
        <p:spPr>
          <a:xfrm>
            <a:off x="5623560" y="1508760"/>
            <a:ext cx="36576" cy="3474720"/>
          </a:xfrm>
          <a:prstGeom prst="rect">
            <a:avLst/>
          </a:prstGeom>
          <a:solidFill>
            <a:srgbClr val="0099BB"/>
          </a:solidFill>
          <a:ln/>
        </p:spPr>
        <p:txBody>
          <a:bodyPr/>
          <a:lstStyle/>
          <a:p>
            <a:endParaRPr lang="fr-FR"/>
          </a:p>
        </p:txBody>
      </p:sp>
      <p:sp>
        <p:nvSpPr>
          <p:cNvPr id="25" name="Shape 17"/>
          <p:cNvSpPr/>
          <p:nvPr/>
        </p:nvSpPr>
        <p:spPr>
          <a:xfrm>
            <a:off x="5541264" y="1673352"/>
            <a:ext cx="201168" cy="201168"/>
          </a:xfrm>
          <a:prstGeom prst="ellipse">
            <a:avLst/>
          </a:prstGeom>
          <a:solidFill>
            <a:srgbClr val="00D4FF"/>
          </a:solidFill>
          <a:ln/>
        </p:spPr>
        <p:txBody>
          <a:bodyPr/>
          <a:lstStyle/>
          <a:p>
            <a:endParaRPr lang="fr-FR"/>
          </a:p>
        </p:txBody>
      </p:sp>
      <p:sp>
        <p:nvSpPr>
          <p:cNvPr id="26" name="Shape 18"/>
          <p:cNvSpPr/>
          <p:nvPr/>
        </p:nvSpPr>
        <p:spPr>
          <a:xfrm>
            <a:off x="5897880" y="1508760"/>
            <a:ext cx="2926080" cy="493776"/>
          </a:xfrm>
          <a:prstGeom prst="rect">
            <a:avLst/>
          </a:prstGeom>
          <a:solidFill>
            <a:srgbClr val="1C2B3A"/>
          </a:solidFill>
          <a:ln w="6350">
            <a:solidFill>
              <a:srgbClr val="00D4FF"/>
            </a:solidFill>
            <a:prstDash val="solid"/>
          </a:ln>
        </p:spPr>
        <p:txBody>
          <a:bodyPr/>
          <a:lstStyle/>
          <a:p>
            <a:endParaRPr lang="fr-FR"/>
          </a:p>
        </p:txBody>
      </p:sp>
      <p:sp>
        <p:nvSpPr>
          <p:cNvPr id="27" name="Text 19"/>
          <p:cNvSpPr/>
          <p:nvPr/>
        </p:nvSpPr>
        <p:spPr>
          <a:xfrm>
            <a:off x="6016752" y="1618488"/>
            <a:ext cx="2743200" cy="292608"/>
          </a:xfrm>
          <a:prstGeom prst="rect">
            <a:avLst/>
          </a:prstGeom>
          <a:noFill/>
          <a:ln/>
        </p:spPr>
        <p:txBody>
          <a:bodyPr wrap="square" rtlCol="0" anchor="ctr"/>
          <a:lstStyle/>
          <a:p>
            <a:pPr marL="0" indent="0">
              <a:buNone/>
            </a:pPr>
            <a:r>
              <a:rPr lang="en-US" sz="1000" b="1" dirty="0">
                <a:solidFill>
                  <a:srgbClr val="00D4FF"/>
                </a:solidFill>
                <a:latin typeface="Calibri" pitchFamily="34" charset="0"/>
                <a:ea typeface="Calibri" pitchFamily="34" charset="-122"/>
                <a:cs typeface="Calibri" pitchFamily="34" charset="-120"/>
              </a:rPr>
              <a:t>Phase 1  </a:t>
            </a:r>
            <a:r>
              <a:rPr lang="en-US" sz="1100" b="1" dirty="0">
                <a:solidFill>
                  <a:srgbClr val="E8F4FD"/>
                </a:solidFill>
                <a:latin typeface="Calibri" pitchFamily="34" charset="0"/>
                <a:ea typeface="Calibri" pitchFamily="34" charset="-122"/>
                <a:cs typeface="Calibri" pitchFamily="34" charset="-120"/>
              </a:rPr>
              <a:t>cahier de charge</a:t>
            </a:r>
            <a:r>
              <a:rPr lang="en-US" sz="1100" dirty="0">
                <a:solidFill>
                  <a:srgbClr val="E8F4FD"/>
                </a:solidFill>
                <a:latin typeface="Calibri" pitchFamily="34" charset="0"/>
                <a:ea typeface="Calibri" pitchFamily="34" charset="-122"/>
                <a:cs typeface="Calibri" pitchFamily="34" charset="-120"/>
              </a:rPr>
              <a:t>  </a:t>
            </a:r>
            <a:r>
              <a:rPr lang="en-US" sz="1000" i="1" dirty="0">
                <a:solidFill>
                  <a:srgbClr val="8BA3B5"/>
                </a:solidFill>
                <a:latin typeface="Calibri" pitchFamily="34" charset="0"/>
                <a:ea typeface="Calibri" pitchFamily="34" charset="-122"/>
                <a:cs typeface="Calibri" pitchFamily="34" charset="-120"/>
              </a:rPr>
              <a:t>Sem. 1</a:t>
            </a:r>
            <a:endParaRPr lang="en-US" sz="1000" dirty="0"/>
          </a:p>
        </p:txBody>
      </p:sp>
      <p:sp>
        <p:nvSpPr>
          <p:cNvPr id="28" name="Shape 20"/>
          <p:cNvSpPr/>
          <p:nvPr/>
        </p:nvSpPr>
        <p:spPr>
          <a:xfrm>
            <a:off x="5541264" y="2240280"/>
            <a:ext cx="201168" cy="201168"/>
          </a:xfrm>
          <a:prstGeom prst="ellipse">
            <a:avLst/>
          </a:prstGeom>
          <a:solidFill>
            <a:srgbClr val="00E676"/>
          </a:solidFill>
          <a:ln/>
        </p:spPr>
        <p:txBody>
          <a:bodyPr/>
          <a:lstStyle/>
          <a:p>
            <a:endParaRPr lang="fr-FR"/>
          </a:p>
        </p:txBody>
      </p:sp>
      <p:sp>
        <p:nvSpPr>
          <p:cNvPr id="29" name="Shape 21"/>
          <p:cNvSpPr/>
          <p:nvPr/>
        </p:nvSpPr>
        <p:spPr>
          <a:xfrm>
            <a:off x="5897880" y="2075688"/>
            <a:ext cx="2926080" cy="493776"/>
          </a:xfrm>
          <a:prstGeom prst="rect">
            <a:avLst/>
          </a:prstGeom>
          <a:solidFill>
            <a:srgbClr val="1C2B3A"/>
          </a:solidFill>
          <a:ln w="6350">
            <a:solidFill>
              <a:srgbClr val="00E676"/>
            </a:solidFill>
            <a:prstDash val="solid"/>
          </a:ln>
        </p:spPr>
        <p:txBody>
          <a:bodyPr/>
          <a:lstStyle/>
          <a:p>
            <a:endParaRPr lang="fr-FR"/>
          </a:p>
        </p:txBody>
      </p:sp>
      <p:sp>
        <p:nvSpPr>
          <p:cNvPr id="30" name="Text 22"/>
          <p:cNvSpPr/>
          <p:nvPr/>
        </p:nvSpPr>
        <p:spPr>
          <a:xfrm>
            <a:off x="6016752" y="2185416"/>
            <a:ext cx="2743200" cy="292608"/>
          </a:xfrm>
          <a:prstGeom prst="rect">
            <a:avLst/>
          </a:prstGeom>
          <a:noFill/>
          <a:ln/>
        </p:spPr>
        <p:txBody>
          <a:bodyPr wrap="square" rtlCol="0" anchor="ctr"/>
          <a:lstStyle/>
          <a:p>
            <a:pPr marL="0" indent="0">
              <a:buNone/>
            </a:pPr>
            <a:r>
              <a:rPr lang="en-US" sz="1000" b="1" dirty="0">
                <a:solidFill>
                  <a:srgbClr val="00E676"/>
                </a:solidFill>
                <a:latin typeface="Calibri" pitchFamily="34" charset="0"/>
                <a:ea typeface="Calibri" pitchFamily="34" charset="-122"/>
                <a:cs typeface="Calibri" pitchFamily="34" charset="-120"/>
              </a:rPr>
              <a:t>Phase 2  </a:t>
            </a:r>
            <a:r>
              <a:rPr lang="en-US" sz="1100" b="1" dirty="0" err="1">
                <a:solidFill>
                  <a:srgbClr val="E8F4FD"/>
                </a:solidFill>
                <a:latin typeface="Calibri" pitchFamily="34" charset="0"/>
                <a:ea typeface="Calibri" pitchFamily="34" charset="-122"/>
                <a:cs typeface="Calibri" pitchFamily="34" charset="-120"/>
              </a:rPr>
              <a:t>analyse</a:t>
            </a:r>
            <a:r>
              <a:rPr lang="en-US" sz="1100" b="1" dirty="0">
                <a:solidFill>
                  <a:srgbClr val="E8F4FD"/>
                </a:solidFill>
                <a:latin typeface="Calibri" pitchFamily="34" charset="0"/>
                <a:ea typeface="Calibri" pitchFamily="34" charset="-122"/>
                <a:cs typeface="Calibri" pitchFamily="34" charset="-120"/>
              </a:rPr>
              <a:t> et conception</a:t>
            </a:r>
            <a:r>
              <a:rPr lang="en-US" sz="1100" dirty="0">
                <a:solidFill>
                  <a:srgbClr val="E8F4FD"/>
                </a:solidFill>
                <a:latin typeface="Calibri" pitchFamily="34" charset="0"/>
                <a:ea typeface="Calibri" pitchFamily="34" charset="-122"/>
                <a:cs typeface="Calibri" pitchFamily="34" charset="-120"/>
              </a:rPr>
              <a:t>  </a:t>
            </a:r>
            <a:r>
              <a:rPr lang="en-US" sz="1000" i="1" dirty="0">
                <a:solidFill>
                  <a:srgbClr val="8BA3B5"/>
                </a:solidFill>
                <a:latin typeface="Calibri" pitchFamily="34" charset="0"/>
                <a:ea typeface="Calibri" pitchFamily="34" charset="-122"/>
                <a:cs typeface="Calibri" pitchFamily="34" charset="-120"/>
              </a:rPr>
              <a:t>Sem. 2–4</a:t>
            </a:r>
            <a:endParaRPr lang="en-US" sz="1000" dirty="0"/>
          </a:p>
        </p:txBody>
      </p:sp>
      <p:sp>
        <p:nvSpPr>
          <p:cNvPr id="31" name="Shape 23"/>
          <p:cNvSpPr/>
          <p:nvPr/>
        </p:nvSpPr>
        <p:spPr>
          <a:xfrm>
            <a:off x="5541264" y="2807208"/>
            <a:ext cx="201168" cy="201168"/>
          </a:xfrm>
          <a:prstGeom prst="ellipse">
            <a:avLst/>
          </a:prstGeom>
          <a:solidFill>
            <a:srgbClr val="00E676"/>
          </a:solidFill>
          <a:ln/>
        </p:spPr>
        <p:txBody>
          <a:bodyPr/>
          <a:lstStyle/>
          <a:p>
            <a:endParaRPr lang="fr-FR"/>
          </a:p>
        </p:txBody>
      </p:sp>
      <p:sp>
        <p:nvSpPr>
          <p:cNvPr id="32" name="Shape 24"/>
          <p:cNvSpPr/>
          <p:nvPr/>
        </p:nvSpPr>
        <p:spPr>
          <a:xfrm>
            <a:off x="5897880" y="2642616"/>
            <a:ext cx="2926080" cy="493776"/>
          </a:xfrm>
          <a:prstGeom prst="rect">
            <a:avLst/>
          </a:prstGeom>
          <a:solidFill>
            <a:srgbClr val="1C2B3A"/>
          </a:solidFill>
          <a:ln w="6350">
            <a:solidFill>
              <a:srgbClr val="00E676"/>
            </a:solidFill>
            <a:prstDash val="solid"/>
          </a:ln>
        </p:spPr>
        <p:txBody>
          <a:bodyPr/>
          <a:lstStyle/>
          <a:p>
            <a:endParaRPr lang="fr-FR"/>
          </a:p>
        </p:txBody>
      </p:sp>
      <p:sp>
        <p:nvSpPr>
          <p:cNvPr id="33" name="Text 25"/>
          <p:cNvSpPr/>
          <p:nvPr/>
        </p:nvSpPr>
        <p:spPr>
          <a:xfrm>
            <a:off x="6016752" y="2752344"/>
            <a:ext cx="2743200" cy="292608"/>
          </a:xfrm>
          <a:prstGeom prst="rect">
            <a:avLst/>
          </a:prstGeom>
          <a:noFill/>
          <a:ln/>
        </p:spPr>
        <p:txBody>
          <a:bodyPr wrap="square" rtlCol="0" anchor="ctr"/>
          <a:lstStyle/>
          <a:p>
            <a:pPr marL="0" indent="0">
              <a:buNone/>
            </a:pPr>
            <a:r>
              <a:rPr lang="en-US" sz="1000" b="1" dirty="0">
                <a:solidFill>
                  <a:srgbClr val="00E676"/>
                </a:solidFill>
                <a:latin typeface="Calibri" pitchFamily="34" charset="0"/>
                <a:ea typeface="Calibri" pitchFamily="34" charset="-122"/>
                <a:cs typeface="Calibri" pitchFamily="34" charset="-120"/>
              </a:rPr>
              <a:t>Phase 3  </a:t>
            </a:r>
            <a:r>
              <a:rPr lang="en-US" sz="1100" dirty="0" err="1">
                <a:solidFill>
                  <a:srgbClr val="E8F4FD"/>
                </a:solidFill>
                <a:latin typeface="Calibri" pitchFamily="34" charset="0"/>
                <a:ea typeface="Calibri" pitchFamily="34" charset="-122"/>
                <a:cs typeface="Calibri" pitchFamily="34" charset="-120"/>
              </a:rPr>
              <a:t>Développement</a:t>
            </a:r>
            <a:r>
              <a:rPr lang="en-US" sz="1100" dirty="0">
                <a:solidFill>
                  <a:srgbClr val="E8F4FD"/>
                </a:solidFill>
                <a:latin typeface="Calibri" pitchFamily="34" charset="0"/>
                <a:ea typeface="Calibri" pitchFamily="34" charset="-122"/>
                <a:cs typeface="Calibri" pitchFamily="34" charset="-120"/>
              </a:rPr>
              <a:t> et </a:t>
            </a:r>
            <a:r>
              <a:rPr lang="en-US" sz="1100" dirty="0" err="1">
                <a:solidFill>
                  <a:srgbClr val="E8F4FD"/>
                </a:solidFill>
                <a:latin typeface="Calibri" pitchFamily="34" charset="0"/>
                <a:ea typeface="Calibri" pitchFamily="34" charset="-122"/>
                <a:cs typeface="Calibri" pitchFamily="34" charset="-120"/>
              </a:rPr>
              <a:t>déploiement</a:t>
            </a:r>
            <a:r>
              <a:rPr lang="en-US" sz="1100" dirty="0">
                <a:solidFill>
                  <a:srgbClr val="E8F4FD"/>
                </a:solidFill>
                <a:latin typeface="Calibri" pitchFamily="34" charset="0"/>
                <a:ea typeface="Calibri" pitchFamily="34" charset="-122"/>
                <a:cs typeface="Calibri" pitchFamily="34" charset="-120"/>
              </a:rPr>
              <a:t>   </a:t>
            </a:r>
            <a:r>
              <a:rPr lang="en-US" sz="1000" i="1" dirty="0">
                <a:solidFill>
                  <a:srgbClr val="8BA3B5"/>
                </a:solidFill>
                <a:latin typeface="Calibri" pitchFamily="34" charset="0"/>
                <a:ea typeface="Calibri" pitchFamily="34" charset="-122"/>
                <a:cs typeface="Calibri" pitchFamily="34" charset="-120"/>
              </a:rPr>
              <a:t>Sem 4-7</a:t>
            </a:r>
            <a:endParaRPr lang="en-US" sz="1000" dirty="0"/>
          </a:p>
        </p:txBody>
      </p:sp>
      <p:sp>
        <p:nvSpPr>
          <p:cNvPr id="34" name="Shape 26"/>
          <p:cNvSpPr/>
          <p:nvPr/>
        </p:nvSpPr>
        <p:spPr>
          <a:xfrm>
            <a:off x="5541264" y="3374136"/>
            <a:ext cx="201168" cy="201168"/>
          </a:xfrm>
          <a:prstGeom prst="ellipse">
            <a:avLst/>
          </a:prstGeom>
          <a:solidFill>
            <a:srgbClr val="FFB300"/>
          </a:solidFill>
          <a:ln/>
        </p:spPr>
        <p:txBody>
          <a:bodyPr/>
          <a:lstStyle/>
          <a:p>
            <a:endParaRPr lang="fr-FR"/>
          </a:p>
        </p:txBody>
      </p:sp>
      <p:sp>
        <p:nvSpPr>
          <p:cNvPr id="37" name="Shape 29"/>
          <p:cNvSpPr/>
          <p:nvPr/>
        </p:nvSpPr>
        <p:spPr>
          <a:xfrm>
            <a:off x="5541264" y="3941064"/>
            <a:ext cx="201168" cy="201168"/>
          </a:xfrm>
          <a:prstGeom prst="ellipse">
            <a:avLst/>
          </a:prstGeom>
          <a:solidFill>
            <a:srgbClr val="FF3B3B"/>
          </a:solidFill>
          <a:ln/>
        </p:spPr>
        <p:txBody>
          <a:bodyPr/>
          <a:lstStyle/>
          <a:p>
            <a:endParaRPr lang="fr-FR"/>
          </a:p>
        </p:txBody>
      </p:sp>
      <p:sp>
        <p:nvSpPr>
          <p:cNvPr id="40" name="Shape 32"/>
          <p:cNvSpPr/>
          <p:nvPr/>
        </p:nvSpPr>
        <p:spPr>
          <a:xfrm>
            <a:off x="5541264" y="4507992"/>
            <a:ext cx="201168" cy="201168"/>
          </a:xfrm>
          <a:prstGeom prst="ellipse">
            <a:avLst/>
          </a:prstGeom>
          <a:solidFill>
            <a:srgbClr val="00D4FF"/>
          </a:solidFill>
          <a:ln/>
        </p:spPr>
        <p:txBody>
          <a:bodyPr/>
          <a:lstStyle/>
          <a:p>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62032"/>
          </a:solidFill>
          <a:ln/>
        </p:spPr>
        <p:txBody>
          <a:bodyPr/>
          <a:lstStyle/>
          <a:p>
            <a:endParaRPr lang="fr-FR"/>
          </a:p>
        </p:txBody>
      </p:sp>
      <p:sp>
        <p:nvSpPr>
          <p:cNvPr id="3" name="Text 1"/>
          <p:cNvSpPr/>
          <p:nvPr/>
        </p:nvSpPr>
        <p:spPr>
          <a:xfrm>
            <a:off x="365760" y="228600"/>
            <a:ext cx="822960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IX. BUDGÉTISATION</a:t>
            </a:r>
            <a:endParaRPr lang="en-US" sz="2200" dirty="0"/>
          </a:p>
        </p:txBody>
      </p:sp>
      <p:sp>
        <p:nvSpPr>
          <p:cNvPr id="4" name="Text 2"/>
          <p:cNvSpPr/>
          <p:nvPr/>
        </p:nvSpPr>
        <p:spPr>
          <a:xfrm>
            <a:off x="365760" y="1078992"/>
            <a:ext cx="4114800" cy="347472"/>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RESSOURCES HUMAINES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481328"/>
          <a:ext cx="3931920" cy="1295400"/>
        </p:xfrm>
        <a:graphic>
          <a:graphicData uri="http://schemas.openxmlformats.org/drawingml/2006/table">
            <a:tbl>
              <a:tblPr/>
              <a:tblGrid>
                <a:gridCol w="20116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Profil</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0F19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Durée</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0F19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Coût (FCFA)</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0F1923"/>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E8F4FD"/>
                          </a:solidFill>
                          <a:latin typeface="Calibri" pitchFamily="34" charset="0"/>
                          <a:ea typeface="Calibri" pitchFamily="34" charset="-122"/>
                          <a:cs typeface="Calibri" pitchFamily="34" charset="-120"/>
                        </a:rPr>
                        <a:t>Développeur Full-Stack (jr)</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tc>
                  <a:txBody>
                    <a:bodyPr/>
                    <a:lstStyle/>
                    <a:p>
                      <a:pPr marL="0" indent="0">
                        <a:buNone/>
                      </a:pPr>
                      <a:r>
                        <a:rPr lang="en-US" sz="1100" dirty="0">
                          <a:solidFill>
                            <a:srgbClr val="E8F4FD"/>
                          </a:solidFill>
                          <a:latin typeface="Calibri" pitchFamily="34" charset="0"/>
                          <a:ea typeface="Calibri" pitchFamily="34" charset="-122"/>
                          <a:cs typeface="Calibri" pitchFamily="34" charset="-120"/>
                        </a:rPr>
                        <a:t>2 mois</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tc>
                  <a:txBody>
                    <a:bodyPr/>
                    <a:lstStyle/>
                    <a:p>
                      <a:pPr marL="0" indent="0">
                        <a:buNone/>
                      </a:pPr>
                      <a:r>
                        <a:rPr lang="en-US" sz="1100" dirty="0">
                          <a:solidFill>
                            <a:srgbClr val="00D4FF"/>
                          </a:solidFill>
                          <a:latin typeface="Calibri" pitchFamily="34" charset="0"/>
                          <a:ea typeface="Calibri" pitchFamily="34" charset="-122"/>
                          <a:cs typeface="Calibri" pitchFamily="34" charset="-120"/>
                        </a:rPr>
                        <a:t>150 000</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E8F4FD"/>
                          </a:solidFill>
                          <a:latin typeface="Calibri" pitchFamily="34" charset="0"/>
                          <a:ea typeface="Calibri" pitchFamily="34" charset="-122"/>
                          <a:cs typeface="Calibri" pitchFamily="34" charset="-120"/>
                        </a:rPr>
                        <a:t>Administrateur Système Linux</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tc>
                  <a:txBody>
                    <a:bodyPr/>
                    <a:lstStyle/>
                    <a:p>
                      <a:pPr marL="0" indent="0">
                        <a:buNone/>
                      </a:pPr>
                      <a:r>
                        <a:rPr lang="en-US" sz="1100" dirty="0">
                          <a:solidFill>
                            <a:srgbClr val="E8F4FD"/>
                          </a:solidFill>
                          <a:latin typeface="Calibri" pitchFamily="34" charset="0"/>
                          <a:ea typeface="Calibri" pitchFamily="34" charset="-122"/>
                          <a:cs typeface="Calibri" pitchFamily="34" charset="-120"/>
                        </a:rPr>
                        <a:t>2 mois</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tc>
                  <a:txBody>
                    <a:bodyPr/>
                    <a:lstStyle/>
                    <a:p>
                      <a:pPr marL="0" indent="0">
                        <a:buNone/>
                      </a:pPr>
                      <a:r>
                        <a:rPr lang="en-US" sz="1100" dirty="0">
                          <a:solidFill>
                            <a:srgbClr val="00D4FF"/>
                          </a:solidFill>
                          <a:latin typeface="Calibri" pitchFamily="34" charset="0"/>
                          <a:ea typeface="Calibri" pitchFamily="34" charset="-122"/>
                          <a:cs typeface="Calibri" pitchFamily="34" charset="-120"/>
                        </a:rPr>
                        <a:t>200 000</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E8F4FD"/>
                          </a:solidFill>
                          <a:latin typeface="Calibri" pitchFamily="34" charset="0"/>
                          <a:ea typeface="Calibri" pitchFamily="34" charset="-122"/>
                          <a:cs typeface="Calibri" pitchFamily="34" charset="-120"/>
                        </a:rPr>
                        <a:t>Expert Sécurité / TOMOYO</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tc>
                  <a:txBody>
                    <a:bodyPr/>
                    <a:lstStyle/>
                    <a:p>
                      <a:pPr marL="0" indent="0">
                        <a:buNone/>
                      </a:pPr>
                      <a:r>
                        <a:rPr lang="en-US" sz="1100" dirty="0">
                          <a:solidFill>
                            <a:srgbClr val="E8F4FD"/>
                          </a:solidFill>
                          <a:latin typeface="Calibri" pitchFamily="34" charset="0"/>
                          <a:ea typeface="Calibri" pitchFamily="34" charset="-122"/>
                          <a:cs typeface="Calibri" pitchFamily="34" charset="-120"/>
                        </a:rPr>
                        <a:t>1 mois</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tc>
                  <a:txBody>
                    <a:bodyPr/>
                    <a:lstStyle/>
                    <a:p>
                      <a:pPr marL="0" indent="0">
                        <a:buNone/>
                      </a:pPr>
                      <a:r>
                        <a:rPr lang="en-US" sz="1100" dirty="0">
                          <a:solidFill>
                            <a:srgbClr val="00D4FF"/>
                          </a:solidFill>
                          <a:latin typeface="Calibri" pitchFamily="34" charset="0"/>
                          <a:ea typeface="Calibri" pitchFamily="34" charset="-122"/>
                          <a:cs typeface="Calibri" pitchFamily="34" charset="-120"/>
                        </a:rPr>
                        <a:t>150 000</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E8F4FD"/>
                          </a:solidFill>
                          <a:latin typeface="Calibri" pitchFamily="34" charset="0"/>
                          <a:ea typeface="Calibri" pitchFamily="34" charset="-122"/>
                          <a:cs typeface="Calibri" pitchFamily="34" charset="-120"/>
                        </a:rPr>
                        <a:t>Testeur QA</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tc>
                  <a:txBody>
                    <a:bodyPr/>
                    <a:lstStyle/>
                    <a:p>
                      <a:pPr marL="0" indent="0">
                        <a:buNone/>
                      </a:pPr>
                      <a:r>
                        <a:rPr lang="en-US" sz="1100" dirty="0">
                          <a:solidFill>
                            <a:srgbClr val="E8F4FD"/>
                          </a:solidFill>
                          <a:latin typeface="Calibri" pitchFamily="34" charset="0"/>
                          <a:ea typeface="Calibri" pitchFamily="34" charset="-122"/>
                          <a:cs typeface="Calibri" pitchFamily="34" charset="-120"/>
                        </a:rPr>
                        <a:t>1 mois</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tc>
                  <a:txBody>
                    <a:bodyPr/>
                    <a:lstStyle/>
                    <a:p>
                      <a:pPr marL="0" indent="0">
                        <a:buNone/>
                      </a:pPr>
                      <a:r>
                        <a:rPr lang="en-US" sz="1100" dirty="0">
                          <a:solidFill>
                            <a:srgbClr val="00D4FF"/>
                          </a:solidFill>
                          <a:latin typeface="Calibri" pitchFamily="34" charset="0"/>
                          <a:ea typeface="Calibri" pitchFamily="34" charset="-122"/>
                          <a:cs typeface="Calibri" pitchFamily="34" charset="-120"/>
                        </a:rPr>
                        <a:t>75 000</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extLst>
                  <a:ext uri="{0D108BD9-81ED-4DB2-BD59-A6C34878D82A}">
                    <a16:rowId xmlns:a16="http://schemas.microsoft.com/office/drawing/2014/main" val="10004"/>
                  </a:ext>
                </a:extLst>
              </a:tr>
            </a:tbl>
          </a:graphicData>
        </a:graphic>
      </p:graphicFrame>
      <p:sp>
        <p:nvSpPr>
          <p:cNvPr id="6" name="Text 3"/>
          <p:cNvSpPr/>
          <p:nvPr/>
        </p:nvSpPr>
        <p:spPr>
          <a:xfrm>
            <a:off x="4754880" y="1078992"/>
            <a:ext cx="4114800" cy="347472"/>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RESSOURCES MATÉRIELLES</a:t>
            </a:r>
            <a:endParaRPr lang="en-US" sz="13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4754880" y="1481328"/>
          <a:ext cx="3840480" cy="1295400"/>
        </p:xfrm>
        <a:graphic>
          <a:graphicData uri="http://schemas.openxmlformats.org/drawingml/2006/table">
            <a:tbl>
              <a:tblPr/>
              <a:tblGrid>
                <a:gridCol w="20116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Matériel</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0F19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Qté</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0F19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Coût (FCFA)</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0F1923"/>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E8F4FD"/>
                          </a:solidFill>
                          <a:latin typeface="Calibri" pitchFamily="34" charset="0"/>
                          <a:ea typeface="Calibri" pitchFamily="34" charset="-122"/>
                          <a:cs typeface="Calibri" pitchFamily="34" charset="-120"/>
                        </a:rPr>
                        <a:t>PC Linux Debian (serveur)</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tc>
                  <a:txBody>
                    <a:bodyPr/>
                    <a:lstStyle/>
                    <a:p>
                      <a:pPr marL="0" indent="0">
                        <a:buNone/>
                      </a:pPr>
                      <a:r>
                        <a:rPr lang="en-US" sz="1100" dirty="0">
                          <a:solidFill>
                            <a:srgbClr val="E8F4FD"/>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tc>
                  <a:txBody>
                    <a:bodyPr/>
                    <a:lstStyle/>
                    <a:p>
                      <a:pPr marL="0" indent="0">
                        <a:buNone/>
                      </a:pPr>
                      <a:r>
                        <a:rPr lang="en-US" sz="1100" dirty="0">
                          <a:solidFill>
                            <a:srgbClr val="00D4FF"/>
                          </a:solidFill>
                          <a:latin typeface="Calibri" pitchFamily="34" charset="0"/>
                          <a:ea typeface="Calibri" pitchFamily="34" charset="-122"/>
                          <a:cs typeface="Calibri" pitchFamily="34" charset="-120"/>
                        </a:rPr>
                        <a:t>300 000</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E8F4FD"/>
                          </a:solidFill>
                          <a:latin typeface="Calibri" pitchFamily="34" charset="0"/>
                          <a:ea typeface="Calibri" pitchFamily="34" charset="-122"/>
                          <a:cs typeface="Calibri" pitchFamily="34" charset="-120"/>
                        </a:rPr>
                        <a:t>PC Développement</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tc>
                  <a:txBody>
                    <a:bodyPr/>
                    <a:lstStyle/>
                    <a:p>
                      <a:pPr marL="0" indent="0">
                        <a:buNone/>
                      </a:pPr>
                      <a:r>
                        <a:rPr lang="en-US" sz="1100" dirty="0">
                          <a:solidFill>
                            <a:srgbClr val="E8F4FD"/>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tc>
                  <a:txBody>
                    <a:bodyPr/>
                    <a:lstStyle/>
                    <a:p>
                      <a:pPr marL="0" indent="0">
                        <a:buNone/>
                      </a:pPr>
                      <a:r>
                        <a:rPr lang="en-US" sz="1100" dirty="0">
                          <a:solidFill>
                            <a:srgbClr val="00D4FF"/>
                          </a:solidFill>
                          <a:latin typeface="Calibri" pitchFamily="34" charset="0"/>
                          <a:ea typeface="Calibri" pitchFamily="34" charset="-122"/>
                          <a:cs typeface="Calibri" pitchFamily="34" charset="-120"/>
                        </a:rPr>
                        <a:t>600 000</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E8F4FD"/>
                          </a:solidFill>
                          <a:latin typeface="Calibri" pitchFamily="34" charset="0"/>
                          <a:ea typeface="Calibri" pitchFamily="34" charset="-122"/>
                          <a:cs typeface="Calibri" pitchFamily="34" charset="-120"/>
                        </a:rPr>
                        <a:t>Switch réseau local</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tc>
                  <a:txBody>
                    <a:bodyPr/>
                    <a:lstStyle/>
                    <a:p>
                      <a:pPr marL="0" indent="0">
                        <a:buNone/>
                      </a:pPr>
                      <a:r>
                        <a:rPr lang="en-US" sz="1100" dirty="0">
                          <a:solidFill>
                            <a:srgbClr val="E8F4FD"/>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tc>
                  <a:txBody>
                    <a:bodyPr/>
                    <a:lstStyle/>
                    <a:p>
                      <a:pPr marL="0" indent="0">
                        <a:buNone/>
                      </a:pPr>
                      <a:r>
                        <a:rPr lang="en-US" sz="1100" dirty="0">
                          <a:solidFill>
                            <a:srgbClr val="00D4FF"/>
                          </a:solidFill>
                          <a:latin typeface="Calibri" pitchFamily="34" charset="0"/>
                          <a:ea typeface="Calibri" pitchFamily="34" charset="-122"/>
                          <a:cs typeface="Calibri" pitchFamily="34" charset="-120"/>
                        </a:rPr>
                        <a:t>25 000</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E8F4FD"/>
                          </a:solidFill>
                          <a:latin typeface="Calibri" pitchFamily="34" charset="0"/>
                          <a:ea typeface="Calibri" pitchFamily="34" charset="-122"/>
                          <a:cs typeface="Calibri" pitchFamily="34" charset="-120"/>
                        </a:rPr>
                        <a:t>Forfait Internet (3 mois)</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tc>
                  <a:txBody>
                    <a:bodyPr/>
                    <a:lstStyle/>
                    <a:p>
                      <a:pPr marL="0" indent="0">
                        <a:buNone/>
                      </a:pPr>
                      <a:r>
                        <a:rPr lang="en-US" sz="1100" dirty="0">
                          <a:solidFill>
                            <a:srgbClr val="E8F4FD"/>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tc>
                  <a:txBody>
                    <a:bodyPr/>
                    <a:lstStyle/>
                    <a:p>
                      <a:pPr marL="0" indent="0">
                        <a:buNone/>
                      </a:pPr>
                      <a:r>
                        <a:rPr lang="en-US" sz="1100" dirty="0">
                          <a:solidFill>
                            <a:srgbClr val="00D4FF"/>
                          </a:solidFill>
                          <a:latin typeface="Calibri" pitchFamily="34" charset="0"/>
                          <a:ea typeface="Calibri" pitchFamily="34" charset="-122"/>
                          <a:cs typeface="Calibri" pitchFamily="34" charset="-120"/>
                        </a:rPr>
                        <a:t>45 000</a:t>
                      </a:r>
                      <a:endParaRPr lang="en-US" sz="1100" dirty="0">
                        <a:latin typeface="Calibri" charset="0"/>
                        <a:ea typeface="Calibri" charset="0"/>
                        <a:cs typeface="Calibri" charset="0"/>
                      </a:endParaRPr>
                    </a:p>
                  </a:txBody>
                  <a:tcPr>
                    <a:lnL w="6350" cap="flat" cmpd="sng" algn="ctr">
                      <a:solidFill>
                        <a:srgbClr val="4A6070"/>
                      </a:solidFill>
                      <a:prstDash val="solid"/>
                      <a:round/>
                      <a:headEnd type="none" w="med" len="med"/>
                      <a:tailEnd type="none" w="med" len="med"/>
                    </a:lnL>
                    <a:lnR w="6350" cap="flat" cmpd="sng" algn="ctr">
                      <a:solidFill>
                        <a:srgbClr val="4A6070"/>
                      </a:solidFill>
                      <a:prstDash val="solid"/>
                      <a:round/>
                      <a:headEnd type="none" w="med" len="med"/>
                      <a:tailEnd type="none" w="med" len="med"/>
                    </a:lnR>
                    <a:lnT w="6350" cap="flat" cmpd="sng" algn="ctr">
                      <a:solidFill>
                        <a:srgbClr val="4A6070"/>
                      </a:solidFill>
                      <a:prstDash val="solid"/>
                      <a:round/>
                      <a:headEnd type="none" w="med" len="med"/>
                      <a:tailEnd type="none" w="med" len="med"/>
                    </a:lnT>
                    <a:lnB w="6350" cap="flat" cmpd="sng" algn="ctr">
                      <a:solidFill>
                        <a:srgbClr val="4A6070"/>
                      </a:solidFill>
                      <a:prstDash val="solid"/>
                      <a:round/>
                      <a:headEnd type="none" w="med" len="med"/>
                      <a:tailEnd type="none" w="med" len="med"/>
                    </a:lnB>
                    <a:solidFill>
                      <a:srgbClr val="1C2B3A"/>
                    </a:solidFill>
                  </a:tcPr>
                </a:tc>
                <a:extLst>
                  <a:ext uri="{0D108BD9-81ED-4DB2-BD59-A6C34878D82A}">
                    <a16:rowId xmlns:a16="http://schemas.microsoft.com/office/drawing/2014/main" val="10004"/>
                  </a:ext>
                </a:extLst>
              </a:tr>
            </a:tbl>
          </a:graphicData>
        </a:graphic>
      </p:graphicFrame>
      <p:graphicFrame>
        <p:nvGraphicFramePr>
          <p:cNvPr id="8" name="Chart 0"/>
          <p:cNvGraphicFramePr/>
          <p:nvPr/>
        </p:nvGraphicFramePr>
        <p:xfrm>
          <a:off x="365760" y="2926080"/>
          <a:ext cx="841248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4"/>
          <p:cNvSpPr/>
          <p:nvPr/>
        </p:nvSpPr>
        <p:spPr>
          <a:xfrm>
            <a:off x="6812280" y="544068"/>
            <a:ext cx="1920240" cy="777240"/>
          </a:xfrm>
          <a:prstGeom prst="rect">
            <a:avLst/>
          </a:prstGeom>
          <a:solidFill>
            <a:srgbClr val="002A33"/>
          </a:solidFill>
          <a:ln w="19050">
            <a:solidFill>
              <a:srgbClr val="00D4FF"/>
            </a:solidFill>
            <a:prstDash val="solid"/>
          </a:ln>
          <a:effectLst>
            <a:outerShdw blurRad="101600" dist="38100" dir="8100000" algn="bl" rotWithShape="0">
              <a:srgbClr val="000000">
                <a:alpha val="35000"/>
              </a:srgbClr>
            </a:outerShdw>
          </a:effectLst>
        </p:spPr>
        <p:txBody>
          <a:bodyPr/>
          <a:lstStyle/>
          <a:p>
            <a:endParaRPr lang="fr-FR"/>
          </a:p>
        </p:txBody>
      </p:sp>
      <p:sp>
        <p:nvSpPr>
          <p:cNvPr id="10" name="Text 5"/>
          <p:cNvSpPr/>
          <p:nvPr/>
        </p:nvSpPr>
        <p:spPr>
          <a:xfrm>
            <a:off x="6858000" y="560832"/>
            <a:ext cx="1920240" cy="289560"/>
          </a:xfrm>
          <a:prstGeom prst="rect">
            <a:avLst/>
          </a:prstGeom>
          <a:noFill/>
          <a:ln/>
        </p:spPr>
        <p:txBody>
          <a:bodyPr wrap="square" rtlCol="0" anchor="ctr"/>
          <a:lstStyle/>
          <a:p>
            <a:pPr marL="0" indent="0" algn="ctr">
              <a:buNone/>
            </a:pPr>
            <a:r>
              <a:rPr lang="en-US" sz="900" dirty="0">
                <a:solidFill>
                  <a:srgbClr val="8BA3B5"/>
                </a:solidFill>
                <a:latin typeface="Calibri" pitchFamily="34" charset="0"/>
                <a:ea typeface="Calibri" pitchFamily="34" charset="-122"/>
                <a:cs typeface="Calibri" pitchFamily="34" charset="-120"/>
              </a:rPr>
              <a:t>TOTAL ESTIMÉ</a:t>
            </a:r>
            <a:endParaRPr lang="en-US" sz="900" dirty="0"/>
          </a:p>
        </p:txBody>
      </p:sp>
      <p:sp>
        <p:nvSpPr>
          <p:cNvPr id="11" name="Text 6"/>
          <p:cNvSpPr/>
          <p:nvPr/>
        </p:nvSpPr>
        <p:spPr>
          <a:xfrm>
            <a:off x="6858000" y="649224"/>
            <a:ext cx="1920240" cy="457200"/>
          </a:xfrm>
          <a:prstGeom prst="rect">
            <a:avLst/>
          </a:prstGeom>
          <a:noFill/>
          <a:ln/>
        </p:spPr>
        <p:txBody>
          <a:bodyPr wrap="square" rtlCol="0" anchor="ctr"/>
          <a:lstStyle/>
          <a:p>
            <a:pPr marL="0" indent="0" algn="ctr">
              <a:buNone/>
            </a:pPr>
            <a:r>
              <a:rPr lang="en-US" sz="1800" b="1" dirty="0">
                <a:solidFill>
                  <a:srgbClr val="00D4FF"/>
                </a:solidFill>
                <a:latin typeface="Calibri" pitchFamily="34" charset="0"/>
                <a:ea typeface="Calibri" pitchFamily="34" charset="-122"/>
                <a:cs typeface="Calibri" pitchFamily="34" charset="-120"/>
              </a:rPr>
              <a:t>1 545 000</a:t>
            </a:r>
            <a:endParaRPr lang="en-US" sz="1800" dirty="0"/>
          </a:p>
        </p:txBody>
      </p:sp>
      <p:sp>
        <p:nvSpPr>
          <p:cNvPr id="12" name="Text 7"/>
          <p:cNvSpPr/>
          <p:nvPr/>
        </p:nvSpPr>
        <p:spPr>
          <a:xfrm>
            <a:off x="6858000" y="969264"/>
            <a:ext cx="1920240" cy="109728"/>
          </a:xfrm>
          <a:prstGeom prst="rect">
            <a:avLst/>
          </a:prstGeom>
          <a:noFill/>
          <a:ln/>
        </p:spPr>
        <p:txBody>
          <a:bodyPr wrap="square" rtlCol="0" anchor="ctr"/>
          <a:lstStyle/>
          <a:p>
            <a:pPr marL="0" indent="0" algn="ctr">
              <a:buNone/>
            </a:pPr>
            <a:r>
              <a:rPr lang="en-US" sz="1000" dirty="0">
                <a:solidFill>
                  <a:srgbClr val="8BA3B5"/>
                </a:solidFill>
                <a:latin typeface="Calibri" pitchFamily="34" charset="0"/>
                <a:ea typeface="Calibri" pitchFamily="34" charset="-122"/>
                <a:cs typeface="Calibri" pitchFamily="34" charset="-120"/>
              </a:rPr>
              <a:t>FCFA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18288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3" name="Shape 1"/>
          <p:cNvSpPr/>
          <p:nvPr/>
        </p:nvSpPr>
        <p:spPr>
          <a:xfrm>
            <a:off x="96012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4" name="Shape 2"/>
          <p:cNvSpPr/>
          <p:nvPr/>
        </p:nvSpPr>
        <p:spPr>
          <a:xfrm>
            <a:off x="173736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5" name="Shape 3"/>
          <p:cNvSpPr/>
          <p:nvPr/>
        </p:nvSpPr>
        <p:spPr>
          <a:xfrm>
            <a:off x="251460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6" name="Shape 4"/>
          <p:cNvSpPr/>
          <p:nvPr/>
        </p:nvSpPr>
        <p:spPr>
          <a:xfrm>
            <a:off x="329184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7" name="Shape 5"/>
          <p:cNvSpPr/>
          <p:nvPr/>
        </p:nvSpPr>
        <p:spPr>
          <a:xfrm>
            <a:off x="406908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8" name="Shape 6"/>
          <p:cNvSpPr/>
          <p:nvPr/>
        </p:nvSpPr>
        <p:spPr>
          <a:xfrm>
            <a:off x="484632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9" name="Shape 7"/>
          <p:cNvSpPr/>
          <p:nvPr/>
        </p:nvSpPr>
        <p:spPr>
          <a:xfrm>
            <a:off x="562356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10" name="Shape 8"/>
          <p:cNvSpPr/>
          <p:nvPr/>
        </p:nvSpPr>
        <p:spPr>
          <a:xfrm>
            <a:off x="640080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11" name="Shape 9"/>
          <p:cNvSpPr/>
          <p:nvPr/>
        </p:nvSpPr>
        <p:spPr>
          <a:xfrm>
            <a:off x="717804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12" name="Shape 10"/>
          <p:cNvSpPr/>
          <p:nvPr/>
        </p:nvSpPr>
        <p:spPr>
          <a:xfrm>
            <a:off x="795528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13" name="Shape 11"/>
          <p:cNvSpPr/>
          <p:nvPr/>
        </p:nvSpPr>
        <p:spPr>
          <a:xfrm>
            <a:off x="8732520" y="182880"/>
            <a:ext cx="54864" cy="54864"/>
          </a:xfrm>
          <a:prstGeom prst="ellipse">
            <a:avLst/>
          </a:prstGeom>
          <a:solidFill>
            <a:srgbClr val="4A6070"/>
          </a:solidFill>
          <a:ln w="12700">
            <a:solidFill>
              <a:srgbClr val="4A6070"/>
            </a:solidFill>
            <a:prstDash val="solid"/>
          </a:ln>
        </p:spPr>
        <p:txBody>
          <a:bodyPr/>
          <a:lstStyle/>
          <a:p>
            <a:endParaRPr lang="fr-FR"/>
          </a:p>
        </p:txBody>
      </p:sp>
      <p:sp>
        <p:nvSpPr>
          <p:cNvPr id="14" name="Shape 12"/>
          <p:cNvSpPr/>
          <p:nvPr/>
        </p:nvSpPr>
        <p:spPr>
          <a:xfrm>
            <a:off x="182880" y="868680"/>
            <a:ext cx="54864" cy="54864"/>
          </a:xfrm>
          <a:prstGeom prst="ellipse">
            <a:avLst/>
          </a:prstGeom>
          <a:solidFill>
            <a:srgbClr val="4A6070"/>
          </a:solidFill>
          <a:ln w="12700">
            <a:solidFill>
              <a:srgbClr val="4A6070"/>
            </a:solidFill>
            <a:prstDash val="solid"/>
          </a:ln>
        </p:spPr>
        <p:txBody>
          <a:bodyPr/>
          <a:lstStyle/>
          <a:p>
            <a:endParaRPr lang="fr-FR"/>
          </a:p>
        </p:txBody>
      </p:sp>
      <p:sp>
        <p:nvSpPr>
          <p:cNvPr id="15" name="Shape 13"/>
          <p:cNvSpPr/>
          <p:nvPr/>
        </p:nvSpPr>
        <p:spPr>
          <a:xfrm>
            <a:off x="960120" y="868680"/>
            <a:ext cx="54864" cy="54864"/>
          </a:xfrm>
          <a:prstGeom prst="ellipse">
            <a:avLst/>
          </a:prstGeom>
          <a:solidFill>
            <a:srgbClr val="4A6070"/>
          </a:solidFill>
          <a:ln w="12700">
            <a:solidFill>
              <a:srgbClr val="4A6070"/>
            </a:solidFill>
            <a:prstDash val="solid"/>
          </a:ln>
        </p:spPr>
        <p:txBody>
          <a:bodyPr/>
          <a:lstStyle/>
          <a:p>
            <a:endParaRPr lang="fr-FR"/>
          </a:p>
        </p:txBody>
      </p:sp>
      <p:sp>
        <p:nvSpPr>
          <p:cNvPr id="16" name="Shape 14"/>
          <p:cNvSpPr/>
          <p:nvPr/>
        </p:nvSpPr>
        <p:spPr>
          <a:xfrm>
            <a:off x="1737360" y="868680"/>
            <a:ext cx="54864" cy="54864"/>
          </a:xfrm>
          <a:prstGeom prst="ellipse">
            <a:avLst/>
          </a:prstGeom>
          <a:solidFill>
            <a:srgbClr val="4A6070"/>
          </a:solidFill>
          <a:ln w="12700">
            <a:solidFill>
              <a:srgbClr val="4A6070"/>
            </a:solidFill>
            <a:prstDash val="solid"/>
          </a:ln>
        </p:spPr>
        <p:txBody>
          <a:bodyPr/>
          <a:lstStyle/>
          <a:p>
            <a:endParaRPr lang="fr-FR"/>
          </a:p>
        </p:txBody>
      </p:sp>
      <p:sp>
        <p:nvSpPr>
          <p:cNvPr id="17" name="Shape 15"/>
          <p:cNvSpPr/>
          <p:nvPr/>
        </p:nvSpPr>
        <p:spPr>
          <a:xfrm>
            <a:off x="2514600" y="868680"/>
            <a:ext cx="54864" cy="54864"/>
          </a:xfrm>
          <a:prstGeom prst="ellipse">
            <a:avLst/>
          </a:prstGeom>
          <a:solidFill>
            <a:srgbClr val="4A6070"/>
          </a:solidFill>
          <a:ln w="12700">
            <a:solidFill>
              <a:srgbClr val="4A6070"/>
            </a:solidFill>
            <a:prstDash val="solid"/>
          </a:ln>
        </p:spPr>
        <p:txBody>
          <a:bodyPr/>
          <a:lstStyle/>
          <a:p>
            <a:endParaRPr lang="fr-FR"/>
          </a:p>
        </p:txBody>
      </p:sp>
      <p:sp>
        <p:nvSpPr>
          <p:cNvPr id="18" name="Shape 16"/>
          <p:cNvSpPr/>
          <p:nvPr/>
        </p:nvSpPr>
        <p:spPr>
          <a:xfrm>
            <a:off x="3291840" y="868680"/>
            <a:ext cx="54864" cy="54864"/>
          </a:xfrm>
          <a:prstGeom prst="ellipse">
            <a:avLst/>
          </a:prstGeom>
          <a:solidFill>
            <a:srgbClr val="4A6070"/>
          </a:solidFill>
          <a:ln w="12700">
            <a:solidFill>
              <a:srgbClr val="4A6070"/>
            </a:solidFill>
            <a:prstDash val="solid"/>
          </a:ln>
        </p:spPr>
        <p:txBody>
          <a:bodyPr/>
          <a:lstStyle/>
          <a:p>
            <a:endParaRPr lang="fr-FR"/>
          </a:p>
        </p:txBody>
      </p:sp>
      <p:sp>
        <p:nvSpPr>
          <p:cNvPr id="19" name="Shape 17"/>
          <p:cNvSpPr/>
          <p:nvPr/>
        </p:nvSpPr>
        <p:spPr>
          <a:xfrm>
            <a:off x="4069080" y="868680"/>
            <a:ext cx="54864" cy="54864"/>
          </a:xfrm>
          <a:prstGeom prst="ellipse">
            <a:avLst/>
          </a:prstGeom>
          <a:solidFill>
            <a:srgbClr val="4A6070"/>
          </a:solidFill>
          <a:ln w="12700">
            <a:solidFill>
              <a:srgbClr val="4A6070"/>
            </a:solidFill>
            <a:prstDash val="solid"/>
          </a:ln>
        </p:spPr>
        <p:txBody>
          <a:bodyPr/>
          <a:lstStyle/>
          <a:p>
            <a:endParaRPr lang="fr-FR"/>
          </a:p>
        </p:txBody>
      </p:sp>
      <p:sp>
        <p:nvSpPr>
          <p:cNvPr id="20" name="Shape 18"/>
          <p:cNvSpPr/>
          <p:nvPr/>
        </p:nvSpPr>
        <p:spPr>
          <a:xfrm>
            <a:off x="4846320" y="868680"/>
            <a:ext cx="54864" cy="54864"/>
          </a:xfrm>
          <a:prstGeom prst="ellipse">
            <a:avLst/>
          </a:prstGeom>
          <a:solidFill>
            <a:srgbClr val="4A6070"/>
          </a:solidFill>
          <a:ln w="12700">
            <a:solidFill>
              <a:srgbClr val="4A6070"/>
            </a:solidFill>
            <a:prstDash val="solid"/>
          </a:ln>
        </p:spPr>
        <p:txBody>
          <a:bodyPr/>
          <a:lstStyle/>
          <a:p>
            <a:endParaRPr lang="fr-FR"/>
          </a:p>
        </p:txBody>
      </p:sp>
      <p:sp>
        <p:nvSpPr>
          <p:cNvPr id="21" name="Shape 19"/>
          <p:cNvSpPr/>
          <p:nvPr/>
        </p:nvSpPr>
        <p:spPr>
          <a:xfrm>
            <a:off x="5623560" y="868680"/>
            <a:ext cx="54864" cy="54864"/>
          </a:xfrm>
          <a:prstGeom prst="ellipse">
            <a:avLst/>
          </a:prstGeom>
          <a:solidFill>
            <a:srgbClr val="4A6070"/>
          </a:solidFill>
          <a:ln w="12700">
            <a:solidFill>
              <a:srgbClr val="4A6070"/>
            </a:solidFill>
            <a:prstDash val="solid"/>
          </a:ln>
        </p:spPr>
        <p:txBody>
          <a:bodyPr/>
          <a:lstStyle/>
          <a:p>
            <a:endParaRPr lang="fr-FR"/>
          </a:p>
        </p:txBody>
      </p:sp>
      <p:sp>
        <p:nvSpPr>
          <p:cNvPr id="22" name="Shape 20"/>
          <p:cNvSpPr/>
          <p:nvPr/>
        </p:nvSpPr>
        <p:spPr>
          <a:xfrm>
            <a:off x="6400800" y="868680"/>
            <a:ext cx="54864" cy="54864"/>
          </a:xfrm>
          <a:prstGeom prst="ellipse">
            <a:avLst/>
          </a:prstGeom>
          <a:solidFill>
            <a:srgbClr val="4A6070"/>
          </a:solidFill>
          <a:ln w="12700">
            <a:solidFill>
              <a:srgbClr val="4A6070"/>
            </a:solidFill>
            <a:prstDash val="solid"/>
          </a:ln>
        </p:spPr>
        <p:txBody>
          <a:bodyPr/>
          <a:lstStyle/>
          <a:p>
            <a:endParaRPr lang="fr-FR"/>
          </a:p>
        </p:txBody>
      </p:sp>
      <p:sp>
        <p:nvSpPr>
          <p:cNvPr id="23" name="Shape 21"/>
          <p:cNvSpPr/>
          <p:nvPr/>
        </p:nvSpPr>
        <p:spPr>
          <a:xfrm>
            <a:off x="7178040" y="868680"/>
            <a:ext cx="54864" cy="54864"/>
          </a:xfrm>
          <a:prstGeom prst="ellipse">
            <a:avLst/>
          </a:prstGeom>
          <a:solidFill>
            <a:srgbClr val="4A6070"/>
          </a:solidFill>
          <a:ln w="12700">
            <a:solidFill>
              <a:srgbClr val="4A6070"/>
            </a:solidFill>
            <a:prstDash val="solid"/>
          </a:ln>
        </p:spPr>
        <p:txBody>
          <a:bodyPr/>
          <a:lstStyle/>
          <a:p>
            <a:endParaRPr lang="fr-FR"/>
          </a:p>
        </p:txBody>
      </p:sp>
      <p:sp>
        <p:nvSpPr>
          <p:cNvPr id="24" name="Shape 22"/>
          <p:cNvSpPr/>
          <p:nvPr/>
        </p:nvSpPr>
        <p:spPr>
          <a:xfrm>
            <a:off x="7955280" y="868680"/>
            <a:ext cx="54864" cy="54864"/>
          </a:xfrm>
          <a:prstGeom prst="ellipse">
            <a:avLst/>
          </a:prstGeom>
          <a:solidFill>
            <a:srgbClr val="4A6070"/>
          </a:solidFill>
          <a:ln w="12700">
            <a:solidFill>
              <a:srgbClr val="4A6070"/>
            </a:solidFill>
            <a:prstDash val="solid"/>
          </a:ln>
        </p:spPr>
        <p:txBody>
          <a:bodyPr/>
          <a:lstStyle/>
          <a:p>
            <a:endParaRPr lang="fr-FR"/>
          </a:p>
        </p:txBody>
      </p:sp>
      <p:sp>
        <p:nvSpPr>
          <p:cNvPr id="25" name="Shape 23"/>
          <p:cNvSpPr/>
          <p:nvPr/>
        </p:nvSpPr>
        <p:spPr>
          <a:xfrm>
            <a:off x="8732520" y="868680"/>
            <a:ext cx="54864" cy="54864"/>
          </a:xfrm>
          <a:prstGeom prst="ellipse">
            <a:avLst/>
          </a:prstGeom>
          <a:solidFill>
            <a:srgbClr val="4A6070"/>
          </a:solidFill>
          <a:ln w="12700">
            <a:solidFill>
              <a:srgbClr val="4A6070"/>
            </a:solidFill>
            <a:prstDash val="solid"/>
          </a:ln>
        </p:spPr>
        <p:txBody>
          <a:bodyPr/>
          <a:lstStyle/>
          <a:p>
            <a:endParaRPr lang="fr-FR"/>
          </a:p>
        </p:txBody>
      </p:sp>
      <p:sp>
        <p:nvSpPr>
          <p:cNvPr id="26" name="Shape 24"/>
          <p:cNvSpPr/>
          <p:nvPr/>
        </p:nvSpPr>
        <p:spPr>
          <a:xfrm>
            <a:off x="182880" y="1554480"/>
            <a:ext cx="54864" cy="54864"/>
          </a:xfrm>
          <a:prstGeom prst="ellipse">
            <a:avLst/>
          </a:prstGeom>
          <a:solidFill>
            <a:srgbClr val="4A6070"/>
          </a:solidFill>
          <a:ln w="12700">
            <a:solidFill>
              <a:srgbClr val="4A6070"/>
            </a:solidFill>
            <a:prstDash val="solid"/>
          </a:ln>
        </p:spPr>
        <p:txBody>
          <a:bodyPr/>
          <a:lstStyle/>
          <a:p>
            <a:endParaRPr lang="fr-FR"/>
          </a:p>
        </p:txBody>
      </p:sp>
      <p:sp>
        <p:nvSpPr>
          <p:cNvPr id="27" name="Shape 25"/>
          <p:cNvSpPr/>
          <p:nvPr/>
        </p:nvSpPr>
        <p:spPr>
          <a:xfrm>
            <a:off x="960120" y="1554480"/>
            <a:ext cx="54864" cy="54864"/>
          </a:xfrm>
          <a:prstGeom prst="ellipse">
            <a:avLst/>
          </a:prstGeom>
          <a:solidFill>
            <a:srgbClr val="4A6070"/>
          </a:solidFill>
          <a:ln w="12700">
            <a:solidFill>
              <a:srgbClr val="4A6070"/>
            </a:solidFill>
            <a:prstDash val="solid"/>
          </a:ln>
        </p:spPr>
        <p:txBody>
          <a:bodyPr/>
          <a:lstStyle/>
          <a:p>
            <a:endParaRPr lang="fr-FR"/>
          </a:p>
        </p:txBody>
      </p:sp>
      <p:sp>
        <p:nvSpPr>
          <p:cNvPr id="28" name="Shape 26"/>
          <p:cNvSpPr/>
          <p:nvPr/>
        </p:nvSpPr>
        <p:spPr>
          <a:xfrm>
            <a:off x="1737360" y="1554480"/>
            <a:ext cx="54864" cy="54864"/>
          </a:xfrm>
          <a:prstGeom prst="ellipse">
            <a:avLst/>
          </a:prstGeom>
          <a:solidFill>
            <a:srgbClr val="4A6070"/>
          </a:solidFill>
          <a:ln w="12700">
            <a:solidFill>
              <a:srgbClr val="4A6070"/>
            </a:solidFill>
            <a:prstDash val="solid"/>
          </a:ln>
        </p:spPr>
        <p:txBody>
          <a:bodyPr/>
          <a:lstStyle/>
          <a:p>
            <a:endParaRPr lang="fr-FR"/>
          </a:p>
        </p:txBody>
      </p:sp>
      <p:sp>
        <p:nvSpPr>
          <p:cNvPr id="29" name="Shape 27"/>
          <p:cNvSpPr/>
          <p:nvPr/>
        </p:nvSpPr>
        <p:spPr>
          <a:xfrm>
            <a:off x="2514600" y="1554480"/>
            <a:ext cx="54864" cy="54864"/>
          </a:xfrm>
          <a:prstGeom prst="ellipse">
            <a:avLst/>
          </a:prstGeom>
          <a:solidFill>
            <a:srgbClr val="4A6070"/>
          </a:solidFill>
          <a:ln w="12700">
            <a:solidFill>
              <a:srgbClr val="4A6070"/>
            </a:solidFill>
            <a:prstDash val="solid"/>
          </a:ln>
        </p:spPr>
        <p:txBody>
          <a:bodyPr/>
          <a:lstStyle/>
          <a:p>
            <a:endParaRPr lang="fr-FR"/>
          </a:p>
        </p:txBody>
      </p:sp>
      <p:sp>
        <p:nvSpPr>
          <p:cNvPr id="30" name="Shape 28"/>
          <p:cNvSpPr/>
          <p:nvPr/>
        </p:nvSpPr>
        <p:spPr>
          <a:xfrm>
            <a:off x="3291840" y="1554480"/>
            <a:ext cx="54864" cy="54864"/>
          </a:xfrm>
          <a:prstGeom prst="ellipse">
            <a:avLst/>
          </a:prstGeom>
          <a:solidFill>
            <a:srgbClr val="4A6070"/>
          </a:solidFill>
          <a:ln w="12700">
            <a:solidFill>
              <a:srgbClr val="4A6070"/>
            </a:solidFill>
            <a:prstDash val="solid"/>
          </a:ln>
        </p:spPr>
        <p:txBody>
          <a:bodyPr/>
          <a:lstStyle/>
          <a:p>
            <a:endParaRPr lang="fr-FR"/>
          </a:p>
        </p:txBody>
      </p:sp>
      <p:sp>
        <p:nvSpPr>
          <p:cNvPr id="31" name="Shape 29"/>
          <p:cNvSpPr/>
          <p:nvPr/>
        </p:nvSpPr>
        <p:spPr>
          <a:xfrm>
            <a:off x="4069080" y="1554480"/>
            <a:ext cx="54864" cy="54864"/>
          </a:xfrm>
          <a:prstGeom prst="ellipse">
            <a:avLst/>
          </a:prstGeom>
          <a:solidFill>
            <a:srgbClr val="4A6070"/>
          </a:solidFill>
          <a:ln w="12700">
            <a:solidFill>
              <a:srgbClr val="4A6070"/>
            </a:solidFill>
            <a:prstDash val="solid"/>
          </a:ln>
        </p:spPr>
        <p:txBody>
          <a:bodyPr/>
          <a:lstStyle/>
          <a:p>
            <a:endParaRPr lang="fr-FR"/>
          </a:p>
        </p:txBody>
      </p:sp>
      <p:sp>
        <p:nvSpPr>
          <p:cNvPr id="32" name="Shape 30"/>
          <p:cNvSpPr/>
          <p:nvPr/>
        </p:nvSpPr>
        <p:spPr>
          <a:xfrm>
            <a:off x="4846320" y="1554480"/>
            <a:ext cx="54864" cy="54864"/>
          </a:xfrm>
          <a:prstGeom prst="ellipse">
            <a:avLst/>
          </a:prstGeom>
          <a:solidFill>
            <a:srgbClr val="4A6070"/>
          </a:solidFill>
          <a:ln w="12700">
            <a:solidFill>
              <a:srgbClr val="4A6070"/>
            </a:solidFill>
            <a:prstDash val="solid"/>
          </a:ln>
        </p:spPr>
        <p:txBody>
          <a:bodyPr/>
          <a:lstStyle/>
          <a:p>
            <a:endParaRPr lang="fr-FR"/>
          </a:p>
        </p:txBody>
      </p:sp>
      <p:sp>
        <p:nvSpPr>
          <p:cNvPr id="33" name="Shape 31"/>
          <p:cNvSpPr/>
          <p:nvPr/>
        </p:nvSpPr>
        <p:spPr>
          <a:xfrm>
            <a:off x="5623560" y="1554480"/>
            <a:ext cx="54864" cy="54864"/>
          </a:xfrm>
          <a:prstGeom prst="ellipse">
            <a:avLst/>
          </a:prstGeom>
          <a:solidFill>
            <a:srgbClr val="4A6070"/>
          </a:solidFill>
          <a:ln w="12700">
            <a:solidFill>
              <a:srgbClr val="4A6070"/>
            </a:solidFill>
            <a:prstDash val="solid"/>
          </a:ln>
        </p:spPr>
        <p:txBody>
          <a:bodyPr/>
          <a:lstStyle/>
          <a:p>
            <a:endParaRPr lang="fr-FR"/>
          </a:p>
        </p:txBody>
      </p:sp>
      <p:sp>
        <p:nvSpPr>
          <p:cNvPr id="34" name="Shape 32"/>
          <p:cNvSpPr/>
          <p:nvPr/>
        </p:nvSpPr>
        <p:spPr>
          <a:xfrm>
            <a:off x="6400800" y="1554480"/>
            <a:ext cx="54864" cy="54864"/>
          </a:xfrm>
          <a:prstGeom prst="ellipse">
            <a:avLst/>
          </a:prstGeom>
          <a:solidFill>
            <a:srgbClr val="4A6070"/>
          </a:solidFill>
          <a:ln w="12700">
            <a:solidFill>
              <a:srgbClr val="4A6070"/>
            </a:solidFill>
            <a:prstDash val="solid"/>
          </a:ln>
        </p:spPr>
        <p:txBody>
          <a:bodyPr/>
          <a:lstStyle/>
          <a:p>
            <a:endParaRPr lang="fr-FR"/>
          </a:p>
        </p:txBody>
      </p:sp>
      <p:sp>
        <p:nvSpPr>
          <p:cNvPr id="35" name="Shape 33"/>
          <p:cNvSpPr/>
          <p:nvPr/>
        </p:nvSpPr>
        <p:spPr>
          <a:xfrm>
            <a:off x="7178040" y="1554480"/>
            <a:ext cx="54864" cy="54864"/>
          </a:xfrm>
          <a:prstGeom prst="ellipse">
            <a:avLst/>
          </a:prstGeom>
          <a:solidFill>
            <a:srgbClr val="4A6070"/>
          </a:solidFill>
          <a:ln w="12700">
            <a:solidFill>
              <a:srgbClr val="4A6070"/>
            </a:solidFill>
            <a:prstDash val="solid"/>
          </a:ln>
        </p:spPr>
        <p:txBody>
          <a:bodyPr/>
          <a:lstStyle/>
          <a:p>
            <a:endParaRPr lang="fr-FR"/>
          </a:p>
        </p:txBody>
      </p:sp>
      <p:sp>
        <p:nvSpPr>
          <p:cNvPr id="36" name="Shape 34"/>
          <p:cNvSpPr/>
          <p:nvPr/>
        </p:nvSpPr>
        <p:spPr>
          <a:xfrm>
            <a:off x="7955280" y="1554480"/>
            <a:ext cx="54864" cy="54864"/>
          </a:xfrm>
          <a:prstGeom prst="ellipse">
            <a:avLst/>
          </a:prstGeom>
          <a:solidFill>
            <a:srgbClr val="4A6070"/>
          </a:solidFill>
          <a:ln w="12700">
            <a:solidFill>
              <a:srgbClr val="4A6070"/>
            </a:solidFill>
            <a:prstDash val="solid"/>
          </a:ln>
        </p:spPr>
        <p:txBody>
          <a:bodyPr/>
          <a:lstStyle/>
          <a:p>
            <a:endParaRPr lang="fr-FR"/>
          </a:p>
        </p:txBody>
      </p:sp>
      <p:sp>
        <p:nvSpPr>
          <p:cNvPr id="37" name="Shape 35"/>
          <p:cNvSpPr/>
          <p:nvPr/>
        </p:nvSpPr>
        <p:spPr>
          <a:xfrm>
            <a:off x="8732520" y="1554480"/>
            <a:ext cx="54864" cy="54864"/>
          </a:xfrm>
          <a:prstGeom prst="ellipse">
            <a:avLst/>
          </a:prstGeom>
          <a:solidFill>
            <a:srgbClr val="4A6070"/>
          </a:solidFill>
          <a:ln w="12700">
            <a:solidFill>
              <a:srgbClr val="4A6070"/>
            </a:solidFill>
            <a:prstDash val="solid"/>
          </a:ln>
        </p:spPr>
        <p:txBody>
          <a:bodyPr/>
          <a:lstStyle/>
          <a:p>
            <a:endParaRPr lang="fr-FR"/>
          </a:p>
        </p:txBody>
      </p:sp>
      <p:sp>
        <p:nvSpPr>
          <p:cNvPr id="38" name="Shape 36"/>
          <p:cNvSpPr/>
          <p:nvPr/>
        </p:nvSpPr>
        <p:spPr>
          <a:xfrm>
            <a:off x="182880" y="2240280"/>
            <a:ext cx="54864" cy="54864"/>
          </a:xfrm>
          <a:prstGeom prst="ellipse">
            <a:avLst/>
          </a:prstGeom>
          <a:solidFill>
            <a:srgbClr val="4A6070"/>
          </a:solidFill>
          <a:ln w="12700">
            <a:solidFill>
              <a:srgbClr val="4A6070"/>
            </a:solidFill>
            <a:prstDash val="solid"/>
          </a:ln>
        </p:spPr>
        <p:txBody>
          <a:bodyPr/>
          <a:lstStyle/>
          <a:p>
            <a:endParaRPr lang="fr-FR"/>
          </a:p>
        </p:txBody>
      </p:sp>
      <p:sp>
        <p:nvSpPr>
          <p:cNvPr id="39" name="Shape 37"/>
          <p:cNvSpPr/>
          <p:nvPr/>
        </p:nvSpPr>
        <p:spPr>
          <a:xfrm>
            <a:off x="960120" y="2240280"/>
            <a:ext cx="54864" cy="54864"/>
          </a:xfrm>
          <a:prstGeom prst="ellipse">
            <a:avLst/>
          </a:prstGeom>
          <a:solidFill>
            <a:srgbClr val="4A6070"/>
          </a:solidFill>
          <a:ln w="12700">
            <a:solidFill>
              <a:srgbClr val="4A6070"/>
            </a:solidFill>
            <a:prstDash val="solid"/>
          </a:ln>
        </p:spPr>
        <p:txBody>
          <a:bodyPr/>
          <a:lstStyle/>
          <a:p>
            <a:endParaRPr lang="fr-FR"/>
          </a:p>
        </p:txBody>
      </p:sp>
      <p:sp>
        <p:nvSpPr>
          <p:cNvPr id="40" name="Shape 38"/>
          <p:cNvSpPr/>
          <p:nvPr/>
        </p:nvSpPr>
        <p:spPr>
          <a:xfrm>
            <a:off x="1737360" y="2240280"/>
            <a:ext cx="54864" cy="54864"/>
          </a:xfrm>
          <a:prstGeom prst="ellipse">
            <a:avLst/>
          </a:prstGeom>
          <a:solidFill>
            <a:srgbClr val="4A6070"/>
          </a:solidFill>
          <a:ln w="12700">
            <a:solidFill>
              <a:srgbClr val="4A6070"/>
            </a:solidFill>
            <a:prstDash val="solid"/>
          </a:ln>
        </p:spPr>
        <p:txBody>
          <a:bodyPr/>
          <a:lstStyle/>
          <a:p>
            <a:endParaRPr lang="fr-FR"/>
          </a:p>
        </p:txBody>
      </p:sp>
      <p:sp>
        <p:nvSpPr>
          <p:cNvPr id="41" name="Shape 39"/>
          <p:cNvSpPr/>
          <p:nvPr/>
        </p:nvSpPr>
        <p:spPr>
          <a:xfrm>
            <a:off x="2514600" y="2240280"/>
            <a:ext cx="54864" cy="54864"/>
          </a:xfrm>
          <a:prstGeom prst="ellipse">
            <a:avLst/>
          </a:prstGeom>
          <a:solidFill>
            <a:srgbClr val="4A6070"/>
          </a:solidFill>
          <a:ln w="12700">
            <a:solidFill>
              <a:srgbClr val="4A6070"/>
            </a:solidFill>
            <a:prstDash val="solid"/>
          </a:ln>
        </p:spPr>
        <p:txBody>
          <a:bodyPr/>
          <a:lstStyle/>
          <a:p>
            <a:endParaRPr lang="fr-FR"/>
          </a:p>
        </p:txBody>
      </p:sp>
      <p:sp>
        <p:nvSpPr>
          <p:cNvPr id="42" name="Shape 40"/>
          <p:cNvSpPr/>
          <p:nvPr/>
        </p:nvSpPr>
        <p:spPr>
          <a:xfrm>
            <a:off x="3291840" y="2240280"/>
            <a:ext cx="54864" cy="54864"/>
          </a:xfrm>
          <a:prstGeom prst="ellipse">
            <a:avLst/>
          </a:prstGeom>
          <a:solidFill>
            <a:srgbClr val="4A6070"/>
          </a:solidFill>
          <a:ln w="12700">
            <a:solidFill>
              <a:srgbClr val="4A6070"/>
            </a:solidFill>
            <a:prstDash val="solid"/>
          </a:ln>
        </p:spPr>
        <p:txBody>
          <a:bodyPr/>
          <a:lstStyle/>
          <a:p>
            <a:endParaRPr lang="fr-FR"/>
          </a:p>
        </p:txBody>
      </p:sp>
      <p:sp>
        <p:nvSpPr>
          <p:cNvPr id="43" name="Shape 41"/>
          <p:cNvSpPr/>
          <p:nvPr/>
        </p:nvSpPr>
        <p:spPr>
          <a:xfrm>
            <a:off x="4069080" y="2240280"/>
            <a:ext cx="54864" cy="54864"/>
          </a:xfrm>
          <a:prstGeom prst="ellipse">
            <a:avLst/>
          </a:prstGeom>
          <a:solidFill>
            <a:srgbClr val="4A6070"/>
          </a:solidFill>
          <a:ln w="12700">
            <a:solidFill>
              <a:srgbClr val="4A6070"/>
            </a:solidFill>
            <a:prstDash val="solid"/>
          </a:ln>
        </p:spPr>
        <p:txBody>
          <a:bodyPr/>
          <a:lstStyle/>
          <a:p>
            <a:endParaRPr lang="fr-FR"/>
          </a:p>
        </p:txBody>
      </p:sp>
      <p:sp>
        <p:nvSpPr>
          <p:cNvPr id="44" name="Shape 42"/>
          <p:cNvSpPr/>
          <p:nvPr/>
        </p:nvSpPr>
        <p:spPr>
          <a:xfrm>
            <a:off x="4846320" y="2240280"/>
            <a:ext cx="54864" cy="54864"/>
          </a:xfrm>
          <a:prstGeom prst="ellipse">
            <a:avLst/>
          </a:prstGeom>
          <a:solidFill>
            <a:srgbClr val="4A6070"/>
          </a:solidFill>
          <a:ln w="12700">
            <a:solidFill>
              <a:srgbClr val="4A6070"/>
            </a:solidFill>
            <a:prstDash val="solid"/>
          </a:ln>
        </p:spPr>
        <p:txBody>
          <a:bodyPr/>
          <a:lstStyle/>
          <a:p>
            <a:endParaRPr lang="fr-FR"/>
          </a:p>
        </p:txBody>
      </p:sp>
      <p:sp>
        <p:nvSpPr>
          <p:cNvPr id="45" name="Shape 43"/>
          <p:cNvSpPr/>
          <p:nvPr/>
        </p:nvSpPr>
        <p:spPr>
          <a:xfrm>
            <a:off x="5623560" y="2240280"/>
            <a:ext cx="54864" cy="54864"/>
          </a:xfrm>
          <a:prstGeom prst="ellipse">
            <a:avLst/>
          </a:prstGeom>
          <a:solidFill>
            <a:srgbClr val="4A6070"/>
          </a:solidFill>
          <a:ln w="12700">
            <a:solidFill>
              <a:srgbClr val="4A6070"/>
            </a:solidFill>
            <a:prstDash val="solid"/>
          </a:ln>
        </p:spPr>
        <p:txBody>
          <a:bodyPr/>
          <a:lstStyle/>
          <a:p>
            <a:endParaRPr lang="fr-FR"/>
          </a:p>
        </p:txBody>
      </p:sp>
      <p:sp>
        <p:nvSpPr>
          <p:cNvPr id="46" name="Shape 44"/>
          <p:cNvSpPr/>
          <p:nvPr/>
        </p:nvSpPr>
        <p:spPr>
          <a:xfrm>
            <a:off x="6400800" y="2240280"/>
            <a:ext cx="54864" cy="54864"/>
          </a:xfrm>
          <a:prstGeom prst="ellipse">
            <a:avLst/>
          </a:prstGeom>
          <a:solidFill>
            <a:srgbClr val="4A6070"/>
          </a:solidFill>
          <a:ln w="12700">
            <a:solidFill>
              <a:srgbClr val="4A6070"/>
            </a:solidFill>
            <a:prstDash val="solid"/>
          </a:ln>
        </p:spPr>
        <p:txBody>
          <a:bodyPr/>
          <a:lstStyle/>
          <a:p>
            <a:endParaRPr lang="fr-FR"/>
          </a:p>
        </p:txBody>
      </p:sp>
      <p:sp>
        <p:nvSpPr>
          <p:cNvPr id="47" name="Shape 45"/>
          <p:cNvSpPr/>
          <p:nvPr/>
        </p:nvSpPr>
        <p:spPr>
          <a:xfrm>
            <a:off x="7178040" y="2240280"/>
            <a:ext cx="54864" cy="54864"/>
          </a:xfrm>
          <a:prstGeom prst="ellipse">
            <a:avLst/>
          </a:prstGeom>
          <a:solidFill>
            <a:srgbClr val="4A6070"/>
          </a:solidFill>
          <a:ln w="12700">
            <a:solidFill>
              <a:srgbClr val="4A6070"/>
            </a:solidFill>
            <a:prstDash val="solid"/>
          </a:ln>
        </p:spPr>
        <p:txBody>
          <a:bodyPr/>
          <a:lstStyle/>
          <a:p>
            <a:endParaRPr lang="fr-FR"/>
          </a:p>
        </p:txBody>
      </p:sp>
      <p:sp>
        <p:nvSpPr>
          <p:cNvPr id="48" name="Shape 46"/>
          <p:cNvSpPr/>
          <p:nvPr/>
        </p:nvSpPr>
        <p:spPr>
          <a:xfrm>
            <a:off x="7955280" y="2240280"/>
            <a:ext cx="54864" cy="54864"/>
          </a:xfrm>
          <a:prstGeom prst="ellipse">
            <a:avLst/>
          </a:prstGeom>
          <a:solidFill>
            <a:srgbClr val="4A6070"/>
          </a:solidFill>
          <a:ln w="12700">
            <a:solidFill>
              <a:srgbClr val="4A6070"/>
            </a:solidFill>
            <a:prstDash val="solid"/>
          </a:ln>
        </p:spPr>
        <p:txBody>
          <a:bodyPr/>
          <a:lstStyle/>
          <a:p>
            <a:endParaRPr lang="fr-FR"/>
          </a:p>
        </p:txBody>
      </p:sp>
      <p:sp>
        <p:nvSpPr>
          <p:cNvPr id="49" name="Shape 47"/>
          <p:cNvSpPr/>
          <p:nvPr/>
        </p:nvSpPr>
        <p:spPr>
          <a:xfrm>
            <a:off x="8732520" y="2240280"/>
            <a:ext cx="54864" cy="54864"/>
          </a:xfrm>
          <a:prstGeom prst="ellipse">
            <a:avLst/>
          </a:prstGeom>
          <a:solidFill>
            <a:srgbClr val="4A6070"/>
          </a:solidFill>
          <a:ln w="12700">
            <a:solidFill>
              <a:srgbClr val="4A6070"/>
            </a:solidFill>
            <a:prstDash val="solid"/>
          </a:ln>
        </p:spPr>
        <p:txBody>
          <a:bodyPr/>
          <a:lstStyle/>
          <a:p>
            <a:endParaRPr lang="fr-FR"/>
          </a:p>
        </p:txBody>
      </p:sp>
      <p:sp>
        <p:nvSpPr>
          <p:cNvPr id="50" name="Shape 48"/>
          <p:cNvSpPr/>
          <p:nvPr/>
        </p:nvSpPr>
        <p:spPr>
          <a:xfrm>
            <a:off x="182880" y="2926080"/>
            <a:ext cx="54864" cy="54864"/>
          </a:xfrm>
          <a:prstGeom prst="ellipse">
            <a:avLst/>
          </a:prstGeom>
          <a:solidFill>
            <a:srgbClr val="4A6070"/>
          </a:solidFill>
          <a:ln w="12700">
            <a:solidFill>
              <a:srgbClr val="4A6070"/>
            </a:solidFill>
            <a:prstDash val="solid"/>
          </a:ln>
        </p:spPr>
        <p:txBody>
          <a:bodyPr/>
          <a:lstStyle/>
          <a:p>
            <a:endParaRPr lang="fr-FR"/>
          </a:p>
        </p:txBody>
      </p:sp>
      <p:sp>
        <p:nvSpPr>
          <p:cNvPr id="51" name="Shape 49"/>
          <p:cNvSpPr/>
          <p:nvPr/>
        </p:nvSpPr>
        <p:spPr>
          <a:xfrm>
            <a:off x="960120" y="2926080"/>
            <a:ext cx="54864" cy="54864"/>
          </a:xfrm>
          <a:prstGeom prst="ellipse">
            <a:avLst/>
          </a:prstGeom>
          <a:solidFill>
            <a:srgbClr val="4A6070"/>
          </a:solidFill>
          <a:ln w="12700">
            <a:solidFill>
              <a:srgbClr val="4A6070"/>
            </a:solidFill>
            <a:prstDash val="solid"/>
          </a:ln>
        </p:spPr>
        <p:txBody>
          <a:bodyPr/>
          <a:lstStyle/>
          <a:p>
            <a:endParaRPr lang="fr-FR"/>
          </a:p>
        </p:txBody>
      </p:sp>
      <p:sp>
        <p:nvSpPr>
          <p:cNvPr id="52" name="Shape 50"/>
          <p:cNvSpPr/>
          <p:nvPr/>
        </p:nvSpPr>
        <p:spPr>
          <a:xfrm>
            <a:off x="1737360" y="2926080"/>
            <a:ext cx="54864" cy="54864"/>
          </a:xfrm>
          <a:prstGeom prst="ellipse">
            <a:avLst/>
          </a:prstGeom>
          <a:solidFill>
            <a:srgbClr val="4A6070"/>
          </a:solidFill>
          <a:ln w="12700">
            <a:solidFill>
              <a:srgbClr val="4A6070"/>
            </a:solidFill>
            <a:prstDash val="solid"/>
          </a:ln>
        </p:spPr>
        <p:txBody>
          <a:bodyPr/>
          <a:lstStyle/>
          <a:p>
            <a:endParaRPr lang="fr-FR"/>
          </a:p>
        </p:txBody>
      </p:sp>
      <p:sp>
        <p:nvSpPr>
          <p:cNvPr id="53" name="Shape 51"/>
          <p:cNvSpPr/>
          <p:nvPr/>
        </p:nvSpPr>
        <p:spPr>
          <a:xfrm>
            <a:off x="2514600" y="2926080"/>
            <a:ext cx="54864" cy="54864"/>
          </a:xfrm>
          <a:prstGeom prst="ellipse">
            <a:avLst/>
          </a:prstGeom>
          <a:solidFill>
            <a:srgbClr val="4A6070"/>
          </a:solidFill>
          <a:ln w="12700">
            <a:solidFill>
              <a:srgbClr val="4A6070"/>
            </a:solidFill>
            <a:prstDash val="solid"/>
          </a:ln>
        </p:spPr>
        <p:txBody>
          <a:bodyPr/>
          <a:lstStyle/>
          <a:p>
            <a:endParaRPr lang="fr-FR"/>
          </a:p>
        </p:txBody>
      </p:sp>
      <p:sp>
        <p:nvSpPr>
          <p:cNvPr id="54" name="Shape 52"/>
          <p:cNvSpPr/>
          <p:nvPr/>
        </p:nvSpPr>
        <p:spPr>
          <a:xfrm>
            <a:off x="3291840" y="2926080"/>
            <a:ext cx="54864" cy="54864"/>
          </a:xfrm>
          <a:prstGeom prst="ellipse">
            <a:avLst/>
          </a:prstGeom>
          <a:solidFill>
            <a:srgbClr val="4A6070"/>
          </a:solidFill>
          <a:ln w="12700">
            <a:solidFill>
              <a:srgbClr val="4A6070"/>
            </a:solidFill>
            <a:prstDash val="solid"/>
          </a:ln>
        </p:spPr>
        <p:txBody>
          <a:bodyPr/>
          <a:lstStyle/>
          <a:p>
            <a:endParaRPr lang="fr-FR"/>
          </a:p>
        </p:txBody>
      </p:sp>
      <p:sp>
        <p:nvSpPr>
          <p:cNvPr id="55" name="Shape 53"/>
          <p:cNvSpPr/>
          <p:nvPr/>
        </p:nvSpPr>
        <p:spPr>
          <a:xfrm>
            <a:off x="4069080" y="2926080"/>
            <a:ext cx="54864" cy="54864"/>
          </a:xfrm>
          <a:prstGeom prst="ellipse">
            <a:avLst/>
          </a:prstGeom>
          <a:solidFill>
            <a:srgbClr val="4A6070"/>
          </a:solidFill>
          <a:ln w="12700">
            <a:solidFill>
              <a:srgbClr val="4A6070"/>
            </a:solidFill>
            <a:prstDash val="solid"/>
          </a:ln>
        </p:spPr>
        <p:txBody>
          <a:bodyPr/>
          <a:lstStyle/>
          <a:p>
            <a:endParaRPr lang="fr-FR"/>
          </a:p>
        </p:txBody>
      </p:sp>
      <p:sp>
        <p:nvSpPr>
          <p:cNvPr id="56" name="Shape 54"/>
          <p:cNvSpPr/>
          <p:nvPr/>
        </p:nvSpPr>
        <p:spPr>
          <a:xfrm>
            <a:off x="4846320" y="2926080"/>
            <a:ext cx="54864" cy="54864"/>
          </a:xfrm>
          <a:prstGeom prst="ellipse">
            <a:avLst/>
          </a:prstGeom>
          <a:solidFill>
            <a:srgbClr val="4A6070"/>
          </a:solidFill>
          <a:ln w="12700">
            <a:solidFill>
              <a:srgbClr val="4A6070"/>
            </a:solidFill>
            <a:prstDash val="solid"/>
          </a:ln>
        </p:spPr>
        <p:txBody>
          <a:bodyPr/>
          <a:lstStyle/>
          <a:p>
            <a:endParaRPr lang="fr-FR"/>
          </a:p>
        </p:txBody>
      </p:sp>
      <p:sp>
        <p:nvSpPr>
          <p:cNvPr id="57" name="Shape 55"/>
          <p:cNvSpPr/>
          <p:nvPr/>
        </p:nvSpPr>
        <p:spPr>
          <a:xfrm>
            <a:off x="5623560" y="2926080"/>
            <a:ext cx="54864" cy="54864"/>
          </a:xfrm>
          <a:prstGeom prst="ellipse">
            <a:avLst/>
          </a:prstGeom>
          <a:solidFill>
            <a:srgbClr val="4A6070"/>
          </a:solidFill>
          <a:ln w="12700">
            <a:solidFill>
              <a:srgbClr val="4A6070"/>
            </a:solidFill>
            <a:prstDash val="solid"/>
          </a:ln>
        </p:spPr>
        <p:txBody>
          <a:bodyPr/>
          <a:lstStyle/>
          <a:p>
            <a:endParaRPr lang="fr-FR"/>
          </a:p>
        </p:txBody>
      </p:sp>
      <p:sp>
        <p:nvSpPr>
          <p:cNvPr id="58" name="Shape 56"/>
          <p:cNvSpPr/>
          <p:nvPr/>
        </p:nvSpPr>
        <p:spPr>
          <a:xfrm>
            <a:off x="6400800" y="2926080"/>
            <a:ext cx="54864" cy="54864"/>
          </a:xfrm>
          <a:prstGeom prst="ellipse">
            <a:avLst/>
          </a:prstGeom>
          <a:solidFill>
            <a:srgbClr val="4A6070"/>
          </a:solidFill>
          <a:ln w="12700">
            <a:solidFill>
              <a:srgbClr val="4A6070"/>
            </a:solidFill>
            <a:prstDash val="solid"/>
          </a:ln>
        </p:spPr>
        <p:txBody>
          <a:bodyPr/>
          <a:lstStyle/>
          <a:p>
            <a:endParaRPr lang="fr-FR"/>
          </a:p>
        </p:txBody>
      </p:sp>
      <p:sp>
        <p:nvSpPr>
          <p:cNvPr id="59" name="Shape 57"/>
          <p:cNvSpPr/>
          <p:nvPr/>
        </p:nvSpPr>
        <p:spPr>
          <a:xfrm>
            <a:off x="7178040" y="2926080"/>
            <a:ext cx="54864" cy="54864"/>
          </a:xfrm>
          <a:prstGeom prst="ellipse">
            <a:avLst/>
          </a:prstGeom>
          <a:solidFill>
            <a:srgbClr val="4A6070"/>
          </a:solidFill>
          <a:ln w="12700">
            <a:solidFill>
              <a:srgbClr val="4A6070"/>
            </a:solidFill>
            <a:prstDash val="solid"/>
          </a:ln>
        </p:spPr>
        <p:txBody>
          <a:bodyPr/>
          <a:lstStyle/>
          <a:p>
            <a:endParaRPr lang="fr-FR"/>
          </a:p>
        </p:txBody>
      </p:sp>
      <p:sp>
        <p:nvSpPr>
          <p:cNvPr id="60" name="Shape 58"/>
          <p:cNvSpPr/>
          <p:nvPr/>
        </p:nvSpPr>
        <p:spPr>
          <a:xfrm>
            <a:off x="7955280" y="2926080"/>
            <a:ext cx="54864" cy="54864"/>
          </a:xfrm>
          <a:prstGeom prst="ellipse">
            <a:avLst/>
          </a:prstGeom>
          <a:solidFill>
            <a:srgbClr val="4A6070"/>
          </a:solidFill>
          <a:ln w="12700">
            <a:solidFill>
              <a:srgbClr val="4A6070"/>
            </a:solidFill>
            <a:prstDash val="solid"/>
          </a:ln>
        </p:spPr>
        <p:txBody>
          <a:bodyPr/>
          <a:lstStyle/>
          <a:p>
            <a:endParaRPr lang="fr-FR"/>
          </a:p>
        </p:txBody>
      </p:sp>
      <p:sp>
        <p:nvSpPr>
          <p:cNvPr id="61" name="Shape 59"/>
          <p:cNvSpPr/>
          <p:nvPr/>
        </p:nvSpPr>
        <p:spPr>
          <a:xfrm>
            <a:off x="8732520" y="2926080"/>
            <a:ext cx="54864" cy="54864"/>
          </a:xfrm>
          <a:prstGeom prst="ellipse">
            <a:avLst/>
          </a:prstGeom>
          <a:solidFill>
            <a:srgbClr val="4A6070"/>
          </a:solidFill>
          <a:ln w="12700">
            <a:solidFill>
              <a:srgbClr val="4A6070"/>
            </a:solidFill>
            <a:prstDash val="solid"/>
          </a:ln>
        </p:spPr>
        <p:txBody>
          <a:bodyPr/>
          <a:lstStyle/>
          <a:p>
            <a:endParaRPr lang="fr-FR"/>
          </a:p>
        </p:txBody>
      </p:sp>
      <p:sp>
        <p:nvSpPr>
          <p:cNvPr id="62" name="Shape 60"/>
          <p:cNvSpPr/>
          <p:nvPr/>
        </p:nvSpPr>
        <p:spPr>
          <a:xfrm>
            <a:off x="182880" y="3611880"/>
            <a:ext cx="54864" cy="54864"/>
          </a:xfrm>
          <a:prstGeom prst="ellipse">
            <a:avLst/>
          </a:prstGeom>
          <a:solidFill>
            <a:srgbClr val="4A6070"/>
          </a:solidFill>
          <a:ln w="12700">
            <a:solidFill>
              <a:srgbClr val="4A6070"/>
            </a:solidFill>
            <a:prstDash val="solid"/>
          </a:ln>
        </p:spPr>
        <p:txBody>
          <a:bodyPr/>
          <a:lstStyle/>
          <a:p>
            <a:endParaRPr lang="fr-FR"/>
          </a:p>
        </p:txBody>
      </p:sp>
      <p:sp>
        <p:nvSpPr>
          <p:cNvPr id="63" name="Shape 61"/>
          <p:cNvSpPr/>
          <p:nvPr/>
        </p:nvSpPr>
        <p:spPr>
          <a:xfrm>
            <a:off x="960120" y="3611880"/>
            <a:ext cx="54864" cy="54864"/>
          </a:xfrm>
          <a:prstGeom prst="ellipse">
            <a:avLst/>
          </a:prstGeom>
          <a:solidFill>
            <a:srgbClr val="4A6070"/>
          </a:solidFill>
          <a:ln w="12700">
            <a:solidFill>
              <a:srgbClr val="4A6070"/>
            </a:solidFill>
            <a:prstDash val="solid"/>
          </a:ln>
        </p:spPr>
        <p:txBody>
          <a:bodyPr/>
          <a:lstStyle/>
          <a:p>
            <a:endParaRPr lang="fr-FR"/>
          </a:p>
        </p:txBody>
      </p:sp>
      <p:sp>
        <p:nvSpPr>
          <p:cNvPr id="64" name="Shape 62"/>
          <p:cNvSpPr/>
          <p:nvPr/>
        </p:nvSpPr>
        <p:spPr>
          <a:xfrm>
            <a:off x="1737360" y="3611880"/>
            <a:ext cx="54864" cy="54864"/>
          </a:xfrm>
          <a:prstGeom prst="ellipse">
            <a:avLst/>
          </a:prstGeom>
          <a:solidFill>
            <a:srgbClr val="4A6070"/>
          </a:solidFill>
          <a:ln w="12700">
            <a:solidFill>
              <a:srgbClr val="4A6070"/>
            </a:solidFill>
            <a:prstDash val="solid"/>
          </a:ln>
        </p:spPr>
        <p:txBody>
          <a:bodyPr/>
          <a:lstStyle/>
          <a:p>
            <a:endParaRPr lang="fr-FR"/>
          </a:p>
        </p:txBody>
      </p:sp>
      <p:sp>
        <p:nvSpPr>
          <p:cNvPr id="65" name="Shape 63"/>
          <p:cNvSpPr/>
          <p:nvPr/>
        </p:nvSpPr>
        <p:spPr>
          <a:xfrm>
            <a:off x="2514600" y="3611880"/>
            <a:ext cx="54864" cy="54864"/>
          </a:xfrm>
          <a:prstGeom prst="ellipse">
            <a:avLst/>
          </a:prstGeom>
          <a:solidFill>
            <a:srgbClr val="4A6070"/>
          </a:solidFill>
          <a:ln w="12700">
            <a:solidFill>
              <a:srgbClr val="4A6070"/>
            </a:solidFill>
            <a:prstDash val="solid"/>
          </a:ln>
        </p:spPr>
        <p:txBody>
          <a:bodyPr/>
          <a:lstStyle/>
          <a:p>
            <a:endParaRPr lang="fr-FR"/>
          </a:p>
        </p:txBody>
      </p:sp>
      <p:sp>
        <p:nvSpPr>
          <p:cNvPr id="66" name="Shape 64"/>
          <p:cNvSpPr/>
          <p:nvPr/>
        </p:nvSpPr>
        <p:spPr>
          <a:xfrm>
            <a:off x="3291840" y="3611880"/>
            <a:ext cx="54864" cy="54864"/>
          </a:xfrm>
          <a:prstGeom prst="ellipse">
            <a:avLst/>
          </a:prstGeom>
          <a:solidFill>
            <a:srgbClr val="4A6070"/>
          </a:solidFill>
          <a:ln w="12700">
            <a:solidFill>
              <a:srgbClr val="4A6070"/>
            </a:solidFill>
            <a:prstDash val="solid"/>
          </a:ln>
        </p:spPr>
        <p:txBody>
          <a:bodyPr/>
          <a:lstStyle/>
          <a:p>
            <a:endParaRPr lang="fr-FR"/>
          </a:p>
        </p:txBody>
      </p:sp>
      <p:sp>
        <p:nvSpPr>
          <p:cNvPr id="67" name="Shape 65"/>
          <p:cNvSpPr/>
          <p:nvPr/>
        </p:nvSpPr>
        <p:spPr>
          <a:xfrm>
            <a:off x="4069080" y="3611880"/>
            <a:ext cx="54864" cy="54864"/>
          </a:xfrm>
          <a:prstGeom prst="ellipse">
            <a:avLst/>
          </a:prstGeom>
          <a:solidFill>
            <a:srgbClr val="4A6070"/>
          </a:solidFill>
          <a:ln w="12700">
            <a:solidFill>
              <a:srgbClr val="4A6070"/>
            </a:solidFill>
            <a:prstDash val="solid"/>
          </a:ln>
        </p:spPr>
        <p:txBody>
          <a:bodyPr/>
          <a:lstStyle/>
          <a:p>
            <a:endParaRPr lang="fr-FR"/>
          </a:p>
        </p:txBody>
      </p:sp>
      <p:sp>
        <p:nvSpPr>
          <p:cNvPr id="68" name="Shape 66"/>
          <p:cNvSpPr/>
          <p:nvPr/>
        </p:nvSpPr>
        <p:spPr>
          <a:xfrm>
            <a:off x="4846320" y="3611880"/>
            <a:ext cx="54864" cy="54864"/>
          </a:xfrm>
          <a:prstGeom prst="ellipse">
            <a:avLst/>
          </a:prstGeom>
          <a:solidFill>
            <a:srgbClr val="4A6070"/>
          </a:solidFill>
          <a:ln w="12700">
            <a:solidFill>
              <a:srgbClr val="4A6070"/>
            </a:solidFill>
            <a:prstDash val="solid"/>
          </a:ln>
        </p:spPr>
        <p:txBody>
          <a:bodyPr/>
          <a:lstStyle/>
          <a:p>
            <a:endParaRPr lang="fr-FR"/>
          </a:p>
        </p:txBody>
      </p:sp>
      <p:sp>
        <p:nvSpPr>
          <p:cNvPr id="69" name="Shape 67"/>
          <p:cNvSpPr/>
          <p:nvPr/>
        </p:nvSpPr>
        <p:spPr>
          <a:xfrm>
            <a:off x="5623560" y="3611880"/>
            <a:ext cx="54864" cy="54864"/>
          </a:xfrm>
          <a:prstGeom prst="ellipse">
            <a:avLst/>
          </a:prstGeom>
          <a:solidFill>
            <a:srgbClr val="4A6070"/>
          </a:solidFill>
          <a:ln w="12700">
            <a:solidFill>
              <a:srgbClr val="4A6070"/>
            </a:solidFill>
            <a:prstDash val="solid"/>
          </a:ln>
        </p:spPr>
        <p:txBody>
          <a:bodyPr/>
          <a:lstStyle/>
          <a:p>
            <a:endParaRPr lang="fr-FR"/>
          </a:p>
        </p:txBody>
      </p:sp>
      <p:sp>
        <p:nvSpPr>
          <p:cNvPr id="70" name="Shape 68"/>
          <p:cNvSpPr/>
          <p:nvPr/>
        </p:nvSpPr>
        <p:spPr>
          <a:xfrm>
            <a:off x="6400800" y="3611880"/>
            <a:ext cx="54864" cy="54864"/>
          </a:xfrm>
          <a:prstGeom prst="ellipse">
            <a:avLst/>
          </a:prstGeom>
          <a:solidFill>
            <a:srgbClr val="4A6070"/>
          </a:solidFill>
          <a:ln w="12700">
            <a:solidFill>
              <a:srgbClr val="4A6070"/>
            </a:solidFill>
            <a:prstDash val="solid"/>
          </a:ln>
        </p:spPr>
        <p:txBody>
          <a:bodyPr/>
          <a:lstStyle/>
          <a:p>
            <a:endParaRPr lang="fr-FR"/>
          </a:p>
        </p:txBody>
      </p:sp>
      <p:sp>
        <p:nvSpPr>
          <p:cNvPr id="71" name="Shape 69"/>
          <p:cNvSpPr/>
          <p:nvPr/>
        </p:nvSpPr>
        <p:spPr>
          <a:xfrm>
            <a:off x="7178040" y="3611880"/>
            <a:ext cx="54864" cy="54864"/>
          </a:xfrm>
          <a:prstGeom prst="ellipse">
            <a:avLst/>
          </a:prstGeom>
          <a:solidFill>
            <a:srgbClr val="4A6070"/>
          </a:solidFill>
          <a:ln w="12700">
            <a:solidFill>
              <a:srgbClr val="4A6070"/>
            </a:solidFill>
            <a:prstDash val="solid"/>
          </a:ln>
        </p:spPr>
        <p:txBody>
          <a:bodyPr/>
          <a:lstStyle/>
          <a:p>
            <a:endParaRPr lang="fr-FR"/>
          </a:p>
        </p:txBody>
      </p:sp>
      <p:sp>
        <p:nvSpPr>
          <p:cNvPr id="72" name="Shape 70"/>
          <p:cNvSpPr/>
          <p:nvPr/>
        </p:nvSpPr>
        <p:spPr>
          <a:xfrm>
            <a:off x="7955280" y="3611880"/>
            <a:ext cx="54864" cy="54864"/>
          </a:xfrm>
          <a:prstGeom prst="ellipse">
            <a:avLst/>
          </a:prstGeom>
          <a:solidFill>
            <a:srgbClr val="4A6070"/>
          </a:solidFill>
          <a:ln w="12700">
            <a:solidFill>
              <a:srgbClr val="4A6070"/>
            </a:solidFill>
            <a:prstDash val="solid"/>
          </a:ln>
        </p:spPr>
        <p:txBody>
          <a:bodyPr/>
          <a:lstStyle/>
          <a:p>
            <a:endParaRPr lang="fr-FR"/>
          </a:p>
        </p:txBody>
      </p:sp>
      <p:sp>
        <p:nvSpPr>
          <p:cNvPr id="73" name="Shape 71"/>
          <p:cNvSpPr/>
          <p:nvPr/>
        </p:nvSpPr>
        <p:spPr>
          <a:xfrm>
            <a:off x="8732520" y="3611880"/>
            <a:ext cx="54864" cy="54864"/>
          </a:xfrm>
          <a:prstGeom prst="ellipse">
            <a:avLst/>
          </a:prstGeom>
          <a:solidFill>
            <a:srgbClr val="4A6070"/>
          </a:solidFill>
          <a:ln w="12700">
            <a:solidFill>
              <a:srgbClr val="4A6070"/>
            </a:solidFill>
            <a:prstDash val="solid"/>
          </a:ln>
        </p:spPr>
        <p:txBody>
          <a:bodyPr/>
          <a:lstStyle/>
          <a:p>
            <a:endParaRPr lang="fr-FR"/>
          </a:p>
        </p:txBody>
      </p:sp>
      <p:sp>
        <p:nvSpPr>
          <p:cNvPr id="74" name="Shape 72"/>
          <p:cNvSpPr/>
          <p:nvPr/>
        </p:nvSpPr>
        <p:spPr>
          <a:xfrm>
            <a:off x="182880" y="4297680"/>
            <a:ext cx="54864" cy="54864"/>
          </a:xfrm>
          <a:prstGeom prst="ellipse">
            <a:avLst/>
          </a:prstGeom>
          <a:solidFill>
            <a:srgbClr val="4A6070"/>
          </a:solidFill>
          <a:ln w="12700">
            <a:solidFill>
              <a:srgbClr val="4A6070"/>
            </a:solidFill>
            <a:prstDash val="solid"/>
          </a:ln>
        </p:spPr>
        <p:txBody>
          <a:bodyPr/>
          <a:lstStyle/>
          <a:p>
            <a:endParaRPr lang="fr-FR"/>
          </a:p>
        </p:txBody>
      </p:sp>
      <p:sp>
        <p:nvSpPr>
          <p:cNvPr id="75" name="Shape 73"/>
          <p:cNvSpPr/>
          <p:nvPr/>
        </p:nvSpPr>
        <p:spPr>
          <a:xfrm>
            <a:off x="960120" y="4297680"/>
            <a:ext cx="54864" cy="54864"/>
          </a:xfrm>
          <a:prstGeom prst="ellipse">
            <a:avLst/>
          </a:prstGeom>
          <a:solidFill>
            <a:srgbClr val="4A6070"/>
          </a:solidFill>
          <a:ln w="12700">
            <a:solidFill>
              <a:srgbClr val="4A6070"/>
            </a:solidFill>
            <a:prstDash val="solid"/>
          </a:ln>
        </p:spPr>
        <p:txBody>
          <a:bodyPr/>
          <a:lstStyle/>
          <a:p>
            <a:endParaRPr lang="fr-FR"/>
          </a:p>
        </p:txBody>
      </p:sp>
      <p:sp>
        <p:nvSpPr>
          <p:cNvPr id="76" name="Shape 74"/>
          <p:cNvSpPr/>
          <p:nvPr/>
        </p:nvSpPr>
        <p:spPr>
          <a:xfrm>
            <a:off x="1737360" y="4297680"/>
            <a:ext cx="54864" cy="54864"/>
          </a:xfrm>
          <a:prstGeom prst="ellipse">
            <a:avLst/>
          </a:prstGeom>
          <a:solidFill>
            <a:srgbClr val="4A6070"/>
          </a:solidFill>
          <a:ln w="12700">
            <a:solidFill>
              <a:srgbClr val="4A6070"/>
            </a:solidFill>
            <a:prstDash val="solid"/>
          </a:ln>
        </p:spPr>
        <p:txBody>
          <a:bodyPr/>
          <a:lstStyle/>
          <a:p>
            <a:endParaRPr lang="fr-FR"/>
          </a:p>
        </p:txBody>
      </p:sp>
      <p:sp>
        <p:nvSpPr>
          <p:cNvPr id="77" name="Shape 75"/>
          <p:cNvSpPr/>
          <p:nvPr/>
        </p:nvSpPr>
        <p:spPr>
          <a:xfrm>
            <a:off x="2514600" y="4297680"/>
            <a:ext cx="54864" cy="54864"/>
          </a:xfrm>
          <a:prstGeom prst="ellipse">
            <a:avLst/>
          </a:prstGeom>
          <a:solidFill>
            <a:srgbClr val="4A6070"/>
          </a:solidFill>
          <a:ln w="12700">
            <a:solidFill>
              <a:srgbClr val="4A6070"/>
            </a:solidFill>
            <a:prstDash val="solid"/>
          </a:ln>
        </p:spPr>
        <p:txBody>
          <a:bodyPr/>
          <a:lstStyle/>
          <a:p>
            <a:endParaRPr lang="fr-FR"/>
          </a:p>
        </p:txBody>
      </p:sp>
      <p:sp>
        <p:nvSpPr>
          <p:cNvPr id="78" name="Shape 76"/>
          <p:cNvSpPr/>
          <p:nvPr/>
        </p:nvSpPr>
        <p:spPr>
          <a:xfrm>
            <a:off x="3291840" y="4297680"/>
            <a:ext cx="54864" cy="54864"/>
          </a:xfrm>
          <a:prstGeom prst="ellipse">
            <a:avLst/>
          </a:prstGeom>
          <a:solidFill>
            <a:srgbClr val="4A6070"/>
          </a:solidFill>
          <a:ln w="12700">
            <a:solidFill>
              <a:srgbClr val="4A6070"/>
            </a:solidFill>
            <a:prstDash val="solid"/>
          </a:ln>
        </p:spPr>
        <p:txBody>
          <a:bodyPr/>
          <a:lstStyle/>
          <a:p>
            <a:endParaRPr lang="fr-FR"/>
          </a:p>
        </p:txBody>
      </p:sp>
      <p:sp>
        <p:nvSpPr>
          <p:cNvPr id="79" name="Shape 77"/>
          <p:cNvSpPr/>
          <p:nvPr/>
        </p:nvSpPr>
        <p:spPr>
          <a:xfrm>
            <a:off x="4069080" y="4297680"/>
            <a:ext cx="54864" cy="54864"/>
          </a:xfrm>
          <a:prstGeom prst="ellipse">
            <a:avLst/>
          </a:prstGeom>
          <a:solidFill>
            <a:srgbClr val="4A6070"/>
          </a:solidFill>
          <a:ln w="12700">
            <a:solidFill>
              <a:srgbClr val="4A6070"/>
            </a:solidFill>
            <a:prstDash val="solid"/>
          </a:ln>
        </p:spPr>
        <p:txBody>
          <a:bodyPr/>
          <a:lstStyle/>
          <a:p>
            <a:endParaRPr lang="fr-FR"/>
          </a:p>
        </p:txBody>
      </p:sp>
      <p:sp>
        <p:nvSpPr>
          <p:cNvPr id="80" name="Shape 78"/>
          <p:cNvSpPr/>
          <p:nvPr/>
        </p:nvSpPr>
        <p:spPr>
          <a:xfrm>
            <a:off x="4846320" y="4297680"/>
            <a:ext cx="54864" cy="54864"/>
          </a:xfrm>
          <a:prstGeom prst="ellipse">
            <a:avLst/>
          </a:prstGeom>
          <a:solidFill>
            <a:srgbClr val="4A6070"/>
          </a:solidFill>
          <a:ln w="12700">
            <a:solidFill>
              <a:srgbClr val="4A6070"/>
            </a:solidFill>
            <a:prstDash val="solid"/>
          </a:ln>
        </p:spPr>
        <p:txBody>
          <a:bodyPr/>
          <a:lstStyle/>
          <a:p>
            <a:endParaRPr lang="fr-FR"/>
          </a:p>
        </p:txBody>
      </p:sp>
      <p:sp>
        <p:nvSpPr>
          <p:cNvPr id="81" name="Shape 79"/>
          <p:cNvSpPr/>
          <p:nvPr/>
        </p:nvSpPr>
        <p:spPr>
          <a:xfrm>
            <a:off x="5623560" y="4297680"/>
            <a:ext cx="54864" cy="54864"/>
          </a:xfrm>
          <a:prstGeom prst="ellipse">
            <a:avLst/>
          </a:prstGeom>
          <a:solidFill>
            <a:srgbClr val="4A6070"/>
          </a:solidFill>
          <a:ln w="12700">
            <a:solidFill>
              <a:srgbClr val="4A6070"/>
            </a:solidFill>
            <a:prstDash val="solid"/>
          </a:ln>
        </p:spPr>
        <p:txBody>
          <a:bodyPr/>
          <a:lstStyle/>
          <a:p>
            <a:endParaRPr lang="fr-FR"/>
          </a:p>
        </p:txBody>
      </p:sp>
      <p:sp>
        <p:nvSpPr>
          <p:cNvPr id="82" name="Shape 80"/>
          <p:cNvSpPr/>
          <p:nvPr/>
        </p:nvSpPr>
        <p:spPr>
          <a:xfrm>
            <a:off x="6400800" y="4297680"/>
            <a:ext cx="54864" cy="54864"/>
          </a:xfrm>
          <a:prstGeom prst="ellipse">
            <a:avLst/>
          </a:prstGeom>
          <a:solidFill>
            <a:srgbClr val="4A6070"/>
          </a:solidFill>
          <a:ln w="12700">
            <a:solidFill>
              <a:srgbClr val="4A6070"/>
            </a:solidFill>
            <a:prstDash val="solid"/>
          </a:ln>
        </p:spPr>
        <p:txBody>
          <a:bodyPr/>
          <a:lstStyle/>
          <a:p>
            <a:endParaRPr lang="fr-FR"/>
          </a:p>
        </p:txBody>
      </p:sp>
      <p:sp>
        <p:nvSpPr>
          <p:cNvPr id="83" name="Shape 81"/>
          <p:cNvSpPr/>
          <p:nvPr/>
        </p:nvSpPr>
        <p:spPr>
          <a:xfrm>
            <a:off x="7178040" y="4297680"/>
            <a:ext cx="54864" cy="54864"/>
          </a:xfrm>
          <a:prstGeom prst="ellipse">
            <a:avLst/>
          </a:prstGeom>
          <a:solidFill>
            <a:srgbClr val="4A6070"/>
          </a:solidFill>
          <a:ln w="12700">
            <a:solidFill>
              <a:srgbClr val="4A6070"/>
            </a:solidFill>
            <a:prstDash val="solid"/>
          </a:ln>
        </p:spPr>
        <p:txBody>
          <a:bodyPr/>
          <a:lstStyle/>
          <a:p>
            <a:endParaRPr lang="fr-FR"/>
          </a:p>
        </p:txBody>
      </p:sp>
      <p:sp>
        <p:nvSpPr>
          <p:cNvPr id="84" name="Shape 82"/>
          <p:cNvSpPr/>
          <p:nvPr/>
        </p:nvSpPr>
        <p:spPr>
          <a:xfrm>
            <a:off x="7955280" y="4297680"/>
            <a:ext cx="54864" cy="54864"/>
          </a:xfrm>
          <a:prstGeom prst="ellipse">
            <a:avLst/>
          </a:prstGeom>
          <a:solidFill>
            <a:srgbClr val="4A6070"/>
          </a:solidFill>
          <a:ln w="12700">
            <a:solidFill>
              <a:srgbClr val="4A6070"/>
            </a:solidFill>
            <a:prstDash val="solid"/>
          </a:ln>
        </p:spPr>
        <p:txBody>
          <a:bodyPr/>
          <a:lstStyle/>
          <a:p>
            <a:endParaRPr lang="fr-FR"/>
          </a:p>
        </p:txBody>
      </p:sp>
      <p:sp>
        <p:nvSpPr>
          <p:cNvPr id="85" name="Shape 83"/>
          <p:cNvSpPr/>
          <p:nvPr/>
        </p:nvSpPr>
        <p:spPr>
          <a:xfrm>
            <a:off x="8732520" y="4297680"/>
            <a:ext cx="54864" cy="54864"/>
          </a:xfrm>
          <a:prstGeom prst="ellipse">
            <a:avLst/>
          </a:prstGeom>
          <a:solidFill>
            <a:srgbClr val="4A6070"/>
          </a:solidFill>
          <a:ln w="12700">
            <a:solidFill>
              <a:srgbClr val="4A6070"/>
            </a:solidFill>
            <a:prstDash val="solid"/>
          </a:ln>
        </p:spPr>
        <p:txBody>
          <a:bodyPr/>
          <a:lstStyle/>
          <a:p>
            <a:endParaRPr lang="fr-FR"/>
          </a:p>
        </p:txBody>
      </p:sp>
      <p:sp>
        <p:nvSpPr>
          <p:cNvPr id="86" name="Shape 84"/>
          <p:cNvSpPr/>
          <p:nvPr/>
        </p:nvSpPr>
        <p:spPr>
          <a:xfrm>
            <a:off x="1097280" y="502920"/>
            <a:ext cx="6949440" cy="4114800"/>
          </a:xfrm>
          <a:prstGeom prst="rect">
            <a:avLst/>
          </a:prstGeom>
          <a:solidFill>
            <a:srgbClr val="162032"/>
          </a:solidFill>
          <a:ln w="19050">
            <a:solidFill>
              <a:srgbClr val="00D4FF"/>
            </a:solidFill>
            <a:prstDash val="solid"/>
          </a:ln>
          <a:effectLst>
            <a:outerShdw blurRad="152400" dist="50800" dir="8100000" algn="bl" rotWithShape="0">
              <a:srgbClr val="000000">
                <a:alpha val="40000"/>
              </a:srgbClr>
            </a:outerShdw>
          </a:effectLst>
        </p:spPr>
        <p:txBody>
          <a:bodyPr/>
          <a:lstStyle/>
          <a:p>
            <a:endParaRPr lang="fr-FR"/>
          </a:p>
        </p:txBody>
      </p:sp>
      <p:sp>
        <p:nvSpPr>
          <p:cNvPr id="87" name="Shape 85"/>
          <p:cNvSpPr/>
          <p:nvPr/>
        </p:nvSpPr>
        <p:spPr>
          <a:xfrm>
            <a:off x="1097280" y="502920"/>
            <a:ext cx="6949440" cy="64008"/>
          </a:xfrm>
          <a:prstGeom prst="rect">
            <a:avLst/>
          </a:prstGeom>
          <a:solidFill>
            <a:srgbClr val="00D4FF"/>
          </a:solidFill>
          <a:ln/>
        </p:spPr>
        <p:txBody>
          <a:bodyPr/>
          <a:lstStyle/>
          <a:p>
            <a:endParaRPr lang="fr-FR"/>
          </a:p>
        </p:txBody>
      </p:sp>
      <p:pic>
        <p:nvPicPr>
          <p:cNvPr id="88" name="Image 0" descr="preencoded.png"/>
          <p:cNvPicPr>
            <a:picLocks noChangeAspect="1"/>
          </p:cNvPicPr>
          <p:nvPr/>
        </p:nvPicPr>
        <p:blipFill>
          <a:blip r:embed="rId3"/>
          <a:stretch>
            <a:fillRect/>
          </a:stretch>
        </p:blipFill>
        <p:spPr>
          <a:xfrm>
            <a:off x="4160520" y="640080"/>
            <a:ext cx="822960" cy="822960"/>
          </a:xfrm>
          <a:prstGeom prst="rect">
            <a:avLst/>
          </a:prstGeom>
        </p:spPr>
      </p:pic>
      <p:sp>
        <p:nvSpPr>
          <p:cNvPr id="89" name="Text 86"/>
          <p:cNvSpPr/>
          <p:nvPr/>
        </p:nvSpPr>
        <p:spPr>
          <a:xfrm>
            <a:off x="1828800" y="1508760"/>
            <a:ext cx="5486400" cy="475488"/>
          </a:xfrm>
          <a:prstGeom prst="rect">
            <a:avLst/>
          </a:prstGeom>
          <a:noFill/>
          <a:ln/>
        </p:spPr>
        <p:txBody>
          <a:bodyPr wrap="square" rtlCol="0" anchor="ctr"/>
          <a:lstStyle/>
          <a:p>
            <a:pPr marL="0" indent="0" algn="ctr">
              <a:buNone/>
            </a:pPr>
            <a:r>
              <a:rPr lang="en-US" sz="2200" b="1" kern="0" spc="400" dirty="0">
                <a:solidFill>
                  <a:srgbClr val="00D4FF"/>
                </a:solidFill>
                <a:latin typeface="Calibri" pitchFamily="34" charset="0"/>
                <a:ea typeface="Calibri" pitchFamily="34" charset="-122"/>
                <a:cs typeface="Calibri" pitchFamily="34" charset="-120"/>
              </a:rPr>
              <a:t>CONCLUSION</a:t>
            </a:r>
            <a:endParaRPr lang="en-US" sz="2200" dirty="0"/>
          </a:p>
        </p:txBody>
      </p:sp>
      <p:sp>
        <p:nvSpPr>
          <p:cNvPr id="90" name="Text 87"/>
          <p:cNvSpPr/>
          <p:nvPr/>
        </p:nvSpPr>
        <p:spPr>
          <a:xfrm>
            <a:off x="1371600" y="2029968"/>
            <a:ext cx="6400800" cy="914400"/>
          </a:xfrm>
          <a:prstGeom prst="rect">
            <a:avLst/>
          </a:prstGeom>
          <a:noFill/>
          <a:ln/>
        </p:spPr>
        <p:txBody>
          <a:bodyPr wrap="square" rtlCol="0" anchor="ctr"/>
          <a:lstStyle/>
          <a:p>
            <a:pPr marL="0" indent="0" algn="ctr">
              <a:buNone/>
            </a:pPr>
            <a:r>
              <a:rPr lang="en-US" sz="1300" i="1" dirty="0">
                <a:solidFill>
                  <a:srgbClr val="E8F4FD"/>
                </a:solidFill>
                <a:latin typeface="Calibri" pitchFamily="34" charset="0"/>
                <a:ea typeface="Calibri" pitchFamily="34" charset="-122"/>
                <a:cs typeface="Calibri" pitchFamily="34" charset="-120"/>
              </a:rPr>
              <a:t>Le projet TomoyoManager répond à un besoin réel d'accessibilité des outils de sécurité Linux. En offrant une interface graphique complète pour la gestion des politiques TOMOYO, il démocratise l'usage d'un mécanisme MAC puissant jusqu'ici réservé aux experts CLI.</a:t>
            </a:r>
            <a:endParaRPr lang="en-US" sz="1300" dirty="0"/>
          </a:p>
        </p:txBody>
      </p:sp>
      <p:sp>
        <p:nvSpPr>
          <p:cNvPr id="91" name="Shape 88"/>
          <p:cNvSpPr/>
          <p:nvPr/>
        </p:nvSpPr>
        <p:spPr>
          <a:xfrm>
            <a:off x="1828800" y="2999232"/>
            <a:ext cx="1737360" cy="1417320"/>
          </a:xfrm>
          <a:prstGeom prst="rect">
            <a:avLst/>
          </a:prstGeom>
          <a:solidFill>
            <a:srgbClr val="1C2B3A"/>
          </a:solidFill>
          <a:ln w="12700">
            <a:solidFill>
              <a:srgbClr val="00D4FF"/>
            </a:solidFill>
            <a:prstDash val="solid"/>
          </a:ln>
        </p:spPr>
        <p:txBody>
          <a:bodyPr/>
          <a:lstStyle/>
          <a:p>
            <a:endParaRPr lang="fr-FR"/>
          </a:p>
        </p:txBody>
      </p:sp>
      <p:pic>
        <p:nvPicPr>
          <p:cNvPr id="92" name="Image 1" descr="preencoded.png"/>
          <p:cNvPicPr>
            <a:picLocks noChangeAspect="1"/>
          </p:cNvPicPr>
          <p:nvPr/>
        </p:nvPicPr>
        <p:blipFill>
          <a:blip r:embed="rId4"/>
          <a:stretch>
            <a:fillRect/>
          </a:stretch>
        </p:blipFill>
        <p:spPr>
          <a:xfrm>
            <a:off x="2423160" y="3072384"/>
            <a:ext cx="548640" cy="548640"/>
          </a:xfrm>
          <a:prstGeom prst="rect">
            <a:avLst/>
          </a:prstGeom>
        </p:spPr>
      </p:pic>
      <p:sp>
        <p:nvSpPr>
          <p:cNvPr id="93" name="Text 89"/>
          <p:cNvSpPr/>
          <p:nvPr/>
        </p:nvSpPr>
        <p:spPr>
          <a:xfrm>
            <a:off x="1828800" y="3639312"/>
            <a:ext cx="1737360" cy="320040"/>
          </a:xfrm>
          <a:prstGeom prst="rect">
            <a:avLst/>
          </a:prstGeom>
          <a:noFill/>
          <a:ln/>
        </p:spPr>
        <p:txBody>
          <a:bodyPr wrap="square" rtlCol="0" anchor="ctr"/>
          <a:lstStyle/>
          <a:p>
            <a:pPr marL="0" indent="0" algn="ctr">
              <a:buNone/>
            </a:pPr>
            <a:r>
              <a:rPr lang="en-US" sz="1200" b="1" dirty="0">
                <a:solidFill>
                  <a:srgbClr val="00D4FF"/>
                </a:solidFill>
                <a:latin typeface="Calibri" pitchFamily="34" charset="0"/>
                <a:ea typeface="Calibri" pitchFamily="34" charset="-122"/>
                <a:cs typeface="Calibri" pitchFamily="34" charset="-120"/>
              </a:rPr>
              <a:t>Accessibilité</a:t>
            </a:r>
            <a:endParaRPr lang="en-US" sz="1200" dirty="0"/>
          </a:p>
        </p:txBody>
      </p:sp>
      <p:sp>
        <p:nvSpPr>
          <p:cNvPr id="94" name="Text 90"/>
          <p:cNvSpPr/>
          <p:nvPr/>
        </p:nvSpPr>
        <p:spPr>
          <a:xfrm>
            <a:off x="1828800" y="3950208"/>
            <a:ext cx="1737360" cy="384048"/>
          </a:xfrm>
          <a:prstGeom prst="rect">
            <a:avLst/>
          </a:prstGeom>
          <a:noFill/>
          <a:ln/>
        </p:spPr>
        <p:txBody>
          <a:bodyPr wrap="square" rtlCol="0" anchor="ctr"/>
          <a:lstStyle/>
          <a:p>
            <a:pPr marL="0" indent="0" algn="ctr">
              <a:buNone/>
            </a:pPr>
            <a:r>
              <a:rPr lang="en-US" sz="1000" dirty="0">
                <a:solidFill>
                  <a:srgbClr val="8BA3B5"/>
                </a:solidFill>
                <a:latin typeface="Calibri" pitchFamily="34" charset="0"/>
                <a:ea typeface="Calibri" pitchFamily="34" charset="-122"/>
                <a:cs typeface="Calibri" pitchFamily="34" charset="-120"/>
              </a:rPr>
              <a:t>Interface intuitive</a:t>
            </a:r>
            <a:endParaRPr lang="en-US" sz="1000" dirty="0"/>
          </a:p>
          <a:p>
            <a:pPr marL="0" indent="0" algn="ctr">
              <a:buNone/>
            </a:pPr>
            <a:r>
              <a:rPr lang="en-US" sz="1000" dirty="0">
                <a:solidFill>
                  <a:srgbClr val="8BA3B5"/>
                </a:solidFill>
                <a:latin typeface="Calibri" pitchFamily="34" charset="0"/>
                <a:ea typeface="Calibri" pitchFamily="34" charset="-122"/>
                <a:cs typeface="Calibri" pitchFamily="34" charset="-120"/>
              </a:rPr>
              <a:t>sans expertise CLI</a:t>
            </a:r>
            <a:endParaRPr lang="en-US" sz="1000" dirty="0"/>
          </a:p>
        </p:txBody>
      </p:sp>
      <p:sp>
        <p:nvSpPr>
          <p:cNvPr id="95" name="Shape 91"/>
          <p:cNvSpPr/>
          <p:nvPr/>
        </p:nvSpPr>
        <p:spPr>
          <a:xfrm>
            <a:off x="3749040" y="2999232"/>
            <a:ext cx="1737360" cy="1417320"/>
          </a:xfrm>
          <a:prstGeom prst="rect">
            <a:avLst/>
          </a:prstGeom>
          <a:solidFill>
            <a:srgbClr val="1C2B3A"/>
          </a:solidFill>
          <a:ln w="12700">
            <a:solidFill>
              <a:srgbClr val="00E676"/>
            </a:solidFill>
            <a:prstDash val="solid"/>
          </a:ln>
        </p:spPr>
        <p:txBody>
          <a:bodyPr/>
          <a:lstStyle/>
          <a:p>
            <a:endParaRPr lang="fr-FR"/>
          </a:p>
        </p:txBody>
      </p:sp>
      <p:pic>
        <p:nvPicPr>
          <p:cNvPr id="96" name="Image 2" descr="preencoded.png"/>
          <p:cNvPicPr>
            <a:picLocks noChangeAspect="1"/>
          </p:cNvPicPr>
          <p:nvPr/>
        </p:nvPicPr>
        <p:blipFill>
          <a:blip r:embed="rId3"/>
          <a:stretch>
            <a:fillRect/>
          </a:stretch>
        </p:blipFill>
        <p:spPr>
          <a:xfrm>
            <a:off x="4343400" y="3072384"/>
            <a:ext cx="548640" cy="548640"/>
          </a:xfrm>
          <a:prstGeom prst="rect">
            <a:avLst/>
          </a:prstGeom>
        </p:spPr>
      </p:pic>
      <p:sp>
        <p:nvSpPr>
          <p:cNvPr id="97" name="Text 92"/>
          <p:cNvSpPr/>
          <p:nvPr/>
        </p:nvSpPr>
        <p:spPr>
          <a:xfrm>
            <a:off x="3749040" y="3639312"/>
            <a:ext cx="1737360" cy="320040"/>
          </a:xfrm>
          <a:prstGeom prst="rect">
            <a:avLst/>
          </a:prstGeom>
          <a:noFill/>
          <a:ln/>
        </p:spPr>
        <p:txBody>
          <a:bodyPr wrap="square" rtlCol="0" anchor="ctr"/>
          <a:lstStyle/>
          <a:p>
            <a:pPr marL="0" indent="0" algn="ctr">
              <a:buNone/>
            </a:pPr>
            <a:r>
              <a:rPr lang="en-US" sz="1200" b="1" dirty="0">
                <a:solidFill>
                  <a:srgbClr val="00E676"/>
                </a:solidFill>
                <a:latin typeface="Calibri" pitchFamily="34" charset="0"/>
                <a:ea typeface="Calibri" pitchFamily="34" charset="-122"/>
                <a:cs typeface="Calibri" pitchFamily="34" charset="-120"/>
              </a:rPr>
              <a:t>Sécurité</a:t>
            </a:r>
            <a:endParaRPr lang="en-US" sz="1200" dirty="0"/>
          </a:p>
        </p:txBody>
      </p:sp>
      <p:sp>
        <p:nvSpPr>
          <p:cNvPr id="98" name="Text 93"/>
          <p:cNvSpPr/>
          <p:nvPr/>
        </p:nvSpPr>
        <p:spPr>
          <a:xfrm>
            <a:off x="3749040" y="3950208"/>
            <a:ext cx="1737360" cy="384048"/>
          </a:xfrm>
          <a:prstGeom prst="rect">
            <a:avLst/>
          </a:prstGeom>
          <a:noFill/>
          <a:ln/>
        </p:spPr>
        <p:txBody>
          <a:bodyPr wrap="square" rtlCol="0" anchor="ctr"/>
          <a:lstStyle/>
          <a:p>
            <a:pPr marL="0" indent="0" algn="ctr">
              <a:buNone/>
            </a:pPr>
            <a:r>
              <a:rPr lang="en-US" sz="1000" dirty="0">
                <a:solidFill>
                  <a:srgbClr val="8BA3B5"/>
                </a:solidFill>
                <a:latin typeface="Calibri" pitchFamily="34" charset="0"/>
                <a:ea typeface="Calibri" pitchFamily="34" charset="-122"/>
                <a:cs typeface="Calibri" pitchFamily="34" charset="-120"/>
              </a:rPr>
              <a:t>Confinement applicatif</a:t>
            </a:r>
            <a:endParaRPr lang="en-US" sz="1000" dirty="0"/>
          </a:p>
          <a:p>
            <a:pPr marL="0" indent="0" algn="ctr">
              <a:buNone/>
            </a:pPr>
            <a:r>
              <a:rPr lang="en-US" sz="1000" dirty="0">
                <a:solidFill>
                  <a:srgbClr val="8BA3B5"/>
                </a:solidFill>
                <a:latin typeface="Calibri" pitchFamily="34" charset="0"/>
                <a:ea typeface="Calibri" pitchFamily="34" charset="-122"/>
                <a:cs typeface="Calibri" pitchFamily="34" charset="-120"/>
              </a:rPr>
              <a:t>prouvé Attack/Defense</a:t>
            </a:r>
            <a:endParaRPr lang="en-US" sz="1000" dirty="0"/>
          </a:p>
        </p:txBody>
      </p:sp>
      <p:sp>
        <p:nvSpPr>
          <p:cNvPr id="99" name="Shape 94"/>
          <p:cNvSpPr/>
          <p:nvPr/>
        </p:nvSpPr>
        <p:spPr>
          <a:xfrm>
            <a:off x="5669280" y="2999232"/>
            <a:ext cx="1737360" cy="1417320"/>
          </a:xfrm>
          <a:prstGeom prst="rect">
            <a:avLst/>
          </a:prstGeom>
          <a:solidFill>
            <a:srgbClr val="1C2B3A"/>
          </a:solidFill>
          <a:ln w="12700">
            <a:solidFill>
              <a:srgbClr val="FFB300"/>
            </a:solidFill>
            <a:prstDash val="solid"/>
          </a:ln>
        </p:spPr>
        <p:txBody>
          <a:bodyPr/>
          <a:lstStyle/>
          <a:p>
            <a:endParaRPr lang="fr-FR"/>
          </a:p>
        </p:txBody>
      </p:sp>
      <p:pic>
        <p:nvPicPr>
          <p:cNvPr id="100" name="Image 3" descr="preencoded.png"/>
          <p:cNvPicPr>
            <a:picLocks noChangeAspect="1"/>
          </p:cNvPicPr>
          <p:nvPr/>
        </p:nvPicPr>
        <p:blipFill>
          <a:blip r:embed="rId5"/>
          <a:stretch>
            <a:fillRect/>
          </a:stretch>
        </p:blipFill>
        <p:spPr>
          <a:xfrm>
            <a:off x="6263640" y="3072384"/>
            <a:ext cx="548640" cy="548640"/>
          </a:xfrm>
          <a:prstGeom prst="rect">
            <a:avLst/>
          </a:prstGeom>
        </p:spPr>
      </p:pic>
      <p:sp>
        <p:nvSpPr>
          <p:cNvPr id="101" name="Text 95"/>
          <p:cNvSpPr/>
          <p:nvPr/>
        </p:nvSpPr>
        <p:spPr>
          <a:xfrm>
            <a:off x="5669280" y="3639312"/>
            <a:ext cx="1737360" cy="320040"/>
          </a:xfrm>
          <a:prstGeom prst="rect">
            <a:avLst/>
          </a:prstGeom>
          <a:noFill/>
          <a:ln/>
        </p:spPr>
        <p:txBody>
          <a:bodyPr wrap="square" rtlCol="0" anchor="ctr"/>
          <a:lstStyle/>
          <a:p>
            <a:pPr marL="0" indent="0" algn="ctr">
              <a:buNone/>
            </a:pPr>
            <a:r>
              <a:rPr lang="en-US" sz="1200" b="1" dirty="0">
                <a:solidFill>
                  <a:srgbClr val="FFB300"/>
                </a:solidFill>
                <a:latin typeface="Calibri" pitchFamily="34" charset="0"/>
                <a:ea typeface="Calibri" pitchFamily="34" charset="-122"/>
                <a:cs typeface="Calibri" pitchFamily="34" charset="-120"/>
              </a:rPr>
              <a:t>Automatisation</a:t>
            </a:r>
            <a:endParaRPr lang="en-US" sz="1200" dirty="0"/>
          </a:p>
        </p:txBody>
      </p:sp>
      <p:sp>
        <p:nvSpPr>
          <p:cNvPr id="102" name="Text 96"/>
          <p:cNvSpPr/>
          <p:nvPr/>
        </p:nvSpPr>
        <p:spPr>
          <a:xfrm>
            <a:off x="5669280" y="3950208"/>
            <a:ext cx="1737360" cy="384048"/>
          </a:xfrm>
          <a:prstGeom prst="rect">
            <a:avLst/>
          </a:prstGeom>
          <a:noFill/>
          <a:ln/>
        </p:spPr>
        <p:txBody>
          <a:bodyPr wrap="square" rtlCol="0" anchor="ctr"/>
          <a:lstStyle/>
          <a:p>
            <a:pPr marL="0" indent="0" algn="ctr">
              <a:buNone/>
            </a:pPr>
            <a:r>
              <a:rPr lang="en-US" sz="1000" dirty="0">
                <a:solidFill>
                  <a:srgbClr val="8BA3B5"/>
                </a:solidFill>
                <a:latin typeface="Calibri" pitchFamily="34" charset="0"/>
                <a:ea typeface="Calibri" pitchFamily="34" charset="-122"/>
                <a:cs typeface="Calibri" pitchFamily="34" charset="-120"/>
              </a:rPr>
              <a:t>Génération de règles</a:t>
            </a:r>
            <a:endParaRPr lang="en-US" sz="1000" dirty="0"/>
          </a:p>
          <a:p>
            <a:pPr marL="0" indent="0" algn="ctr">
              <a:buNone/>
            </a:pPr>
            <a:r>
              <a:rPr lang="en-US" sz="1000" dirty="0">
                <a:solidFill>
                  <a:srgbClr val="8BA3B5"/>
                </a:solidFill>
                <a:latin typeface="Calibri" pitchFamily="34" charset="0"/>
                <a:ea typeface="Calibri" pitchFamily="34" charset="-122"/>
                <a:cs typeface="Calibri" pitchFamily="34" charset="-120"/>
              </a:rPr>
              <a:t>sans intervention manuelle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117"/>
          </a:solidFill>
          <a:ln/>
        </p:spPr>
        <p:txBody>
          <a:bodyPr/>
          <a:lstStyle/>
          <a:p>
            <a:endParaRPr lang="fr-FR"/>
          </a:p>
        </p:txBody>
      </p:sp>
      <p:sp>
        <p:nvSpPr>
          <p:cNvPr id="3" name="Shape 1"/>
          <p:cNvSpPr/>
          <p:nvPr/>
        </p:nvSpPr>
        <p:spPr>
          <a:xfrm>
            <a:off x="45720"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4" name="Shape 2"/>
          <p:cNvSpPr/>
          <p:nvPr/>
        </p:nvSpPr>
        <p:spPr>
          <a:xfrm>
            <a:off x="704088"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5" name="Shape 3"/>
          <p:cNvSpPr/>
          <p:nvPr/>
        </p:nvSpPr>
        <p:spPr>
          <a:xfrm>
            <a:off x="1362456"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6" name="Shape 4"/>
          <p:cNvSpPr/>
          <p:nvPr/>
        </p:nvSpPr>
        <p:spPr>
          <a:xfrm>
            <a:off x="2020824"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7" name="Shape 5"/>
          <p:cNvSpPr/>
          <p:nvPr/>
        </p:nvSpPr>
        <p:spPr>
          <a:xfrm>
            <a:off x="2679192"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8" name="Shape 6"/>
          <p:cNvSpPr/>
          <p:nvPr/>
        </p:nvSpPr>
        <p:spPr>
          <a:xfrm>
            <a:off x="3337560"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9" name="Shape 7"/>
          <p:cNvSpPr/>
          <p:nvPr/>
        </p:nvSpPr>
        <p:spPr>
          <a:xfrm>
            <a:off x="3995928"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10" name="Shape 8"/>
          <p:cNvSpPr/>
          <p:nvPr/>
        </p:nvSpPr>
        <p:spPr>
          <a:xfrm>
            <a:off x="4654296"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11" name="Shape 9"/>
          <p:cNvSpPr/>
          <p:nvPr/>
        </p:nvSpPr>
        <p:spPr>
          <a:xfrm>
            <a:off x="5312664"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12" name="Shape 10"/>
          <p:cNvSpPr/>
          <p:nvPr/>
        </p:nvSpPr>
        <p:spPr>
          <a:xfrm>
            <a:off x="5971032"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13" name="Shape 11"/>
          <p:cNvSpPr/>
          <p:nvPr/>
        </p:nvSpPr>
        <p:spPr>
          <a:xfrm>
            <a:off x="6629400"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14" name="Shape 12"/>
          <p:cNvSpPr/>
          <p:nvPr/>
        </p:nvSpPr>
        <p:spPr>
          <a:xfrm>
            <a:off x="7287768"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15" name="Shape 13"/>
          <p:cNvSpPr/>
          <p:nvPr/>
        </p:nvSpPr>
        <p:spPr>
          <a:xfrm>
            <a:off x="7946136"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16" name="Shape 14"/>
          <p:cNvSpPr/>
          <p:nvPr/>
        </p:nvSpPr>
        <p:spPr>
          <a:xfrm>
            <a:off x="8604504" y="45720"/>
            <a:ext cx="45720" cy="45720"/>
          </a:xfrm>
          <a:prstGeom prst="ellipse">
            <a:avLst/>
          </a:prstGeom>
          <a:solidFill>
            <a:srgbClr val="4A6070"/>
          </a:solidFill>
          <a:ln w="12700">
            <a:solidFill>
              <a:srgbClr val="4A6070"/>
            </a:solidFill>
            <a:prstDash val="solid"/>
          </a:ln>
        </p:spPr>
        <p:txBody>
          <a:bodyPr/>
          <a:lstStyle/>
          <a:p>
            <a:endParaRPr lang="fr-FR"/>
          </a:p>
        </p:txBody>
      </p:sp>
      <p:sp>
        <p:nvSpPr>
          <p:cNvPr id="17" name="Shape 15"/>
          <p:cNvSpPr/>
          <p:nvPr/>
        </p:nvSpPr>
        <p:spPr>
          <a:xfrm>
            <a:off x="45720"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18" name="Shape 16"/>
          <p:cNvSpPr/>
          <p:nvPr/>
        </p:nvSpPr>
        <p:spPr>
          <a:xfrm>
            <a:off x="704088"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19" name="Shape 17"/>
          <p:cNvSpPr/>
          <p:nvPr/>
        </p:nvSpPr>
        <p:spPr>
          <a:xfrm>
            <a:off x="1362456"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0" name="Shape 18"/>
          <p:cNvSpPr/>
          <p:nvPr/>
        </p:nvSpPr>
        <p:spPr>
          <a:xfrm>
            <a:off x="2020824"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1" name="Shape 19"/>
          <p:cNvSpPr/>
          <p:nvPr/>
        </p:nvSpPr>
        <p:spPr>
          <a:xfrm>
            <a:off x="2679192"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2" name="Shape 20"/>
          <p:cNvSpPr/>
          <p:nvPr/>
        </p:nvSpPr>
        <p:spPr>
          <a:xfrm>
            <a:off x="3337560"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3" name="Shape 21"/>
          <p:cNvSpPr/>
          <p:nvPr/>
        </p:nvSpPr>
        <p:spPr>
          <a:xfrm>
            <a:off x="3995928"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4" name="Shape 22"/>
          <p:cNvSpPr/>
          <p:nvPr/>
        </p:nvSpPr>
        <p:spPr>
          <a:xfrm>
            <a:off x="4654296"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5" name="Shape 23"/>
          <p:cNvSpPr/>
          <p:nvPr/>
        </p:nvSpPr>
        <p:spPr>
          <a:xfrm>
            <a:off x="5312664"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6" name="Shape 24"/>
          <p:cNvSpPr/>
          <p:nvPr/>
        </p:nvSpPr>
        <p:spPr>
          <a:xfrm>
            <a:off x="5971032"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7" name="Shape 25"/>
          <p:cNvSpPr/>
          <p:nvPr/>
        </p:nvSpPr>
        <p:spPr>
          <a:xfrm>
            <a:off x="6629400"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8" name="Shape 26"/>
          <p:cNvSpPr/>
          <p:nvPr/>
        </p:nvSpPr>
        <p:spPr>
          <a:xfrm>
            <a:off x="7287768"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29" name="Shape 27"/>
          <p:cNvSpPr/>
          <p:nvPr/>
        </p:nvSpPr>
        <p:spPr>
          <a:xfrm>
            <a:off x="7946136"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30" name="Shape 28"/>
          <p:cNvSpPr/>
          <p:nvPr/>
        </p:nvSpPr>
        <p:spPr>
          <a:xfrm>
            <a:off x="8604504" y="612648"/>
            <a:ext cx="45720" cy="45720"/>
          </a:xfrm>
          <a:prstGeom prst="ellipse">
            <a:avLst/>
          </a:prstGeom>
          <a:solidFill>
            <a:srgbClr val="4A6070"/>
          </a:solidFill>
          <a:ln w="12700">
            <a:solidFill>
              <a:srgbClr val="4A6070"/>
            </a:solidFill>
            <a:prstDash val="solid"/>
          </a:ln>
        </p:spPr>
        <p:txBody>
          <a:bodyPr/>
          <a:lstStyle/>
          <a:p>
            <a:endParaRPr lang="fr-FR"/>
          </a:p>
        </p:txBody>
      </p:sp>
      <p:sp>
        <p:nvSpPr>
          <p:cNvPr id="31" name="Shape 29"/>
          <p:cNvSpPr/>
          <p:nvPr/>
        </p:nvSpPr>
        <p:spPr>
          <a:xfrm>
            <a:off x="45720"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32" name="Shape 30"/>
          <p:cNvSpPr/>
          <p:nvPr/>
        </p:nvSpPr>
        <p:spPr>
          <a:xfrm>
            <a:off x="704088"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33" name="Shape 31"/>
          <p:cNvSpPr/>
          <p:nvPr/>
        </p:nvSpPr>
        <p:spPr>
          <a:xfrm>
            <a:off x="1362456"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34" name="Shape 32"/>
          <p:cNvSpPr/>
          <p:nvPr/>
        </p:nvSpPr>
        <p:spPr>
          <a:xfrm>
            <a:off x="2020824"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35" name="Shape 33"/>
          <p:cNvSpPr/>
          <p:nvPr/>
        </p:nvSpPr>
        <p:spPr>
          <a:xfrm>
            <a:off x="2679192"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36" name="Shape 34"/>
          <p:cNvSpPr/>
          <p:nvPr/>
        </p:nvSpPr>
        <p:spPr>
          <a:xfrm>
            <a:off x="3337560"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37" name="Shape 35"/>
          <p:cNvSpPr/>
          <p:nvPr/>
        </p:nvSpPr>
        <p:spPr>
          <a:xfrm>
            <a:off x="3995928"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38" name="Shape 36"/>
          <p:cNvSpPr/>
          <p:nvPr/>
        </p:nvSpPr>
        <p:spPr>
          <a:xfrm>
            <a:off x="4654296"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39" name="Shape 37"/>
          <p:cNvSpPr/>
          <p:nvPr/>
        </p:nvSpPr>
        <p:spPr>
          <a:xfrm>
            <a:off x="5312664"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40" name="Shape 38"/>
          <p:cNvSpPr/>
          <p:nvPr/>
        </p:nvSpPr>
        <p:spPr>
          <a:xfrm>
            <a:off x="5971032"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41" name="Shape 39"/>
          <p:cNvSpPr/>
          <p:nvPr/>
        </p:nvSpPr>
        <p:spPr>
          <a:xfrm>
            <a:off x="6629400"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42" name="Shape 40"/>
          <p:cNvSpPr/>
          <p:nvPr/>
        </p:nvSpPr>
        <p:spPr>
          <a:xfrm>
            <a:off x="7287768"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43" name="Shape 41"/>
          <p:cNvSpPr/>
          <p:nvPr/>
        </p:nvSpPr>
        <p:spPr>
          <a:xfrm>
            <a:off x="7946136"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44" name="Shape 42"/>
          <p:cNvSpPr/>
          <p:nvPr/>
        </p:nvSpPr>
        <p:spPr>
          <a:xfrm>
            <a:off x="8604504" y="1179576"/>
            <a:ext cx="45720" cy="45720"/>
          </a:xfrm>
          <a:prstGeom prst="ellipse">
            <a:avLst/>
          </a:prstGeom>
          <a:solidFill>
            <a:srgbClr val="4A6070"/>
          </a:solidFill>
          <a:ln w="12700">
            <a:solidFill>
              <a:srgbClr val="4A6070"/>
            </a:solidFill>
            <a:prstDash val="solid"/>
          </a:ln>
        </p:spPr>
        <p:txBody>
          <a:bodyPr/>
          <a:lstStyle/>
          <a:p>
            <a:endParaRPr lang="fr-FR"/>
          </a:p>
        </p:txBody>
      </p:sp>
      <p:sp>
        <p:nvSpPr>
          <p:cNvPr id="45" name="Shape 43"/>
          <p:cNvSpPr/>
          <p:nvPr/>
        </p:nvSpPr>
        <p:spPr>
          <a:xfrm>
            <a:off x="45720"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46" name="Shape 44"/>
          <p:cNvSpPr/>
          <p:nvPr/>
        </p:nvSpPr>
        <p:spPr>
          <a:xfrm>
            <a:off x="704088"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47" name="Shape 45"/>
          <p:cNvSpPr/>
          <p:nvPr/>
        </p:nvSpPr>
        <p:spPr>
          <a:xfrm>
            <a:off x="1362456"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48" name="Shape 46"/>
          <p:cNvSpPr/>
          <p:nvPr/>
        </p:nvSpPr>
        <p:spPr>
          <a:xfrm>
            <a:off x="2020824"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49" name="Shape 47"/>
          <p:cNvSpPr/>
          <p:nvPr/>
        </p:nvSpPr>
        <p:spPr>
          <a:xfrm>
            <a:off x="2679192"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0" name="Shape 48"/>
          <p:cNvSpPr/>
          <p:nvPr/>
        </p:nvSpPr>
        <p:spPr>
          <a:xfrm>
            <a:off x="3337560"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1" name="Shape 49"/>
          <p:cNvSpPr/>
          <p:nvPr/>
        </p:nvSpPr>
        <p:spPr>
          <a:xfrm>
            <a:off x="3995928"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2" name="Shape 50"/>
          <p:cNvSpPr/>
          <p:nvPr/>
        </p:nvSpPr>
        <p:spPr>
          <a:xfrm>
            <a:off x="4654296"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3" name="Shape 51"/>
          <p:cNvSpPr/>
          <p:nvPr/>
        </p:nvSpPr>
        <p:spPr>
          <a:xfrm>
            <a:off x="5312664"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4" name="Shape 52"/>
          <p:cNvSpPr/>
          <p:nvPr/>
        </p:nvSpPr>
        <p:spPr>
          <a:xfrm>
            <a:off x="5971032"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5" name="Shape 53"/>
          <p:cNvSpPr/>
          <p:nvPr/>
        </p:nvSpPr>
        <p:spPr>
          <a:xfrm>
            <a:off x="6629400"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6" name="Shape 54"/>
          <p:cNvSpPr/>
          <p:nvPr/>
        </p:nvSpPr>
        <p:spPr>
          <a:xfrm>
            <a:off x="7287768"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7" name="Shape 55"/>
          <p:cNvSpPr/>
          <p:nvPr/>
        </p:nvSpPr>
        <p:spPr>
          <a:xfrm>
            <a:off x="7946136"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8" name="Shape 56"/>
          <p:cNvSpPr/>
          <p:nvPr/>
        </p:nvSpPr>
        <p:spPr>
          <a:xfrm>
            <a:off x="8604504" y="1746504"/>
            <a:ext cx="45720" cy="45720"/>
          </a:xfrm>
          <a:prstGeom prst="ellipse">
            <a:avLst/>
          </a:prstGeom>
          <a:solidFill>
            <a:srgbClr val="4A6070"/>
          </a:solidFill>
          <a:ln w="12700">
            <a:solidFill>
              <a:srgbClr val="4A6070"/>
            </a:solidFill>
            <a:prstDash val="solid"/>
          </a:ln>
        </p:spPr>
        <p:txBody>
          <a:bodyPr/>
          <a:lstStyle/>
          <a:p>
            <a:endParaRPr lang="fr-FR"/>
          </a:p>
        </p:txBody>
      </p:sp>
      <p:sp>
        <p:nvSpPr>
          <p:cNvPr id="59" name="Shape 57"/>
          <p:cNvSpPr/>
          <p:nvPr/>
        </p:nvSpPr>
        <p:spPr>
          <a:xfrm>
            <a:off x="45720"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0" name="Shape 58"/>
          <p:cNvSpPr/>
          <p:nvPr/>
        </p:nvSpPr>
        <p:spPr>
          <a:xfrm>
            <a:off x="704088"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1" name="Shape 59"/>
          <p:cNvSpPr/>
          <p:nvPr/>
        </p:nvSpPr>
        <p:spPr>
          <a:xfrm>
            <a:off x="1362456"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2" name="Shape 60"/>
          <p:cNvSpPr/>
          <p:nvPr/>
        </p:nvSpPr>
        <p:spPr>
          <a:xfrm>
            <a:off x="2020824"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3" name="Shape 61"/>
          <p:cNvSpPr/>
          <p:nvPr/>
        </p:nvSpPr>
        <p:spPr>
          <a:xfrm>
            <a:off x="2679192"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4" name="Shape 62"/>
          <p:cNvSpPr/>
          <p:nvPr/>
        </p:nvSpPr>
        <p:spPr>
          <a:xfrm>
            <a:off x="3337560"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5" name="Shape 63"/>
          <p:cNvSpPr/>
          <p:nvPr/>
        </p:nvSpPr>
        <p:spPr>
          <a:xfrm>
            <a:off x="3995928"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6" name="Shape 64"/>
          <p:cNvSpPr/>
          <p:nvPr/>
        </p:nvSpPr>
        <p:spPr>
          <a:xfrm>
            <a:off x="4654296"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7" name="Shape 65"/>
          <p:cNvSpPr/>
          <p:nvPr/>
        </p:nvSpPr>
        <p:spPr>
          <a:xfrm>
            <a:off x="5312664"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8" name="Shape 66"/>
          <p:cNvSpPr/>
          <p:nvPr/>
        </p:nvSpPr>
        <p:spPr>
          <a:xfrm>
            <a:off x="5971032"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69" name="Shape 67"/>
          <p:cNvSpPr/>
          <p:nvPr/>
        </p:nvSpPr>
        <p:spPr>
          <a:xfrm>
            <a:off x="6629400"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70" name="Shape 68"/>
          <p:cNvSpPr/>
          <p:nvPr/>
        </p:nvSpPr>
        <p:spPr>
          <a:xfrm>
            <a:off x="7287768"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71" name="Shape 69"/>
          <p:cNvSpPr/>
          <p:nvPr/>
        </p:nvSpPr>
        <p:spPr>
          <a:xfrm>
            <a:off x="7946136"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72" name="Shape 70"/>
          <p:cNvSpPr/>
          <p:nvPr/>
        </p:nvSpPr>
        <p:spPr>
          <a:xfrm>
            <a:off x="8604504" y="2313432"/>
            <a:ext cx="45720" cy="45720"/>
          </a:xfrm>
          <a:prstGeom prst="ellipse">
            <a:avLst/>
          </a:prstGeom>
          <a:solidFill>
            <a:srgbClr val="4A6070"/>
          </a:solidFill>
          <a:ln w="12700">
            <a:solidFill>
              <a:srgbClr val="4A6070"/>
            </a:solidFill>
            <a:prstDash val="solid"/>
          </a:ln>
        </p:spPr>
        <p:txBody>
          <a:bodyPr/>
          <a:lstStyle/>
          <a:p>
            <a:endParaRPr lang="fr-FR"/>
          </a:p>
        </p:txBody>
      </p:sp>
      <p:sp>
        <p:nvSpPr>
          <p:cNvPr id="73" name="Shape 71"/>
          <p:cNvSpPr/>
          <p:nvPr/>
        </p:nvSpPr>
        <p:spPr>
          <a:xfrm>
            <a:off x="45720"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74" name="Shape 72"/>
          <p:cNvSpPr/>
          <p:nvPr/>
        </p:nvSpPr>
        <p:spPr>
          <a:xfrm>
            <a:off x="704088"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75" name="Shape 73"/>
          <p:cNvSpPr/>
          <p:nvPr/>
        </p:nvSpPr>
        <p:spPr>
          <a:xfrm>
            <a:off x="1362456"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76" name="Shape 74"/>
          <p:cNvSpPr/>
          <p:nvPr/>
        </p:nvSpPr>
        <p:spPr>
          <a:xfrm>
            <a:off x="2020824"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77" name="Shape 75"/>
          <p:cNvSpPr/>
          <p:nvPr/>
        </p:nvSpPr>
        <p:spPr>
          <a:xfrm>
            <a:off x="2679192"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78" name="Shape 76"/>
          <p:cNvSpPr/>
          <p:nvPr/>
        </p:nvSpPr>
        <p:spPr>
          <a:xfrm>
            <a:off x="3337560"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79" name="Shape 77"/>
          <p:cNvSpPr/>
          <p:nvPr/>
        </p:nvSpPr>
        <p:spPr>
          <a:xfrm>
            <a:off x="3995928"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80" name="Shape 78"/>
          <p:cNvSpPr/>
          <p:nvPr/>
        </p:nvSpPr>
        <p:spPr>
          <a:xfrm>
            <a:off x="4654296"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81" name="Shape 79"/>
          <p:cNvSpPr/>
          <p:nvPr/>
        </p:nvSpPr>
        <p:spPr>
          <a:xfrm>
            <a:off x="5312664"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82" name="Shape 80"/>
          <p:cNvSpPr/>
          <p:nvPr/>
        </p:nvSpPr>
        <p:spPr>
          <a:xfrm>
            <a:off x="5971032"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83" name="Shape 81"/>
          <p:cNvSpPr/>
          <p:nvPr/>
        </p:nvSpPr>
        <p:spPr>
          <a:xfrm>
            <a:off x="6629400"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84" name="Shape 82"/>
          <p:cNvSpPr/>
          <p:nvPr/>
        </p:nvSpPr>
        <p:spPr>
          <a:xfrm>
            <a:off x="7287768"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85" name="Shape 83"/>
          <p:cNvSpPr/>
          <p:nvPr/>
        </p:nvSpPr>
        <p:spPr>
          <a:xfrm>
            <a:off x="7946136"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86" name="Shape 84"/>
          <p:cNvSpPr/>
          <p:nvPr/>
        </p:nvSpPr>
        <p:spPr>
          <a:xfrm>
            <a:off x="8604504" y="2880360"/>
            <a:ext cx="45720" cy="45720"/>
          </a:xfrm>
          <a:prstGeom prst="ellipse">
            <a:avLst/>
          </a:prstGeom>
          <a:solidFill>
            <a:srgbClr val="4A6070"/>
          </a:solidFill>
          <a:ln w="12700">
            <a:solidFill>
              <a:srgbClr val="4A6070"/>
            </a:solidFill>
            <a:prstDash val="solid"/>
          </a:ln>
        </p:spPr>
        <p:txBody>
          <a:bodyPr/>
          <a:lstStyle/>
          <a:p>
            <a:endParaRPr lang="fr-FR"/>
          </a:p>
        </p:txBody>
      </p:sp>
      <p:sp>
        <p:nvSpPr>
          <p:cNvPr id="87" name="Shape 85"/>
          <p:cNvSpPr/>
          <p:nvPr/>
        </p:nvSpPr>
        <p:spPr>
          <a:xfrm>
            <a:off x="45720"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88" name="Shape 86"/>
          <p:cNvSpPr/>
          <p:nvPr/>
        </p:nvSpPr>
        <p:spPr>
          <a:xfrm>
            <a:off x="704088"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89" name="Shape 87"/>
          <p:cNvSpPr/>
          <p:nvPr/>
        </p:nvSpPr>
        <p:spPr>
          <a:xfrm>
            <a:off x="1362456"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0" name="Shape 88"/>
          <p:cNvSpPr/>
          <p:nvPr/>
        </p:nvSpPr>
        <p:spPr>
          <a:xfrm>
            <a:off x="2020824"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1" name="Shape 89"/>
          <p:cNvSpPr/>
          <p:nvPr/>
        </p:nvSpPr>
        <p:spPr>
          <a:xfrm>
            <a:off x="2679192"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2" name="Shape 90"/>
          <p:cNvSpPr/>
          <p:nvPr/>
        </p:nvSpPr>
        <p:spPr>
          <a:xfrm>
            <a:off x="3337560"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3" name="Shape 91"/>
          <p:cNvSpPr/>
          <p:nvPr/>
        </p:nvSpPr>
        <p:spPr>
          <a:xfrm>
            <a:off x="3995928"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4" name="Shape 92"/>
          <p:cNvSpPr/>
          <p:nvPr/>
        </p:nvSpPr>
        <p:spPr>
          <a:xfrm>
            <a:off x="4654296"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5" name="Shape 93"/>
          <p:cNvSpPr/>
          <p:nvPr/>
        </p:nvSpPr>
        <p:spPr>
          <a:xfrm>
            <a:off x="5312664"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6" name="Shape 94"/>
          <p:cNvSpPr/>
          <p:nvPr/>
        </p:nvSpPr>
        <p:spPr>
          <a:xfrm>
            <a:off x="5971032"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7" name="Shape 95"/>
          <p:cNvSpPr/>
          <p:nvPr/>
        </p:nvSpPr>
        <p:spPr>
          <a:xfrm>
            <a:off x="6629400"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8" name="Shape 96"/>
          <p:cNvSpPr/>
          <p:nvPr/>
        </p:nvSpPr>
        <p:spPr>
          <a:xfrm>
            <a:off x="7287768"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99" name="Shape 97"/>
          <p:cNvSpPr/>
          <p:nvPr/>
        </p:nvSpPr>
        <p:spPr>
          <a:xfrm>
            <a:off x="7946136"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100" name="Shape 98"/>
          <p:cNvSpPr/>
          <p:nvPr/>
        </p:nvSpPr>
        <p:spPr>
          <a:xfrm>
            <a:off x="8604504" y="3447288"/>
            <a:ext cx="45720" cy="45720"/>
          </a:xfrm>
          <a:prstGeom prst="ellipse">
            <a:avLst/>
          </a:prstGeom>
          <a:solidFill>
            <a:srgbClr val="4A6070"/>
          </a:solidFill>
          <a:ln w="12700">
            <a:solidFill>
              <a:srgbClr val="4A6070"/>
            </a:solidFill>
            <a:prstDash val="solid"/>
          </a:ln>
        </p:spPr>
        <p:txBody>
          <a:bodyPr/>
          <a:lstStyle/>
          <a:p>
            <a:endParaRPr lang="fr-FR"/>
          </a:p>
        </p:txBody>
      </p:sp>
      <p:sp>
        <p:nvSpPr>
          <p:cNvPr id="101" name="Shape 99"/>
          <p:cNvSpPr/>
          <p:nvPr/>
        </p:nvSpPr>
        <p:spPr>
          <a:xfrm>
            <a:off x="45720"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02" name="Shape 100"/>
          <p:cNvSpPr/>
          <p:nvPr/>
        </p:nvSpPr>
        <p:spPr>
          <a:xfrm>
            <a:off x="704088"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03" name="Shape 101"/>
          <p:cNvSpPr/>
          <p:nvPr/>
        </p:nvSpPr>
        <p:spPr>
          <a:xfrm>
            <a:off x="1362456"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04" name="Shape 102"/>
          <p:cNvSpPr/>
          <p:nvPr/>
        </p:nvSpPr>
        <p:spPr>
          <a:xfrm>
            <a:off x="2020824"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05" name="Shape 103"/>
          <p:cNvSpPr/>
          <p:nvPr/>
        </p:nvSpPr>
        <p:spPr>
          <a:xfrm>
            <a:off x="2679192"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06" name="Shape 104"/>
          <p:cNvSpPr/>
          <p:nvPr/>
        </p:nvSpPr>
        <p:spPr>
          <a:xfrm>
            <a:off x="3337560"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07" name="Shape 105"/>
          <p:cNvSpPr/>
          <p:nvPr/>
        </p:nvSpPr>
        <p:spPr>
          <a:xfrm>
            <a:off x="3995928"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08" name="Shape 106"/>
          <p:cNvSpPr/>
          <p:nvPr/>
        </p:nvSpPr>
        <p:spPr>
          <a:xfrm>
            <a:off x="4654296"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09" name="Shape 107"/>
          <p:cNvSpPr/>
          <p:nvPr/>
        </p:nvSpPr>
        <p:spPr>
          <a:xfrm>
            <a:off x="5312664"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10" name="Shape 108"/>
          <p:cNvSpPr/>
          <p:nvPr/>
        </p:nvSpPr>
        <p:spPr>
          <a:xfrm>
            <a:off x="5971032"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11" name="Shape 109"/>
          <p:cNvSpPr/>
          <p:nvPr/>
        </p:nvSpPr>
        <p:spPr>
          <a:xfrm>
            <a:off x="6629400"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12" name="Shape 110"/>
          <p:cNvSpPr/>
          <p:nvPr/>
        </p:nvSpPr>
        <p:spPr>
          <a:xfrm>
            <a:off x="7287768"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13" name="Shape 111"/>
          <p:cNvSpPr/>
          <p:nvPr/>
        </p:nvSpPr>
        <p:spPr>
          <a:xfrm>
            <a:off x="7946136"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14" name="Shape 112"/>
          <p:cNvSpPr/>
          <p:nvPr/>
        </p:nvSpPr>
        <p:spPr>
          <a:xfrm>
            <a:off x="8604504" y="4014216"/>
            <a:ext cx="45720" cy="45720"/>
          </a:xfrm>
          <a:prstGeom prst="ellipse">
            <a:avLst/>
          </a:prstGeom>
          <a:solidFill>
            <a:srgbClr val="4A6070"/>
          </a:solidFill>
          <a:ln w="12700">
            <a:solidFill>
              <a:srgbClr val="4A6070"/>
            </a:solidFill>
            <a:prstDash val="solid"/>
          </a:ln>
        </p:spPr>
        <p:txBody>
          <a:bodyPr/>
          <a:lstStyle/>
          <a:p>
            <a:endParaRPr lang="fr-FR"/>
          </a:p>
        </p:txBody>
      </p:sp>
      <p:sp>
        <p:nvSpPr>
          <p:cNvPr id="115" name="Shape 113"/>
          <p:cNvSpPr/>
          <p:nvPr/>
        </p:nvSpPr>
        <p:spPr>
          <a:xfrm>
            <a:off x="45720"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16" name="Shape 114"/>
          <p:cNvSpPr/>
          <p:nvPr/>
        </p:nvSpPr>
        <p:spPr>
          <a:xfrm>
            <a:off x="704088"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17" name="Shape 115"/>
          <p:cNvSpPr/>
          <p:nvPr/>
        </p:nvSpPr>
        <p:spPr>
          <a:xfrm>
            <a:off x="1362456"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18" name="Shape 116"/>
          <p:cNvSpPr/>
          <p:nvPr/>
        </p:nvSpPr>
        <p:spPr>
          <a:xfrm>
            <a:off x="2020824"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19" name="Shape 117"/>
          <p:cNvSpPr/>
          <p:nvPr/>
        </p:nvSpPr>
        <p:spPr>
          <a:xfrm>
            <a:off x="2679192"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0" name="Shape 118"/>
          <p:cNvSpPr/>
          <p:nvPr/>
        </p:nvSpPr>
        <p:spPr>
          <a:xfrm>
            <a:off x="3337560"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1" name="Shape 119"/>
          <p:cNvSpPr/>
          <p:nvPr/>
        </p:nvSpPr>
        <p:spPr>
          <a:xfrm>
            <a:off x="3995928"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2" name="Shape 120"/>
          <p:cNvSpPr/>
          <p:nvPr/>
        </p:nvSpPr>
        <p:spPr>
          <a:xfrm>
            <a:off x="4654296"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3" name="Shape 121"/>
          <p:cNvSpPr/>
          <p:nvPr/>
        </p:nvSpPr>
        <p:spPr>
          <a:xfrm>
            <a:off x="5312664"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4" name="Shape 122"/>
          <p:cNvSpPr/>
          <p:nvPr/>
        </p:nvSpPr>
        <p:spPr>
          <a:xfrm>
            <a:off x="5971032"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5" name="Shape 123"/>
          <p:cNvSpPr/>
          <p:nvPr/>
        </p:nvSpPr>
        <p:spPr>
          <a:xfrm>
            <a:off x="6629400"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6" name="Shape 124"/>
          <p:cNvSpPr/>
          <p:nvPr/>
        </p:nvSpPr>
        <p:spPr>
          <a:xfrm>
            <a:off x="7287768"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7" name="Shape 125"/>
          <p:cNvSpPr/>
          <p:nvPr/>
        </p:nvSpPr>
        <p:spPr>
          <a:xfrm>
            <a:off x="7946136"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8" name="Shape 126"/>
          <p:cNvSpPr/>
          <p:nvPr/>
        </p:nvSpPr>
        <p:spPr>
          <a:xfrm>
            <a:off x="8604504" y="4581144"/>
            <a:ext cx="45720" cy="45720"/>
          </a:xfrm>
          <a:prstGeom prst="ellipse">
            <a:avLst/>
          </a:prstGeom>
          <a:solidFill>
            <a:srgbClr val="4A6070"/>
          </a:solidFill>
          <a:ln w="12700">
            <a:solidFill>
              <a:srgbClr val="4A6070"/>
            </a:solidFill>
            <a:prstDash val="solid"/>
          </a:ln>
        </p:spPr>
        <p:txBody>
          <a:bodyPr/>
          <a:lstStyle/>
          <a:p>
            <a:endParaRPr lang="fr-FR"/>
          </a:p>
        </p:txBody>
      </p:sp>
      <p:sp>
        <p:nvSpPr>
          <p:cNvPr id="129" name="Shape 127"/>
          <p:cNvSpPr/>
          <p:nvPr/>
        </p:nvSpPr>
        <p:spPr>
          <a:xfrm>
            <a:off x="0" y="0"/>
            <a:ext cx="73152" cy="5143500"/>
          </a:xfrm>
          <a:prstGeom prst="rect">
            <a:avLst/>
          </a:prstGeom>
          <a:solidFill>
            <a:srgbClr val="00D4FF"/>
          </a:solidFill>
          <a:ln/>
        </p:spPr>
        <p:txBody>
          <a:bodyPr/>
          <a:lstStyle/>
          <a:p>
            <a:endParaRPr lang="fr-FR"/>
          </a:p>
        </p:txBody>
      </p:sp>
      <p:sp>
        <p:nvSpPr>
          <p:cNvPr id="130" name="Shape 128"/>
          <p:cNvSpPr/>
          <p:nvPr/>
        </p:nvSpPr>
        <p:spPr>
          <a:xfrm>
            <a:off x="9070848" y="0"/>
            <a:ext cx="73152" cy="5143500"/>
          </a:xfrm>
          <a:prstGeom prst="rect">
            <a:avLst/>
          </a:prstGeom>
          <a:solidFill>
            <a:srgbClr val="00D4FF"/>
          </a:solidFill>
          <a:ln/>
        </p:spPr>
        <p:txBody>
          <a:bodyPr/>
          <a:lstStyle/>
          <a:p>
            <a:endParaRPr lang="fr-FR"/>
          </a:p>
        </p:txBody>
      </p:sp>
      <p:pic>
        <p:nvPicPr>
          <p:cNvPr id="131" name="Image 0" descr="preencoded.png"/>
          <p:cNvPicPr>
            <a:picLocks noChangeAspect="1"/>
          </p:cNvPicPr>
          <p:nvPr/>
        </p:nvPicPr>
        <p:blipFill>
          <a:blip r:embed="rId3"/>
          <a:stretch>
            <a:fillRect/>
          </a:stretch>
        </p:blipFill>
        <p:spPr>
          <a:xfrm>
            <a:off x="4023360" y="502920"/>
            <a:ext cx="1097280" cy="1097280"/>
          </a:xfrm>
          <a:prstGeom prst="rect">
            <a:avLst/>
          </a:prstGeom>
        </p:spPr>
      </p:pic>
      <p:sp>
        <p:nvSpPr>
          <p:cNvPr id="132" name="Text 129"/>
          <p:cNvSpPr/>
          <p:nvPr/>
        </p:nvSpPr>
        <p:spPr>
          <a:xfrm>
            <a:off x="914400" y="1691640"/>
            <a:ext cx="7315200" cy="914400"/>
          </a:xfrm>
          <a:prstGeom prst="rect">
            <a:avLst/>
          </a:prstGeom>
          <a:noFill/>
          <a:ln/>
        </p:spPr>
        <p:txBody>
          <a:bodyPr wrap="square" rtlCol="0" anchor="ctr"/>
          <a:lstStyle/>
          <a:p>
            <a:pPr marL="0" indent="0" algn="ctr">
              <a:buNone/>
            </a:pPr>
            <a:r>
              <a:rPr lang="en-US" sz="6400" b="1" dirty="0">
                <a:solidFill>
                  <a:srgbClr val="FFFFFF"/>
                </a:solidFill>
                <a:latin typeface="Calibri" pitchFamily="34" charset="0"/>
                <a:ea typeface="Calibri" pitchFamily="34" charset="-122"/>
                <a:cs typeface="Calibri" pitchFamily="34" charset="-120"/>
              </a:rPr>
              <a:t>MERCI</a:t>
            </a:r>
            <a:endParaRPr lang="en-US" sz="6400" dirty="0"/>
          </a:p>
        </p:txBody>
      </p:sp>
      <p:sp>
        <p:nvSpPr>
          <p:cNvPr id="133" name="Text 130"/>
          <p:cNvSpPr/>
          <p:nvPr/>
        </p:nvSpPr>
        <p:spPr>
          <a:xfrm>
            <a:off x="1828800" y="2578608"/>
            <a:ext cx="5486400" cy="438912"/>
          </a:xfrm>
          <a:prstGeom prst="rect">
            <a:avLst/>
          </a:prstGeom>
          <a:noFill/>
          <a:ln/>
        </p:spPr>
        <p:txBody>
          <a:bodyPr wrap="square" rtlCol="0" anchor="ctr"/>
          <a:lstStyle/>
          <a:p>
            <a:pPr marL="0" indent="0" algn="ctr">
              <a:buNone/>
            </a:pPr>
            <a:r>
              <a:rPr lang="en-US" sz="1400" kern="0" spc="300" dirty="0">
                <a:solidFill>
                  <a:srgbClr val="00D4FF"/>
                </a:solidFill>
                <a:latin typeface="Calibri" pitchFamily="34" charset="0"/>
                <a:ea typeface="Calibri" pitchFamily="34" charset="-122"/>
                <a:cs typeface="Calibri" pitchFamily="34" charset="-120"/>
              </a:rPr>
              <a:t>POUR VOTRE AIMABLE ATTENTION</a:t>
            </a:r>
            <a:endParaRPr lang="en-US" sz="1400" dirty="0"/>
          </a:p>
        </p:txBody>
      </p:sp>
      <p:sp>
        <p:nvSpPr>
          <p:cNvPr id="134" name="Shape 131"/>
          <p:cNvSpPr/>
          <p:nvPr/>
        </p:nvSpPr>
        <p:spPr>
          <a:xfrm>
            <a:off x="2743200" y="3090672"/>
            <a:ext cx="3657600" cy="36576"/>
          </a:xfrm>
          <a:prstGeom prst="rect">
            <a:avLst/>
          </a:prstGeom>
          <a:solidFill>
            <a:srgbClr val="0099BB"/>
          </a:solidFill>
          <a:ln/>
        </p:spPr>
        <p:txBody>
          <a:bodyPr/>
          <a:lstStyle/>
          <a:p>
            <a:endParaRPr lang="fr-FR"/>
          </a:p>
        </p:txBody>
      </p:sp>
      <p:sp>
        <p:nvSpPr>
          <p:cNvPr id="135" name="Text 132"/>
          <p:cNvSpPr/>
          <p:nvPr/>
        </p:nvSpPr>
        <p:spPr>
          <a:xfrm>
            <a:off x="914400" y="3218688"/>
            <a:ext cx="7315200" cy="347472"/>
          </a:xfrm>
          <a:prstGeom prst="rect">
            <a:avLst/>
          </a:prstGeom>
          <a:noFill/>
          <a:ln/>
        </p:spPr>
        <p:txBody>
          <a:bodyPr wrap="square" rtlCol="0" anchor="ctr"/>
          <a:lstStyle/>
          <a:p>
            <a:pPr marL="0" indent="0" algn="ctr">
              <a:buNone/>
            </a:pPr>
            <a:r>
              <a:rPr lang="en-US" sz="1100" i="1" dirty="0">
                <a:solidFill>
                  <a:srgbClr val="8BA3B5"/>
                </a:solidFill>
                <a:latin typeface="Calibri" pitchFamily="34" charset="0"/>
                <a:ea typeface="Calibri" pitchFamily="34" charset="-122"/>
                <a:cs typeface="Calibri" pitchFamily="34" charset="-120"/>
              </a:rPr>
              <a:t>TomoyoManager — Plateforme Web TOMOYO Linux  ·  Année Académique 2024–2025</a:t>
            </a:r>
            <a:endParaRPr lang="en-US" sz="1100" dirty="0"/>
          </a:p>
        </p:txBody>
      </p:sp>
      <p:sp>
        <p:nvSpPr>
          <p:cNvPr id="136" name="Text 133"/>
          <p:cNvSpPr/>
          <p:nvPr/>
        </p:nvSpPr>
        <p:spPr>
          <a:xfrm>
            <a:off x="1828800" y="3611880"/>
            <a:ext cx="5486400" cy="320040"/>
          </a:xfrm>
          <a:prstGeom prst="rect">
            <a:avLst/>
          </a:prstGeom>
          <a:noFill/>
          <a:ln/>
        </p:spPr>
        <p:txBody>
          <a:bodyPr wrap="square" rtlCol="0" anchor="ctr"/>
          <a:lstStyle/>
          <a:p>
            <a:pPr marL="0" indent="0" algn="ctr">
              <a:buNone/>
            </a:pPr>
            <a:r>
              <a:rPr lang="en-US" sz="1200" dirty="0">
                <a:solidFill>
                  <a:srgbClr val="E8F4FD"/>
                </a:solidFill>
                <a:latin typeface="Calibri" pitchFamily="34" charset="0"/>
                <a:ea typeface="Calibri" pitchFamily="34" charset="-122"/>
                <a:cs typeface="Calibri" pitchFamily="34" charset="-120"/>
              </a:rPr>
              <a:t>Sous la supervision de M. NGUIMBUS Emmanuel</a:t>
            </a:r>
            <a:endParaRPr lang="en-US" sz="1200" dirty="0"/>
          </a:p>
        </p:txBody>
      </p:sp>
      <p:pic>
        <p:nvPicPr>
          <p:cNvPr id="137" name="Image 1" descr="preencoded.png"/>
          <p:cNvPicPr>
            <a:picLocks noChangeAspect="1"/>
          </p:cNvPicPr>
          <p:nvPr/>
        </p:nvPicPr>
        <p:blipFill>
          <a:blip r:embed="rId3"/>
          <a:stretch>
            <a:fillRect/>
          </a:stretch>
        </p:blipFill>
        <p:spPr>
          <a:xfrm>
            <a:off x="3017520" y="4206240"/>
            <a:ext cx="411480" cy="411480"/>
          </a:xfrm>
          <a:prstGeom prst="rect">
            <a:avLst/>
          </a:prstGeom>
        </p:spPr>
      </p:pic>
      <p:pic>
        <p:nvPicPr>
          <p:cNvPr id="138" name="Image 2" descr="preencoded.png"/>
          <p:cNvPicPr>
            <a:picLocks noChangeAspect="1"/>
          </p:cNvPicPr>
          <p:nvPr/>
        </p:nvPicPr>
        <p:blipFill>
          <a:blip r:embed="rId4"/>
          <a:stretch>
            <a:fillRect/>
          </a:stretch>
        </p:blipFill>
        <p:spPr>
          <a:xfrm>
            <a:off x="3840480" y="4206240"/>
            <a:ext cx="411480" cy="411480"/>
          </a:xfrm>
          <a:prstGeom prst="rect">
            <a:avLst/>
          </a:prstGeom>
        </p:spPr>
      </p:pic>
      <p:pic>
        <p:nvPicPr>
          <p:cNvPr id="139" name="Image 3" descr="preencoded.png"/>
          <p:cNvPicPr>
            <a:picLocks noChangeAspect="1"/>
          </p:cNvPicPr>
          <p:nvPr/>
        </p:nvPicPr>
        <p:blipFill>
          <a:blip r:embed="rId5"/>
          <a:stretch>
            <a:fillRect/>
          </a:stretch>
        </p:blipFill>
        <p:spPr>
          <a:xfrm>
            <a:off x="4663440" y="4206240"/>
            <a:ext cx="411480" cy="411480"/>
          </a:xfrm>
          <a:prstGeom prst="rect">
            <a:avLst/>
          </a:prstGeom>
        </p:spPr>
      </p:pic>
      <p:pic>
        <p:nvPicPr>
          <p:cNvPr id="140" name="Image 4" descr="preencoded.png"/>
          <p:cNvPicPr>
            <a:picLocks noChangeAspect="1"/>
          </p:cNvPicPr>
          <p:nvPr/>
        </p:nvPicPr>
        <p:blipFill>
          <a:blip r:embed="rId6"/>
          <a:stretch>
            <a:fillRect/>
          </a:stretch>
        </p:blipFill>
        <p:spPr>
          <a:xfrm>
            <a:off x="5486400" y="4206240"/>
            <a:ext cx="411480" cy="411480"/>
          </a:xfrm>
          <a:prstGeom prst="rect">
            <a:avLst/>
          </a:prstGeom>
        </p:spPr>
      </p:pic>
    </p:spTree>
    <p:extLst>
      <p:ext uri="{BB962C8B-B14F-4D97-AF65-F5344CB8AC3E}">
        <p14:creationId xmlns:p14="http://schemas.microsoft.com/office/powerpoint/2010/main" val="38826526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TotalTime>
  <Words>748</Words>
  <Application>Microsoft Office PowerPoint</Application>
  <PresentationFormat>Affichage à l'écran (16:9)</PresentationFormat>
  <Paragraphs>157</Paragraphs>
  <Slides>11</Slides>
  <Notes>11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Calibri</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Cahier des Charges — Plateforme TOMOYO</dc:title>
  <dc:subject>PptxGenJS Presentation</dc:subject>
  <dc:creator>Groupe Sécurité Linux</dc:creator>
  <cp:lastModifiedBy>Zixfiline Powera TEMATIO ZEBAZE</cp:lastModifiedBy>
  <cp:revision>12</cp:revision>
  <dcterms:created xsi:type="dcterms:W3CDTF">2026-05-24T03:57:55Z</dcterms:created>
  <dcterms:modified xsi:type="dcterms:W3CDTF">2026-07-10T18:52:27Z</dcterms:modified>
</cp:coreProperties>
</file>