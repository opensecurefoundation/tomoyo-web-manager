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562"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3555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1645920"/>
            <a:ext cx="9144000" cy="2011680"/>
          </a:xfrm>
          <a:prstGeom prst="rect">
            <a:avLst/>
          </a:prstGeom>
          <a:solidFill>
            <a:srgbClr val="0D7EC8">
              <a:alpha val="25000"/>
            </a:srgbClr>
          </a:solidFill>
          <a:ln w="12700">
            <a:solidFill>
              <a:srgbClr val="1A2E4A"/>
            </a:solidFill>
            <a:prstDash val="solid"/>
          </a:ln>
        </p:spPr>
      </p:sp>
      <p:sp>
        <p:nvSpPr>
          <p:cNvPr id="3" name="Shape 1"/>
          <p:cNvSpPr/>
          <p:nvPr/>
        </p:nvSpPr>
        <p:spPr>
          <a:xfrm>
            <a:off x="0" y="0"/>
            <a:ext cx="73152" cy="5143500"/>
          </a:xfrm>
          <a:prstGeom prst="rect">
            <a:avLst/>
          </a:prstGeom>
          <a:solidFill>
            <a:srgbClr val="0D7EC8"/>
          </a:solidFill>
          <a:ln w="12700">
            <a:solidFill>
              <a:srgbClr val="0D7EC8"/>
            </a:solidFill>
            <a:prstDash val="solid"/>
          </a:ln>
        </p:spPr>
      </p:sp>
      <p:sp>
        <p:nvSpPr>
          <p:cNvPr id="4" name="Text 2"/>
          <p:cNvSpPr/>
          <p:nvPr/>
        </p:nvSpPr>
        <p:spPr>
          <a:xfrm>
            <a:off x="365760" y="1828800"/>
            <a:ext cx="8412480" cy="731520"/>
          </a:xfrm>
          <a:prstGeom prst="rect">
            <a:avLst/>
          </a:prstGeom>
          <a:noFill/>
          <a:ln/>
        </p:spPr>
        <p:txBody>
          <a:bodyPr wrap="square" rtlCol="0" anchor="ctr"/>
          <a:lstStyle/>
          <a:p>
            <a:pPr marL="0" indent="0" algn="ctr">
              <a:buNone/>
            </a:pPr>
            <a:r>
              <a:rPr lang="en-US" sz="4000" b="1" kern="0" spc="200" dirty="0">
                <a:solidFill>
                  <a:srgbClr val="FFFFFF"/>
                </a:solidFill>
                <a:latin typeface="Calibri" pitchFamily="34" charset="0"/>
                <a:ea typeface="Calibri" pitchFamily="34" charset="-122"/>
                <a:cs typeface="Calibri" pitchFamily="34" charset="-120"/>
              </a:rPr>
              <a:t>DOSSIER DE CONCEPTION</a:t>
            </a:r>
            <a:endParaRPr lang="en-US" sz="4000" dirty="0"/>
          </a:p>
        </p:txBody>
      </p:sp>
      <p:sp>
        <p:nvSpPr>
          <p:cNvPr id="5" name="Text 3"/>
          <p:cNvSpPr/>
          <p:nvPr/>
        </p:nvSpPr>
        <p:spPr>
          <a:xfrm>
            <a:off x="365760" y="2651760"/>
            <a:ext cx="8412480" cy="457200"/>
          </a:xfrm>
          <a:prstGeom prst="rect">
            <a:avLst/>
          </a:prstGeom>
          <a:noFill/>
          <a:ln/>
        </p:spPr>
        <p:txBody>
          <a:bodyPr wrap="square" rtlCol="0" anchor="ctr"/>
          <a:lstStyle/>
          <a:p>
            <a:pPr marL="0" indent="0" algn="ctr">
              <a:buNone/>
            </a:pPr>
            <a:r>
              <a:rPr lang="en-US" sz="1600" i="1" dirty="0">
                <a:solidFill>
                  <a:srgbClr val="CADCFC"/>
                </a:solidFill>
                <a:latin typeface="Calibri" pitchFamily="34" charset="0"/>
                <a:ea typeface="Calibri" pitchFamily="34" charset="-122"/>
                <a:cs typeface="Calibri" pitchFamily="34" charset="-120"/>
              </a:rPr>
              <a:t>Modélisation statique &amp; dynamique du système d'information</a:t>
            </a:r>
            <a:endParaRPr lang="en-US" sz="1600" dirty="0"/>
          </a:p>
        </p:txBody>
      </p:sp>
      <p:sp>
        <p:nvSpPr>
          <p:cNvPr id="6" name="Shape 4"/>
          <p:cNvSpPr/>
          <p:nvPr/>
        </p:nvSpPr>
        <p:spPr>
          <a:xfrm>
            <a:off x="1371600" y="4114800"/>
            <a:ext cx="2103120" cy="411480"/>
          </a:xfrm>
          <a:prstGeom prst="roundRect">
            <a:avLst>
              <a:gd name="adj" fmla="val 22222"/>
            </a:avLst>
          </a:prstGeom>
          <a:solidFill>
            <a:srgbClr val="0D7EC8"/>
          </a:solidFill>
          <a:ln w="12700">
            <a:solidFill>
              <a:srgbClr val="0D7EC8"/>
            </a:solidFill>
            <a:prstDash val="solid"/>
          </a:ln>
        </p:spPr>
      </p:sp>
      <p:sp>
        <p:nvSpPr>
          <p:cNvPr id="7" name="Text 5"/>
          <p:cNvSpPr/>
          <p:nvPr/>
        </p:nvSpPr>
        <p:spPr>
          <a:xfrm>
            <a:off x="1371600" y="4114800"/>
            <a:ext cx="21031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Backend : C</a:t>
            </a:r>
            <a:endParaRPr lang="en-US" sz="1100" dirty="0"/>
          </a:p>
        </p:txBody>
      </p:sp>
      <p:sp>
        <p:nvSpPr>
          <p:cNvPr id="8" name="Shape 6"/>
          <p:cNvSpPr/>
          <p:nvPr/>
        </p:nvSpPr>
        <p:spPr>
          <a:xfrm>
            <a:off x="3657600" y="4114800"/>
            <a:ext cx="2103120" cy="411480"/>
          </a:xfrm>
          <a:prstGeom prst="roundRect">
            <a:avLst>
              <a:gd name="adj" fmla="val 22222"/>
            </a:avLst>
          </a:prstGeom>
          <a:solidFill>
            <a:srgbClr val="0D7EC8"/>
          </a:solidFill>
          <a:ln w="12700">
            <a:solidFill>
              <a:srgbClr val="0D7EC8"/>
            </a:solidFill>
            <a:prstDash val="solid"/>
          </a:ln>
        </p:spPr>
      </p:sp>
      <p:sp>
        <p:nvSpPr>
          <p:cNvPr id="9" name="Text 7"/>
          <p:cNvSpPr/>
          <p:nvPr/>
        </p:nvSpPr>
        <p:spPr>
          <a:xfrm>
            <a:off x="3657600" y="4114800"/>
            <a:ext cx="21031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Frontend : HTML / CSS / JS</a:t>
            </a:r>
            <a:endParaRPr lang="en-US" sz="1100" dirty="0"/>
          </a:p>
        </p:txBody>
      </p:sp>
      <p:sp>
        <p:nvSpPr>
          <p:cNvPr id="10" name="Shape 8"/>
          <p:cNvSpPr/>
          <p:nvPr/>
        </p:nvSpPr>
        <p:spPr>
          <a:xfrm>
            <a:off x="5943600" y="4114800"/>
            <a:ext cx="2103120" cy="411480"/>
          </a:xfrm>
          <a:prstGeom prst="roundRect">
            <a:avLst>
              <a:gd name="adj" fmla="val 22222"/>
            </a:avLst>
          </a:prstGeom>
          <a:solidFill>
            <a:srgbClr val="0D7EC8"/>
          </a:solidFill>
          <a:ln w="12700">
            <a:solidFill>
              <a:srgbClr val="0D7EC8"/>
            </a:solidFill>
            <a:prstDash val="solid"/>
          </a:ln>
        </p:spPr>
      </p:sp>
      <p:sp>
        <p:nvSpPr>
          <p:cNvPr id="11" name="Text 9"/>
          <p:cNvSpPr/>
          <p:nvPr/>
        </p:nvSpPr>
        <p:spPr>
          <a:xfrm>
            <a:off x="5943600" y="4114800"/>
            <a:ext cx="21031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Déploiement : Docker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w="12700">
            <a:solidFill>
              <a:srgbClr val="1A2E4A"/>
            </a:solidFill>
            <a:prstDash val="solid"/>
          </a:ln>
        </p:spPr>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Introduction</a:t>
            </a:r>
            <a:endParaRPr lang="en-US" sz="2800" dirty="0"/>
          </a:p>
        </p:txBody>
      </p:sp>
      <p:sp>
        <p:nvSpPr>
          <p:cNvPr id="4" name="Shape 2"/>
          <p:cNvSpPr/>
          <p:nvPr/>
        </p:nvSpPr>
        <p:spPr>
          <a:xfrm>
            <a:off x="365760" y="1188720"/>
            <a:ext cx="8412480" cy="3291840"/>
          </a:xfrm>
          <a:prstGeom prst="roundRect">
            <a:avLst>
              <a:gd name="adj" fmla="val 3333"/>
            </a:avLst>
          </a:prstGeom>
          <a:solidFill>
            <a:srgbClr val="FFFFFF"/>
          </a:solidFill>
          <a:ln w="12700">
            <a:solidFill>
              <a:srgbClr val="D1E9F7"/>
            </a:solidFill>
            <a:prstDash val="solid"/>
          </a:ln>
          <a:effectLst>
            <a:outerShdw blurRad="101600" dist="38100" dir="2700000" algn="bl" rotWithShape="0">
              <a:srgbClr val="000000">
                <a:alpha val="10000"/>
              </a:srgbClr>
            </a:outerShdw>
          </a:effectLst>
        </p:spPr>
      </p:sp>
      <p:sp>
        <p:nvSpPr>
          <p:cNvPr id="5" name="Text 3"/>
          <p:cNvSpPr/>
          <p:nvPr/>
        </p:nvSpPr>
        <p:spPr>
          <a:xfrm>
            <a:off x="640080" y="1371600"/>
            <a:ext cx="7863840" cy="365760"/>
          </a:xfrm>
          <a:prstGeom prst="rect">
            <a:avLst/>
          </a:prstGeom>
          <a:noFill/>
          <a:ln/>
        </p:spPr>
        <p:txBody>
          <a:bodyPr wrap="square" rtlCol="0" anchor="ctr"/>
          <a:lstStyle/>
          <a:p>
            <a:pPr marL="0" indent="0">
              <a:buNone/>
            </a:pPr>
            <a:r>
              <a:rPr lang="en-US" sz="1600" b="1" dirty="0">
                <a:solidFill>
                  <a:srgbClr val="1A2E4A"/>
                </a:solidFill>
                <a:latin typeface="Calibri" pitchFamily="34" charset="0"/>
                <a:ea typeface="Calibri" pitchFamily="34" charset="-122"/>
                <a:cs typeface="Calibri" pitchFamily="34" charset="-120"/>
              </a:rPr>
              <a:t>Objectif de la phase de conception</a:t>
            </a:r>
            <a:endParaRPr lang="en-US" sz="1600" dirty="0"/>
          </a:p>
        </p:txBody>
      </p:sp>
      <p:sp>
        <p:nvSpPr>
          <p:cNvPr id="6" name="Text 4"/>
          <p:cNvSpPr/>
          <p:nvPr/>
        </p:nvSpPr>
        <p:spPr>
          <a:xfrm>
            <a:off x="640080" y="1828800"/>
            <a:ext cx="7863840" cy="10058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La phase de conception vise à ressortir les différents contours du modèle statique du système d'information afin d'en dégager un modèle dynamique devant implémenter le Dashboard dans les détails.</a:t>
            </a:r>
            <a:endParaRPr lang="en-US" sz="1400" dirty="0"/>
          </a:p>
        </p:txBody>
      </p:sp>
      <p:sp>
        <p:nvSpPr>
          <p:cNvPr id="7" name="Text 5"/>
          <p:cNvSpPr/>
          <p:nvPr/>
        </p:nvSpPr>
        <p:spPr>
          <a:xfrm>
            <a:off x="640080" y="2926080"/>
            <a:ext cx="7863840" cy="320040"/>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Ce dossier comprend :</a:t>
            </a:r>
            <a:endParaRPr lang="en-US" sz="1300" dirty="0"/>
          </a:p>
        </p:txBody>
      </p:sp>
      <p:sp>
        <p:nvSpPr>
          <p:cNvPr id="8" name="Text 6"/>
          <p:cNvSpPr/>
          <p:nvPr/>
        </p:nvSpPr>
        <p:spPr>
          <a:xfrm>
            <a:off x="822960" y="3291840"/>
            <a:ext cx="7589520" cy="1005840"/>
          </a:xfrm>
          <a:prstGeom prst="rect">
            <a:avLst/>
          </a:prstGeom>
          <a:noFill/>
          <a:ln/>
        </p:spPr>
        <p:txBody>
          <a:bodyPr wrap="square" rtlCol="0" anchor="ctr"/>
          <a:lstStyle/>
          <a:p>
            <a:pPr marL="342900" indent="-342900">
              <a:buSzPct val="100000"/>
              <a:buChar char="•"/>
            </a:pPr>
            <a:r>
              <a:rPr lang="en-US" sz="1300" dirty="0">
                <a:solidFill>
                  <a:srgbClr val="64748B"/>
                </a:solidFill>
                <a:latin typeface="Calibri" pitchFamily="34" charset="0"/>
                <a:ea typeface="Calibri" pitchFamily="34" charset="-122"/>
                <a:cs typeface="Calibri" pitchFamily="34" charset="-120"/>
              </a:rPr>
              <a:t>Les illustrations d'architecture simplifiées du système</a:t>
            </a:r>
            <a:endParaRPr lang="en-US" sz="1300" dirty="0"/>
          </a:p>
          <a:p>
            <a:pPr marL="342900" indent="-342900">
              <a:buSzPct val="100000"/>
              <a:buChar char="•"/>
            </a:pPr>
            <a:r>
              <a:rPr lang="en-US" sz="1300" dirty="0">
                <a:solidFill>
                  <a:srgbClr val="64748B"/>
                </a:solidFill>
                <a:latin typeface="Calibri" pitchFamily="34" charset="0"/>
                <a:ea typeface="Calibri" pitchFamily="34" charset="-122"/>
                <a:cs typeface="Calibri" pitchFamily="34" charset="-120"/>
              </a:rPr>
              <a:t>Les composantes du Dashboard et leurs procédures</a:t>
            </a:r>
            <a:endParaRPr lang="en-US" sz="1300" dirty="0"/>
          </a:p>
          <a:p>
            <a:pPr marL="342900" indent="-342900">
              <a:buSzPct val="100000"/>
              <a:buChar char="•"/>
            </a:pPr>
            <a:r>
              <a:rPr lang="en-US" sz="1300" dirty="0">
                <a:solidFill>
                  <a:srgbClr val="64748B"/>
                </a:solidFill>
                <a:latin typeface="Calibri" pitchFamily="34" charset="0"/>
                <a:ea typeface="Calibri" pitchFamily="34" charset="-122"/>
                <a:cs typeface="Calibri" pitchFamily="34" charset="-120"/>
              </a:rPr>
              <a:t>Les attributs et relations entre les composants</a:t>
            </a:r>
            <a:endParaRPr lang="en-US" sz="1300" dirty="0"/>
          </a:p>
        </p:txBody>
      </p:sp>
      <p:sp>
        <p:nvSpPr>
          <p:cNvPr id="9" name="Text 7"/>
          <p:cNvSpPr/>
          <p:nvPr/>
        </p:nvSpPr>
        <p:spPr>
          <a:xfrm>
            <a:off x="0" y="4754880"/>
            <a:ext cx="9144000" cy="320040"/>
          </a:xfrm>
          <a:prstGeom prst="rect">
            <a:avLst/>
          </a:prstGeom>
          <a:noFill/>
          <a:ln/>
        </p:spPr>
        <p:txBody>
          <a:bodyPr wrap="square" rtlCol="0" anchor="ctr"/>
          <a:lstStyle/>
          <a:p>
            <a:pPr marL="0" indent="0" algn="ctr">
              <a:buNone/>
            </a:pPr>
            <a:r>
              <a:rPr lang="en-US" sz="900" dirty="0">
                <a:solidFill>
                  <a:srgbClr val="0D7EC8"/>
                </a:solidFill>
                <a:latin typeface="Calibri" pitchFamily="34" charset="0"/>
                <a:ea typeface="Calibri" pitchFamily="34" charset="-122"/>
                <a:cs typeface="Calibri" pitchFamily="34" charset="-120"/>
              </a:rPr>
              <a:t>Dossier de Conception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w="12700">
            <a:solidFill>
              <a:srgbClr val="1A2E4A"/>
            </a:solidFill>
            <a:prstDash val="solid"/>
          </a:ln>
        </p:spPr>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Technologies Utilisées</a:t>
            </a:r>
            <a:endParaRPr lang="en-US" sz="2800" dirty="0"/>
          </a:p>
        </p:txBody>
      </p:sp>
      <p:sp>
        <p:nvSpPr>
          <p:cNvPr id="4" name="Shape 2"/>
          <p:cNvSpPr/>
          <p:nvPr/>
        </p:nvSpPr>
        <p:spPr>
          <a:xfrm>
            <a:off x="274320" y="1280160"/>
            <a:ext cx="2743200" cy="3383280"/>
          </a:xfrm>
          <a:prstGeom prst="roundRect">
            <a:avLst>
              <a:gd name="adj" fmla="val 4667"/>
            </a:avLst>
          </a:prstGeom>
          <a:solidFill>
            <a:srgbClr val="FFFFFF"/>
          </a:solidFill>
          <a:ln w="12700">
            <a:solidFill>
              <a:srgbClr val="D1E9F7"/>
            </a:solidFill>
            <a:prstDash val="solid"/>
          </a:ln>
          <a:effectLst>
            <a:outerShdw blurRad="101600" dist="38100" dir="2700000" algn="bl" rotWithShape="0">
              <a:srgbClr val="000000">
                <a:alpha val="12000"/>
              </a:srgbClr>
            </a:outerShdw>
          </a:effectLst>
        </p:spPr>
      </p:sp>
      <p:sp>
        <p:nvSpPr>
          <p:cNvPr id="5" name="Shape 3"/>
          <p:cNvSpPr/>
          <p:nvPr/>
        </p:nvSpPr>
        <p:spPr>
          <a:xfrm>
            <a:off x="274320" y="1280160"/>
            <a:ext cx="2743200" cy="822960"/>
          </a:xfrm>
          <a:prstGeom prst="roundRect">
            <a:avLst>
              <a:gd name="adj" fmla="val 15556"/>
            </a:avLst>
          </a:prstGeom>
          <a:solidFill>
            <a:srgbClr val="1A3A5C"/>
          </a:solidFill>
          <a:ln w="12700">
            <a:solidFill>
              <a:srgbClr val="1A3A5C"/>
            </a:solidFill>
            <a:prstDash val="solid"/>
          </a:ln>
        </p:spPr>
      </p:sp>
      <p:sp>
        <p:nvSpPr>
          <p:cNvPr id="6" name="Text 4"/>
          <p:cNvSpPr/>
          <p:nvPr/>
        </p:nvSpPr>
        <p:spPr>
          <a:xfrm>
            <a:off x="274320" y="1325880"/>
            <a:ext cx="27432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Backend</a:t>
            </a:r>
            <a:endParaRPr lang="en-US" sz="1100" dirty="0"/>
          </a:p>
        </p:txBody>
      </p:sp>
      <p:sp>
        <p:nvSpPr>
          <p:cNvPr id="7" name="Text 5"/>
          <p:cNvSpPr/>
          <p:nvPr/>
        </p:nvSpPr>
        <p:spPr>
          <a:xfrm>
            <a:off x="274320" y="1709928"/>
            <a:ext cx="2743200" cy="384048"/>
          </a:xfrm>
          <a:prstGeom prst="rect">
            <a:avLst/>
          </a:prstGeom>
          <a:noFill/>
          <a:ln/>
        </p:spPr>
        <p:txBody>
          <a:bodyPr wrap="square" lIns="0" tIns="0" rIns="0" bIns="0" rtlCol="0" anchor="ctr"/>
          <a:lstStyle/>
          <a:p>
            <a:pPr marL="0" indent="0" algn="ctr">
              <a:buNone/>
            </a:pPr>
            <a:r>
              <a:rPr lang="en-US" sz="1100" i="1" dirty="0">
                <a:solidFill>
                  <a:srgbClr val="D1E9F7"/>
                </a:solidFill>
                <a:latin typeface="Calibri" pitchFamily="34" charset="0"/>
                <a:ea typeface="Calibri" pitchFamily="34" charset="-122"/>
                <a:cs typeface="Calibri" pitchFamily="34" charset="-120"/>
              </a:rPr>
              <a:t>Langage C</a:t>
            </a:r>
            <a:endParaRPr lang="en-US" sz="1100" dirty="0"/>
          </a:p>
        </p:txBody>
      </p:sp>
      <p:sp>
        <p:nvSpPr>
          <p:cNvPr id="8" name="Text 6"/>
          <p:cNvSpPr/>
          <p:nvPr/>
        </p:nvSpPr>
        <p:spPr>
          <a:xfrm>
            <a:off x="411480" y="2240280"/>
            <a:ext cx="2468880" cy="228600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Logique serveur, traitement des données et gestion des politiques Tomoyo.</a:t>
            </a:r>
            <a:endParaRPr lang="en-US" sz="1200" dirty="0"/>
          </a:p>
        </p:txBody>
      </p:sp>
      <p:sp>
        <p:nvSpPr>
          <p:cNvPr id="9" name="Shape 7"/>
          <p:cNvSpPr/>
          <p:nvPr/>
        </p:nvSpPr>
        <p:spPr>
          <a:xfrm>
            <a:off x="3200400" y="1280160"/>
            <a:ext cx="2743200" cy="3383280"/>
          </a:xfrm>
          <a:prstGeom prst="roundRect">
            <a:avLst>
              <a:gd name="adj" fmla="val 4667"/>
            </a:avLst>
          </a:prstGeom>
          <a:solidFill>
            <a:srgbClr val="FFFFFF"/>
          </a:solidFill>
          <a:ln w="12700">
            <a:solidFill>
              <a:srgbClr val="D1E9F7"/>
            </a:solidFill>
            <a:prstDash val="solid"/>
          </a:ln>
          <a:effectLst>
            <a:outerShdw blurRad="101600" dist="38100" dir="2700000" algn="bl" rotWithShape="0">
              <a:srgbClr val="000000">
                <a:alpha val="12000"/>
              </a:srgbClr>
            </a:outerShdw>
          </a:effectLst>
        </p:spPr>
      </p:sp>
      <p:sp>
        <p:nvSpPr>
          <p:cNvPr id="10" name="Shape 8"/>
          <p:cNvSpPr/>
          <p:nvPr/>
        </p:nvSpPr>
        <p:spPr>
          <a:xfrm>
            <a:off x="3200400" y="1280160"/>
            <a:ext cx="2743200" cy="822960"/>
          </a:xfrm>
          <a:prstGeom prst="roundRect">
            <a:avLst>
              <a:gd name="adj" fmla="val 15556"/>
            </a:avLst>
          </a:prstGeom>
          <a:solidFill>
            <a:srgbClr val="0D7EC8"/>
          </a:solidFill>
          <a:ln w="12700">
            <a:solidFill>
              <a:srgbClr val="0D7EC8"/>
            </a:solidFill>
            <a:prstDash val="solid"/>
          </a:ln>
        </p:spPr>
      </p:sp>
      <p:sp>
        <p:nvSpPr>
          <p:cNvPr id="11" name="Text 9"/>
          <p:cNvSpPr/>
          <p:nvPr/>
        </p:nvSpPr>
        <p:spPr>
          <a:xfrm>
            <a:off x="3200400" y="1325880"/>
            <a:ext cx="27432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Frontend</a:t>
            </a:r>
            <a:endParaRPr lang="en-US" sz="1100" dirty="0"/>
          </a:p>
        </p:txBody>
      </p:sp>
      <p:sp>
        <p:nvSpPr>
          <p:cNvPr id="12" name="Text 10"/>
          <p:cNvSpPr/>
          <p:nvPr/>
        </p:nvSpPr>
        <p:spPr>
          <a:xfrm>
            <a:off x="3200400" y="1709928"/>
            <a:ext cx="2743200" cy="384048"/>
          </a:xfrm>
          <a:prstGeom prst="rect">
            <a:avLst/>
          </a:prstGeom>
          <a:noFill/>
          <a:ln/>
        </p:spPr>
        <p:txBody>
          <a:bodyPr wrap="square" lIns="0" tIns="0" rIns="0" bIns="0" rtlCol="0" anchor="ctr"/>
          <a:lstStyle/>
          <a:p>
            <a:pPr marL="0" indent="0" algn="ctr">
              <a:buNone/>
            </a:pPr>
            <a:r>
              <a:rPr lang="en-US" sz="1100" i="1" dirty="0">
                <a:solidFill>
                  <a:srgbClr val="D1E9F7"/>
                </a:solidFill>
                <a:latin typeface="Calibri" pitchFamily="34" charset="0"/>
                <a:ea typeface="Calibri" pitchFamily="34" charset="-122"/>
                <a:cs typeface="Calibri" pitchFamily="34" charset="-120"/>
              </a:rPr>
              <a:t>HTML · CSS · JavaScript</a:t>
            </a:r>
            <a:endParaRPr lang="en-US" sz="1100" dirty="0"/>
          </a:p>
        </p:txBody>
      </p:sp>
      <p:sp>
        <p:nvSpPr>
          <p:cNvPr id="13" name="Text 11"/>
          <p:cNvSpPr/>
          <p:nvPr/>
        </p:nvSpPr>
        <p:spPr>
          <a:xfrm>
            <a:off x="3337560" y="2240280"/>
            <a:ext cx="2468880" cy="228600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Interface utilisateur interactive du Dashboard web.</a:t>
            </a:r>
            <a:endParaRPr lang="en-US" sz="1200" dirty="0"/>
          </a:p>
        </p:txBody>
      </p:sp>
      <p:sp>
        <p:nvSpPr>
          <p:cNvPr id="14" name="Shape 12"/>
          <p:cNvSpPr/>
          <p:nvPr/>
        </p:nvSpPr>
        <p:spPr>
          <a:xfrm>
            <a:off x="6126480" y="1280160"/>
            <a:ext cx="2743200" cy="3383280"/>
          </a:xfrm>
          <a:prstGeom prst="roundRect">
            <a:avLst>
              <a:gd name="adj" fmla="val 4667"/>
            </a:avLst>
          </a:prstGeom>
          <a:solidFill>
            <a:srgbClr val="FFFFFF"/>
          </a:solidFill>
          <a:ln w="12700">
            <a:solidFill>
              <a:srgbClr val="D1E9F7"/>
            </a:solidFill>
            <a:prstDash val="solid"/>
          </a:ln>
          <a:effectLst>
            <a:outerShdw blurRad="101600" dist="38100" dir="2700000" algn="bl" rotWithShape="0">
              <a:srgbClr val="000000">
                <a:alpha val="12000"/>
              </a:srgbClr>
            </a:outerShdw>
          </a:effectLst>
        </p:spPr>
      </p:sp>
      <p:sp>
        <p:nvSpPr>
          <p:cNvPr id="15" name="Shape 13"/>
          <p:cNvSpPr/>
          <p:nvPr/>
        </p:nvSpPr>
        <p:spPr>
          <a:xfrm>
            <a:off x="6126480" y="1280160"/>
            <a:ext cx="2743200" cy="822960"/>
          </a:xfrm>
          <a:prstGeom prst="roundRect">
            <a:avLst>
              <a:gd name="adj" fmla="val 15556"/>
            </a:avLst>
          </a:prstGeom>
          <a:solidFill>
            <a:srgbClr val="028090"/>
          </a:solidFill>
          <a:ln w="12700">
            <a:solidFill>
              <a:srgbClr val="028090"/>
            </a:solidFill>
            <a:prstDash val="solid"/>
          </a:ln>
        </p:spPr>
      </p:sp>
      <p:sp>
        <p:nvSpPr>
          <p:cNvPr id="16" name="Text 14"/>
          <p:cNvSpPr/>
          <p:nvPr/>
        </p:nvSpPr>
        <p:spPr>
          <a:xfrm>
            <a:off x="6126480" y="1325880"/>
            <a:ext cx="274320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Déploiement</a:t>
            </a:r>
            <a:endParaRPr lang="en-US" sz="1100" dirty="0"/>
          </a:p>
        </p:txBody>
      </p:sp>
      <p:sp>
        <p:nvSpPr>
          <p:cNvPr id="17" name="Text 15"/>
          <p:cNvSpPr/>
          <p:nvPr/>
        </p:nvSpPr>
        <p:spPr>
          <a:xfrm>
            <a:off x="6126480" y="1709928"/>
            <a:ext cx="2743200" cy="384048"/>
          </a:xfrm>
          <a:prstGeom prst="rect">
            <a:avLst/>
          </a:prstGeom>
          <a:noFill/>
          <a:ln/>
        </p:spPr>
        <p:txBody>
          <a:bodyPr wrap="square" lIns="0" tIns="0" rIns="0" bIns="0" rtlCol="0" anchor="ctr"/>
          <a:lstStyle/>
          <a:p>
            <a:pPr marL="0" indent="0" algn="ctr">
              <a:buNone/>
            </a:pPr>
            <a:r>
              <a:rPr lang="en-US" sz="1100" i="1" dirty="0">
                <a:solidFill>
                  <a:srgbClr val="D1E9F7"/>
                </a:solidFill>
                <a:latin typeface="Calibri" pitchFamily="34" charset="0"/>
                <a:ea typeface="Calibri" pitchFamily="34" charset="-122"/>
                <a:cs typeface="Calibri" pitchFamily="34" charset="-120"/>
              </a:rPr>
              <a:t>Docker</a:t>
            </a:r>
            <a:endParaRPr lang="en-US" sz="1100" dirty="0"/>
          </a:p>
        </p:txBody>
      </p:sp>
      <p:sp>
        <p:nvSpPr>
          <p:cNvPr id="18" name="Text 16"/>
          <p:cNvSpPr/>
          <p:nvPr/>
        </p:nvSpPr>
        <p:spPr>
          <a:xfrm>
            <a:off x="6263640" y="2240280"/>
            <a:ext cx="2468880" cy="228600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Conteneurisation et déploiement de l'ensemble des services.</a:t>
            </a:r>
            <a:endParaRPr lang="en-US" sz="1200" dirty="0"/>
          </a:p>
        </p:txBody>
      </p:sp>
      <p:sp>
        <p:nvSpPr>
          <p:cNvPr id="19" name="Text 17"/>
          <p:cNvSpPr/>
          <p:nvPr/>
        </p:nvSpPr>
        <p:spPr>
          <a:xfrm>
            <a:off x="0" y="4754880"/>
            <a:ext cx="9144000" cy="320040"/>
          </a:xfrm>
          <a:prstGeom prst="rect">
            <a:avLst/>
          </a:prstGeom>
          <a:noFill/>
          <a:ln/>
        </p:spPr>
        <p:txBody>
          <a:bodyPr wrap="square" rtlCol="0" anchor="ctr"/>
          <a:lstStyle/>
          <a:p>
            <a:pPr marL="0" indent="0" algn="ctr">
              <a:buNone/>
            </a:pPr>
            <a:r>
              <a:rPr lang="en-US" sz="900" dirty="0">
                <a:solidFill>
                  <a:srgbClr val="0D7EC8"/>
                </a:solidFill>
                <a:latin typeface="Calibri" pitchFamily="34" charset="0"/>
                <a:ea typeface="Calibri" pitchFamily="34" charset="-122"/>
                <a:cs typeface="Calibri" pitchFamily="34" charset="-120"/>
              </a:rPr>
              <a:t>Dossier de Conception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w="12700">
            <a:solidFill>
              <a:srgbClr val="1A2E4A"/>
            </a:solidFill>
            <a:prstDash val="solid"/>
          </a:ln>
        </p:spPr>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Diagrammes de Séquence</a:t>
            </a:r>
            <a:endParaRPr lang="en-US" sz="2800" dirty="0"/>
          </a:p>
        </p:txBody>
      </p:sp>
      <p:sp>
        <p:nvSpPr>
          <p:cNvPr id="4" name="Shape 2"/>
          <p:cNvSpPr/>
          <p:nvPr/>
        </p:nvSpPr>
        <p:spPr>
          <a:xfrm>
            <a:off x="365760" y="1188720"/>
            <a:ext cx="8412480" cy="1463040"/>
          </a:xfrm>
          <a:prstGeom prst="roundRect">
            <a:avLst>
              <a:gd name="adj" fmla="val 7500"/>
            </a:avLst>
          </a:prstGeom>
          <a:solidFill>
            <a:srgbClr val="E8F4FD"/>
          </a:solidFill>
          <a:ln w="12700">
            <a:solidFill>
              <a:srgbClr val="0D7EC8"/>
            </a:solidFill>
            <a:prstDash val="solid"/>
          </a:ln>
        </p:spPr>
      </p:sp>
      <p:sp>
        <p:nvSpPr>
          <p:cNvPr id="5" name="Text 3"/>
          <p:cNvSpPr/>
          <p:nvPr/>
        </p:nvSpPr>
        <p:spPr>
          <a:xfrm>
            <a:off x="640080" y="1325880"/>
            <a:ext cx="8046720" cy="320040"/>
          </a:xfrm>
          <a:prstGeom prst="rect">
            <a:avLst/>
          </a:prstGeom>
          <a:noFill/>
          <a:ln/>
        </p:spPr>
        <p:txBody>
          <a:bodyPr wrap="square" rtlCol="0" anchor="ctr"/>
          <a:lstStyle/>
          <a:p>
            <a:pPr marL="0" indent="0">
              <a:buNone/>
            </a:pPr>
            <a:r>
              <a:rPr lang="en-US" sz="1400" b="1" dirty="0">
                <a:solidFill>
                  <a:srgbClr val="0D7EC8"/>
                </a:solidFill>
                <a:latin typeface="Calibri" pitchFamily="34" charset="0"/>
                <a:ea typeface="Calibri" pitchFamily="34" charset="-122"/>
                <a:cs typeface="Calibri" pitchFamily="34" charset="-120"/>
              </a:rPr>
              <a:t>Définition</a:t>
            </a:r>
            <a:endParaRPr lang="en-US" sz="1400" dirty="0"/>
          </a:p>
        </p:txBody>
      </p:sp>
      <p:sp>
        <p:nvSpPr>
          <p:cNvPr id="6" name="Text 4"/>
          <p:cNvSpPr/>
          <p:nvPr/>
        </p:nvSpPr>
        <p:spPr>
          <a:xfrm>
            <a:off x="640080" y="1645920"/>
            <a:ext cx="7863840" cy="91440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Les diagrammes de séquences permettent de représenter les interactions entre les objets selon un point de vue temporel. Ils mettent l'accent sur la chronologie des envois de messages entre objets.</a:t>
            </a:r>
            <a:endParaRPr lang="en-US" sz="1300" dirty="0"/>
          </a:p>
        </p:txBody>
      </p:sp>
      <p:sp>
        <p:nvSpPr>
          <p:cNvPr id="7" name="Shape 5"/>
          <p:cNvSpPr/>
          <p:nvPr/>
        </p:nvSpPr>
        <p:spPr>
          <a:xfrm>
            <a:off x="274320" y="2834640"/>
            <a:ext cx="2743200" cy="1920240"/>
          </a:xfrm>
          <a:prstGeom prst="roundRect">
            <a:avLst>
              <a:gd name="adj" fmla="val 5714"/>
            </a:avLst>
          </a:prstGeom>
          <a:solidFill>
            <a:srgbClr val="FFFFFF"/>
          </a:solidFill>
          <a:ln w="12700">
            <a:solidFill>
              <a:srgbClr val="D1E9F7"/>
            </a:solidFill>
            <a:prstDash val="solid"/>
          </a:ln>
          <a:effectLst>
            <a:outerShdw blurRad="76200" dist="25400" dir="2700000" algn="bl" rotWithShape="0">
              <a:srgbClr val="000000">
                <a:alpha val="10000"/>
              </a:srgbClr>
            </a:outerShdw>
          </a:effectLst>
        </p:spPr>
      </p:sp>
      <p:sp>
        <p:nvSpPr>
          <p:cNvPr id="8" name="Shape 6"/>
          <p:cNvSpPr/>
          <p:nvPr/>
        </p:nvSpPr>
        <p:spPr>
          <a:xfrm>
            <a:off x="1325880" y="2898648"/>
            <a:ext cx="640080" cy="640080"/>
          </a:xfrm>
          <a:prstGeom prst="ellipse">
            <a:avLst/>
          </a:prstGeom>
          <a:solidFill>
            <a:srgbClr val="0D7EC8"/>
          </a:solidFill>
          <a:ln w="12700">
            <a:solidFill>
              <a:srgbClr val="0D7EC8"/>
            </a:solidFill>
            <a:prstDash val="solid"/>
          </a:ln>
        </p:spPr>
      </p:sp>
      <p:sp>
        <p:nvSpPr>
          <p:cNvPr id="9" name="Text 7"/>
          <p:cNvSpPr/>
          <p:nvPr/>
        </p:nvSpPr>
        <p:spPr>
          <a:xfrm>
            <a:off x="1325880" y="2898648"/>
            <a:ext cx="6400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0" name="Text 8"/>
          <p:cNvSpPr/>
          <p:nvPr/>
        </p:nvSpPr>
        <p:spPr>
          <a:xfrm>
            <a:off x="365760" y="3611880"/>
            <a:ext cx="2560320" cy="411480"/>
          </a:xfrm>
          <a:prstGeom prst="rect">
            <a:avLst/>
          </a:prstGeom>
          <a:noFill/>
          <a:ln/>
        </p:spPr>
        <p:txBody>
          <a:bodyPr wrap="square" rtlCol="0" anchor="ctr"/>
          <a:lstStyle/>
          <a:p>
            <a:pPr marL="0" indent="0" algn="ctr">
              <a:buNone/>
            </a:pPr>
            <a:r>
              <a:rPr lang="en-US" sz="1300" b="1" dirty="0">
                <a:solidFill>
                  <a:srgbClr val="1A2E4A"/>
                </a:solidFill>
                <a:latin typeface="Calibri" pitchFamily="34" charset="0"/>
                <a:ea typeface="Calibri" pitchFamily="34" charset="-122"/>
                <a:cs typeface="Calibri" pitchFamily="34" charset="-120"/>
              </a:rPr>
              <a:t>Visualiser Policies</a:t>
            </a:r>
            <a:endParaRPr lang="en-US" sz="1300" dirty="0"/>
          </a:p>
        </p:txBody>
      </p:sp>
      <p:sp>
        <p:nvSpPr>
          <p:cNvPr id="11" name="Text 9"/>
          <p:cNvSpPr/>
          <p:nvPr/>
        </p:nvSpPr>
        <p:spPr>
          <a:xfrm>
            <a:off x="365760" y="4023360"/>
            <a:ext cx="2560320" cy="64008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Consultation des politiques Tomoyo par l'admin</a:t>
            </a:r>
            <a:endParaRPr lang="en-US" sz="1100" dirty="0"/>
          </a:p>
        </p:txBody>
      </p:sp>
      <p:sp>
        <p:nvSpPr>
          <p:cNvPr id="12" name="Shape 10"/>
          <p:cNvSpPr/>
          <p:nvPr/>
        </p:nvSpPr>
        <p:spPr>
          <a:xfrm>
            <a:off x="3200400" y="2834640"/>
            <a:ext cx="2743200" cy="1920240"/>
          </a:xfrm>
          <a:prstGeom prst="roundRect">
            <a:avLst>
              <a:gd name="adj" fmla="val 5714"/>
            </a:avLst>
          </a:prstGeom>
          <a:solidFill>
            <a:srgbClr val="FFFFFF"/>
          </a:solidFill>
          <a:ln w="12700">
            <a:solidFill>
              <a:srgbClr val="D1E9F7"/>
            </a:solidFill>
            <a:prstDash val="solid"/>
          </a:ln>
          <a:effectLst>
            <a:outerShdw blurRad="76200" dist="25400" dir="2700000" algn="bl" rotWithShape="0">
              <a:srgbClr val="000000">
                <a:alpha val="10000"/>
              </a:srgbClr>
            </a:outerShdw>
          </a:effectLst>
        </p:spPr>
      </p:sp>
      <p:sp>
        <p:nvSpPr>
          <p:cNvPr id="13" name="Shape 11"/>
          <p:cNvSpPr/>
          <p:nvPr/>
        </p:nvSpPr>
        <p:spPr>
          <a:xfrm>
            <a:off x="4251960" y="2898648"/>
            <a:ext cx="640080" cy="640080"/>
          </a:xfrm>
          <a:prstGeom prst="ellipse">
            <a:avLst/>
          </a:prstGeom>
          <a:solidFill>
            <a:srgbClr val="0D7EC8"/>
          </a:solidFill>
          <a:ln w="12700">
            <a:solidFill>
              <a:srgbClr val="0D7EC8"/>
            </a:solidFill>
            <a:prstDash val="solid"/>
          </a:ln>
        </p:spPr>
      </p:sp>
      <p:sp>
        <p:nvSpPr>
          <p:cNvPr id="14" name="Text 12"/>
          <p:cNvSpPr/>
          <p:nvPr/>
        </p:nvSpPr>
        <p:spPr>
          <a:xfrm>
            <a:off x="4251960" y="2898648"/>
            <a:ext cx="6400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5" name="Text 13"/>
          <p:cNvSpPr/>
          <p:nvPr/>
        </p:nvSpPr>
        <p:spPr>
          <a:xfrm>
            <a:off x="3291840" y="3611880"/>
            <a:ext cx="2560320" cy="411480"/>
          </a:xfrm>
          <a:prstGeom prst="rect">
            <a:avLst/>
          </a:prstGeom>
          <a:noFill/>
          <a:ln/>
        </p:spPr>
        <p:txBody>
          <a:bodyPr wrap="square" rtlCol="0" anchor="ctr"/>
          <a:lstStyle/>
          <a:p>
            <a:pPr marL="0" indent="0" algn="ctr">
              <a:buNone/>
            </a:pPr>
            <a:r>
              <a:rPr lang="en-US" sz="1300" b="1" dirty="0">
                <a:solidFill>
                  <a:srgbClr val="1A2E4A"/>
                </a:solidFill>
                <a:latin typeface="Calibri" pitchFamily="34" charset="0"/>
                <a:ea typeface="Calibri" pitchFamily="34" charset="-122"/>
                <a:cs typeface="Calibri" pitchFamily="34" charset="-120"/>
              </a:rPr>
              <a:t>Éditer Règles</a:t>
            </a:r>
            <a:endParaRPr lang="en-US" sz="1300" dirty="0"/>
          </a:p>
        </p:txBody>
      </p:sp>
      <p:sp>
        <p:nvSpPr>
          <p:cNvPr id="16" name="Text 14"/>
          <p:cNvSpPr/>
          <p:nvPr/>
        </p:nvSpPr>
        <p:spPr>
          <a:xfrm>
            <a:off x="3291840" y="4023360"/>
            <a:ext cx="2560320" cy="64008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Modification et déploiement d'une règle de sécurité</a:t>
            </a:r>
            <a:endParaRPr lang="en-US" sz="1100" dirty="0"/>
          </a:p>
        </p:txBody>
      </p:sp>
      <p:sp>
        <p:nvSpPr>
          <p:cNvPr id="17" name="Shape 15"/>
          <p:cNvSpPr/>
          <p:nvPr/>
        </p:nvSpPr>
        <p:spPr>
          <a:xfrm>
            <a:off x="6126480" y="2834640"/>
            <a:ext cx="2743200" cy="1920240"/>
          </a:xfrm>
          <a:prstGeom prst="roundRect">
            <a:avLst>
              <a:gd name="adj" fmla="val 5714"/>
            </a:avLst>
          </a:prstGeom>
          <a:solidFill>
            <a:srgbClr val="FFFFFF"/>
          </a:solidFill>
          <a:ln w="12700">
            <a:solidFill>
              <a:srgbClr val="D1E9F7"/>
            </a:solidFill>
            <a:prstDash val="solid"/>
          </a:ln>
          <a:effectLst>
            <a:outerShdw blurRad="76200" dist="25400" dir="2700000" algn="bl" rotWithShape="0">
              <a:srgbClr val="000000">
                <a:alpha val="10000"/>
              </a:srgbClr>
            </a:outerShdw>
          </a:effectLst>
        </p:spPr>
      </p:sp>
      <p:sp>
        <p:nvSpPr>
          <p:cNvPr id="18" name="Shape 16"/>
          <p:cNvSpPr/>
          <p:nvPr/>
        </p:nvSpPr>
        <p:spPr>
          <a:xfrm>
            <a:off x="7178040" y="2898648"/>
            <a:ext cx="640080" cy="640080"/>
          </a:xfrm>
          <a:prstGeom prst="ellipse">
            <a:avLst/>
          </a:prstGeom>
          <a:solidFill>
            <a:srgbClr val="0D7EC8"/>
          </a:solidFill>
          <a:ln w="12700">
            <a:solidFill>
              <a:srgbClr val="0D7EC8"/>
            </a:solidFill>
            <a:prstDash val="solid"/>
          </a:ln>
        </p:spPr>
      </p:sp>
      <p:sp>
        <p:nvSpPr>
          <p:cNvPr id="19" name="Text 17"/>
          <p:cNvSpPr/>
          <p:nvPr/>
        </p:nvSpPr>
        <p:spPr>
          <a:xfrm>
            <a:off x="7178040" y="2898648"/>
            <a:ext cx="64008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0" name="Text 18"/>
          <p:cNvSpPr/>
          <p:nvPr/>
        </p:nvSpPr>
        <p:spPr>
          <a:xfrm>
            <a:off x="6217920" y="3611880"/>
            <a:ext cx="2560320" cy="411480"/>
          </a:xfrm>
          <a:prstGeom prst="rect">
            <a:avLst/>
          </a:prstGeom>
          <a:noFill/>
          <a:ln/>
        </p:spPr>
        <p:txBody>
          <a:bodyPr wrap="square" rtlCol="0" anchor="ctr"/>
          <a:lstStyle/>
          <a:p>
            <a:pPr marL="0" indent="0" algn="ctr">
              <a:buNone/>
            </a:pPr>
            <a:r>
              <a:rPr lang="en-US" sz="1300" b="1" dirty="0">
                <a:solidFill>
                  <a:srgbClr val="1A2E4A"/>
                </a:solidFill>
                <a:latin typeface="Calibri" pitchFamily="34" charset="0"/>
                <a:ea typeface="Calibri" pitchFamily="34" charset="-122"/>
                <a:cs typeface="Calibri" pitchFamily="34" charset="-120"/>
              </a:rPr>
              <a:t>Consulter Logs</a:t>
            </a:r>
            <a:endParaRPr lang="en-US" sz="1300" dirty="0"/>
          </a:p>
        </p:txBody>
      </p:sp>
      <p:sp>
        <p:nvSpPr>
          <p:cNvPr id="21" name="Text 19"/>
          <p:cNvSpPr/>
          <p:nvPr/>
        </p:nvSpPr>
        <p:spPr>
          <a:xfrm>
            <a:off x="6217920" y="4023360"/>
            <a:ext cx="2560320" cy="64008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Accès et affichage des journaux d'audit du système</a:t>
            </a:r>
            <a:endParaRPr lang="en-US" sz="1100" dirty="0"/>
          </a:p>
        </p:txBody>
      </p:sp>
      <p:sp>
        <p:nvSpPr>
          <p:cNvPr id="22" name="Text 20"/>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0D7EC8"/>
                </a:solidFill>
                <a:latin typeface="Calibri" pitchFamily="34" charset="0"/>
                <a:ea typeface="Calibri" pitchFamily="34" charset="-122"/>
                <a:cs typeface="Calibri" pitchFamily="34" charset="-120"/>
              </a:rPr>
              <a:t>Dossier de Conception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w="12700">
            <a:solidFill>
              <a:srgbClr val="1A2E4A"/>
            </a:solidFill>
            <a:prstDash val="solid"/>
          </a:ln>
        </p:spPr>
      </p:sp>
      <p:sp>
        <p:nvSpPr>
          <p:cNvPr id="3" name="Text 1"/>
          <p:cNvSpPr/>
          <p:nvPr/>
        </p:nvSpPr>
        <p:spPr>
          <a:xfrm>
            <a:off x="365760" y="0"/>
            <a:ext cx="8412480" cy="502920"/>
          </a:xfrm>
          <a:prstGeom prst="rect">
            <a:avLst/>
          </a:prstGeom>
          <a:noFill/>
          <a:ln/>
        </p:spPr>
        <p:txBody>
          <a:bodyPr wrap="square" rtlCol="0" anchor="b"/>
          <a:lstStyle/>
          <a:p>
            <a:pPr marL="0" indent="0">
              <a:buNone/>
            </a:pPr>
            <a:r>
              <a:rPr lang="en-US" sz="1400" dirty="0">
                <a:solidFill>
                  <a:srgbClr val="CADCFC"/>
                </a:solidFill>
                <a:latin typeface="Calibri" pitchFamily="34" charset="0"/>
                <a:ea typeface="Calibri" pitchFamily="34" charset="-122"/>
                <a:cs typeface="Calibri" pitchFamily="34" charset="-120"/>
              </a:rPr>
              <a:t>Diagramme de Séquence</a:t>
            </a:r>
            <a:endParaRPr lang="en-US" sz="1400" dirty="0"/>
          </a:p>
        </p:txBody>
      </p:sp>
      <p:sp>
        <p:nvSpPr>
          <p:cNvPr id="4" name="Text 2"/>
          <p:cNvSpPr/>
          <p:nvPr/>
        </p:nvSpPr>
        <p:spPr>
          <a:xfrm>
            <a:off x="365760" y="457200"/>
            <a:ext cx="8412480" cy="502920"/>
          </a:xfrm>
          <a:prstGeom prst="rect">
            <a:avLst/>
          </a:prstGeom>
          <a:noFill/>
          <a:ln/>
        </p:spPr>
        <p:txBody>
          <a:bodyPr wrap="square"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Cas : Visualiser Policies</a:t>
            </a:r>
            <a:endParaRPr lang="en-US" sz="2200" dirty="0"/>
          </a:p>
        </p:txBody>
      </p:sp>
      <p:sp>
        <p:nvSpPr>
          <p:cNvPr id="5" name="Shape 3"/>
          <p:cNvSpPr/>
          <p:nvPr/>
        </p:nvSpPr>
        <p:spPr>
          <a:xfrm>
            <a:off x="365760" y="1097280"/>
            <a:ext cx="1463040" cy="347472"/>
          </a:xfrm>
          <a:prstGeom prst="roundRect">
            <a:avLst>
              <a:gd name="adj" fmla="val 21053"/>
            </a:avLst>
          </a:prstGeom>
          <a:solidFill>
            <a:srgbClr val="0D7EC8"/>
          </a:solidFill>
          <a:ln w="12700">
            <a:solidFill>
              <a:srgbClr val="0D7EC8"/>
            </a:solidFill>
            <a:prstDash val="solid"/>
          </a:ln>
        </p:spPr>
      </p:sp>
      <p:sp>
        <p:nvSpPr>
          <p:cNvPr id="6" name="Text 4"/>
          <p:cNvSpPr/>
          <p:nvPr/>
        </p:nvSpPr>
        <p:spPr>
          <a:xfrm>
            <a:off x="365760" y="1097280"/>
            <a:ext cx="14630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Cas 01</a:t>
            </a:r>
            <a:endParaRPr lang="en-US" sz="1100" dirty="0"/>
          </a:p>
        </p:txBody>
      </p:sp>
      <p:sp>
        <p:nvSpPr>
          <p:cNvPr id="8" name="Shape 5"/>
          <p:cNvSpPr/>
          <p:nvPr/>
        </p:nvSpPr>
        <p:spPr>
          <a:xfrm>
            <a:off x="5852160" y="1188720"/>
            <a:ext cx="2926080" cy="3657600"/>
          </a:xfrm>
          <a:prstGeom prst="roundRect">
            <a:avLst>
              <a:gd name="adj" fmla="val 3750"/>
            </a:avLst>
          </a:prstGeom>
          <a:solidFill>
            <a:srgbClr val="FFFFFF"/>
          </a:solidFill>
          <a:ln w="12700">
            <a:solidFill>
              <a:srgbClr val="D1E9F7"/>
            </a:solidFill>
            <a:prstDash val="solid"/>
          </a:ln>
          <a:effectLst>
            <a:outerShdw blurRad="76200" dist="25400" dir="2700000" algn="bl" rotWithShape="0">
              <a:srgbClr val="000000">
                <a:alpha val="10000"/>
              </a:srgbClr>
            </a:outerShdw>
          </a:effectLst>
        </p:spPr>
      </p:sp>
      <p:sp>
        <p:nvSpPr>
          <p:cNvPr id="9" name="Text 6"/>
          <p:cNvSpPr/>
          <p:nvPr/>
        </p:nvSpPr>
        <p:spPr>
          <a:xfrm>
            <a:off x="6035040" y="1325880"/>
            <a:ext cx="2560320" cy="320040"/>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Étapes du cas</a:t>
            </a:r>
            <a:endParaRPr lang="en-US" sz="1300" dirty="0"/>
          </a:p>
        </p:txBody>
      </p:sp>
      <p:sp>
        <p:nvSpPr>
          <p:cNvPr id="10" name="Text 7"/>
          <p:cNvSpPr/>
          <p:nvPr/>
        </p:nvSpPr>
        <p:spPr>
          <a:xfrm>
            <a:off x="6035040" y="1691640"/>
            <a:ext cx="2651760" cy="3017520"/>
          </a:xfrm>
          <a:prstGeom prst="rect">
            <a:avLst/>
          </a:prstGeom>
          <a:noFill/>
          <a:ln/>
        </p:spPr>
        <p:txBody>
          <a:bodyPr wrap="square"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Authentification de l'administrateur</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Clic sur « visualiser »</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Demande de visualisation envoyée au système</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Lecture du fichier sys/kernel/.../policy</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Envoi de la réponse et affichage des politiques</a:t>
            </a:r>
            <a:endParaRPr lang="en-US" sz="1100" dirty="0"/>
          </a:p>
        </p:txBody>
      </p:sp>
      <p:sp>
        <p:nvSpPr>
          <p:cNvPr id="11" name="Text 8"/>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0D7EC8"/>
                </a:solidFill>
                <a:latin typeface="Calibri" pitchFamily="34" charset="0"/>
                <a:ea typeface="Calibri" pitchFamily="34" charset="-122"/>
                <a:cs typeface="Calibri" pitchFamily="34" charset="-120"/>
              </a:rPr>
              <a:t>Dossier de Conception</a:t>
            </a:r>
            <a:endParaRPr lang="en-US" sz="900" dirty="0"/>
          </a:p>
        </p:txBody>
      </p:sp>
      <p:pic>
        <p:nvPicPr>
          <p:cNvPr id="12" name="Immagine 11">
            <a:extLst>
              <a:ext uri="{FF2B5EF4-FFF2-40B4-BE49-F238E27FC236}">
                <a16:creationId xmlns:a16="http://schemas.microsoft.com/office/drawing/2014/main" id="{46D35F71-D175-4531-BA93-1D0F68C8C3E8}"/>
              </a:ext>
            </a:extLst>
          </p:cNvPr>
          <p:cNvPicPr>
            <a:picLocks noChangeAspect="1"/>
          </p:cNvPicPr>
          <p:nvPr/>
        </p:nvPicPr>
        <p:blipFill>
          <a:blip r:embed="rId3"/>
          <a:stretch>
            <a:fillRect/>
          </a:stretch>
        </p:blipFill>
        <p:spPr>
          <a:xfrm>
            <a:off x="833173" y="1442466"/>
            <a:ext cx="4185815" cy="36073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w="12700">
            <a:solidFill>
              <a:srgbClr val="1A2E4A"/>
            </a:solidFill>
            <a:prstDash val="solid"/>
          </a:ln>
        </p:spPr>
      </p:sp>
      <p:sp>
        <p:nvSpPr>
          <p:cNvPr id="3" name="Text 1"/>
          <p:cNvSpPr/>
          <p:nvPr/>
        </p:nvSpPr>
        <p:spPr>
          <a:xfrm>
            <a:off x="365760" y="0"/>
            <a:ext cx="8412480" cy="502920"/>
          </a:xfrm>
          <a:prstGeom prst="rect">
            <a:avLst/>
          </a:prstGeom>
          <a:noFill/>
          <a:ln/>
        </p:spPr>
        <p:txBody>
          <a:bodyPr wrap="square" rtlCol="0" anchor="b"/>
          <a:lstStyle/>
          <a:p>
            <a:pPr marL="0" indent="0">
              <a:buNone/>
            </a:pPr>
            <a:r>
              <a:rPr lang="en-US" sz="1400" dirty="0">
                <a:solidFill>
                  <a:srgbClr val="CADCFC"/>
                </a:solidFill>
                <a:latin typeface="Calibri" pitchFamily="34" charset="0"/>
                <a:ea typeface="Calibri" pitchFamily="34" charset="-122"/>
                <a:cs typeface="Calibri" pitchFamily="34" charset="-120"/>
              </a:rPr>
              <a:t>Diagramme de Séquence</a:t>
            </a:r>
            <a:endParaRPr lang="en-US" sz="1400" dirty="0"/>
          </a:p>
        </p:txBody>
      </p:sp>
      <p:sp>
        <p:nvSpPr>
          <p:cNvPr id="4" name="Text 2"/>
          <p:cNvSpPr/>
          <p:nvPr/>
        </p:nvSpPr>
        <p:spPr>
          <a:xfrm>
            <a:off x="365760" y="457200"/>
            <a:ext cx="8412480" cy="502920"/>
          </a:xfrm>
          <a:prstGeom prst="rect">
            <a:avLst/>
          </a:prstGeom>
          <a:noFill/>
          <a:ln/>
        </p:spPr>
        <p:txBody>
          <a:bodyPr wrap="square"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Cas : Éditer Règles</a:t>
            </a:r>
            <a:endParaRPr lang="en-US" sz="2200" dirty="0"/>
          </a:p>
        </p:txBody>
      </p:sp>
      <p:sp>
        <p:nvSpPr>
          <p:cNvPr id="5" name="Shape 3"/>
          <p:cNvSpPr/>
          <p:nvPr/>
        </p:nvSpPr>
        <p:spPr>
          <a:xfrm>
            <a:off x="365760" y="1097280"/>
            <a:ext cx="1463040" cy="347472"/>
          </a:xfrm>
          <a:prstGeom prst="roundRect">
            <a:avLst>
              <a:gd name="adj" fmla="val 21053"/>
            </a:avLst>
          </a:prstGeom>
          <a:solidFill>
            <a:srgbClr val="0D7EC8"/>
          </a:solidFill>
          <a:ln w="12700">
            <a:solidFill>
              <a:srgbClr val="0D7EC8"/>
            </a:solidFill>
            <a:prstDash val="solid"/>
          </a:ln>
        </p:spPr>
      </p:sp>
      <p:sp>
        <p:nvSpPr>
          <p:cNvPr id="6" name="Text 4"/>
          <p:cNvSpPr/>
          <p:nvPr/>
        </p:nvSpPr>
        <p:spPr>
          <a:xfrm>
            <a:off x="365760" y="1097280"/>
            <a:ext cx="14630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Cas 02</a:t>
            </a:r>
            <a:endParaRPr lang="en-US" sz="1100" dirty="0"/>
          </a:p>
        </p:txBody>
      </p:sp>
      <p:sp>
        <p:nvSpPr>
          <p:cNvPr id="8" name="Shape 5"/>
          <p:cNvSpPr/>
          <p:nvPr/>
        </p:nvSpPr>
        <p:spPr>
          <a:xfrm>
            <a:off x="5120640" y="1188720"/>
            <a:ext cx="3657600" cy="3749040"/>
          </a:xfrm>
          <a:prstGeom prst="roundRect">
            <a:avLst>
              <a:gd name="adj" fmla="val 3000"/>
            </a:avLst>
          </a:prstGeom>
          <a:solidFill>
            <a:srgbClr val="FFFFFF"/>
          </a:solidFill>
          <a:ln w="12700">
            <a:solidFill>
              <a:srgbClr val="D1E9F7"/>
            </a:solidFill>
            <a:prstDash val="solid"/>
          </a:ln>
          <a:effectLst>
            <a:outerShdw blurRad="76200" dist="25400" dir="2700000" algn="bl" rotWithShape="0">
              <a:srgbClr val="000000">
                <a:alpha val="10000"/>
              </a:srgbClr>
            </a:outerShdw>
          </a:effectLst>
        </p:spPr>
      </p:sp>
      <p:sp>
        <p:nvSpPr>
          <p:cNvPr id="9" name="Text 6"/>
          <p:cNvSpPr/>
          <p:nvPr/>
        </p:nvSpPr>
        <p:spPr>
          <a:xfrm>
            <a:off x="5303520" y="1325880"/>
            <a:ext cx="3291840" cy="320040"/>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Étapes du cas</a:t>
            </a:r>
            <a:endParaRPr lang="en-US" sz="1300" dirty="0"/>
          </a:p>
        </p:txBody>
      </p:sp>
      <p:sp>
        <p:nvSpPr>
          <p:cNvPr id="10" name="Text 7"/>
          <p:cNvSpPr/>
          <p:nvPr/>
        </p:nvSpPr>
        <p:spPr>
          <a:xfrm>
            <a:off x="5303520" y="1691640"/>
            <a:ext cx="3291840" cy="3200400"/>
          </a:xfrm>
          <a:prstGeom prst="rect">
            <a:avLst/>
          </a:prstGeom>
          <a:noFill/>
          <a:ln/>
        </p:spPr>
        <p:txBody>
          <a:bodyPr wrap="square"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Authentification de l'administrateur</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Modification de la règle dans l'interface</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Clic sur « déployer »</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Demande de validation et analyse syntaxique</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[Si syntaxe OK] Demande de déploiement → écriture et rechargement</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Confirmation « politique appliquée »</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[Sinon] Retour de la ligne en erreur</a:t>
            </a:r>
            <a:endParaRPr lang="en-US" sz="1100" dirty="0"/>
          </a:p>
        </p:txBody>
      </p:sp>
      <p:sp>
        <p:nvSpPr>
          <p:cNvPr id="11" name="Text 8"/>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0D7EC8"/>
                </a:solidFill>
                <a:latin typeface="Calibri" pitchFamily="34" charset="0"/>
                <a:ea typeface="Calibri" pitchFamily="34" charset="-122"/>
                <a:cs typeface="Calibri" pitchFamily="34" charset="-120"/>
              </a:rPr>
              <a:t>Dossier de Conception</a:t>
            </a:r>
            <a:endParaRPr lang="en-US" sz="900" dirty="0"/>
          </a:p>
        </p:txBody>
      </p:sp>
      <p:pic>
        <p:nvPicPr>
          <p:cNvPr id="12" name="Immagine 11">
            <a:extLst>
              <a:ext uri="{FF2B5EF4-FFF2-40B4-BE49-F238E27FC236}">
                <a16:creationId xmlns:a16="http://schemas.microsoft.com/office/drawing/2014/main" id="{F2D247BC-70C7-473A-85DC-3A6E9670D81E}"/>
              </a:ext>
            </a:extLst>
          </p:cNvPr>
          <p:cNvPicPr>
            <a:picLocks noChangeAspect="1"/>
          </p:cNvPicPr>
          <p:nvPr/>
        </p:nvPicPr>
        <p:blipFill>
          <a:blip r:embed="rId3"/>
          <a:stretch>
            <a:fillRect/>
          </a:stretch>
        </p:blipFill>
        <p:spPr>
          <a:xfrm>
            <a:off x="707136" y="1536192"/>
            <a:ext cx="3694176" cy="33101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w="12700">
            <a:solidFill>
              <a:srgbClr val="1A2E4A"/>
            </a:solidFill>
            <a:prstDash val="solid"/>
          </a:ln>
        </p:spPr>
      </p:sp>
      <p:sp>
        <p:nvSpPr>
          <p:cNvPr id="3" name="Text 1"/>
          <p:cNvSpPr/>
          <p:nvPr/>
        </p:nvSpPr>
        <p:spPr>
          <a:xfrm>
            <a:off x="365760" y="0"/>
            <a:ext cx="8412480" cy="502920"/>
          </a:xfrm>
          <a:prstGeom prst="rect">
            <a:avLst/>
          </a:prstGeom>
          <a:noFill/>
          <a:ln/>
        </p:spPr>
        <p:txBody>
          <a:bodyPr wrap="square" rtlCol="0" anchor="b"/>
          <a:lstStyle/>
          <a:p>
            <a:pPr marL="0" indent="0">
              <a:buNone/>
            </a:pPr>
            <a:r>
              <a:rPr lang="en-US" sz="1400" dirty="0">
                <a:solidFill>
                  <a:srgbClr val="CADCFC"/>
                </a:solidFill>
                <a:latin typeface="Calibri" pitchFamily="34" charset="0"/>
                <a:ea typeface="Calibri" pitchFamily="34" charset="-122"/>
                <a:cs typeface="Calibri" pitchFamily="34" charset="-120"/>
              </a:rPr>
              <a:t>Diagramme de Séquence</a:t>
            </a:r>
            <a:endParaRPr lang="en-US" sz="1400" dirty="0"/>
          </a:p>
        </p:txBody>
      </p:sp>
      <p:sp>
        <p:nvSpPr>
          <p:cNvPr id="4" name="Text 2"/>
          <p:cNvSpPr/>
          <p:nvPr/>
        </p:nvSpPr>
        <p:spPr>
          <a:xfrm>
            <a:off x="365760" y="457200"/>
            <a:ext cx="8412480" cy="502920"/>
          </a:xfrm>
          <a:prstGeom prst="rect">
            <a:avLst/>
          </a:prstGeom>
          <a:noFill/>
          <a:ln/>
        </p:spPr>
        <p:txBody>
          <a:bodyPr wrap="square"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Cas : Consulter Logs</a:t>
            </a:r>
            <a:endParaRPr lang="en-US" sz="2200" dirty="0"/>
          </a:p>
        </p:txBody>
      </p:sp>
      <p:sp>
        <p:nvSpPr>
          <p:cNvPr id="5" name="Shape 3"/>
          <p:cNvSpPr/>
          <p:nvPr/>
        </p:nvSpPr>
        <p:spPr>
          <a:xfrm>
            <a:off x="365760" y="1097280"/>
            <a:ext cx="1463040" cy="347472"/>
          </a:xfrm>
          <a:prstGeom prst="roundRect">
            <a:avLst>
              <a:gd name="adj" fmla="val 21053"/>
            </a:avLst>
          </a:prstGeom>
          <a:solidFill>
            <a:srgbClr val="0D7EC8"/>
          </a:solidFill>
          <a:ln w="12700">
            <a:solidFill>
              <a:srgbClr val="0D7EC8"/>
            </a:solidFill>
            <a:prstDash val="solid"/>
          </a:ln>
        </p:spPr>
      </p:sp>
      <p:sp>
        <p:nvSpPr>
          <p:cNvPr id="6" name="Text 4"/>
          <p:cNvSpPr/>
          <p:nvPr/>
        </p:nvSpPr>
        <p:spPr>
          <a:xfrm>
            <a:off x="365760" y="1097280"/>
            <a:ext cx="14630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Cas 03</a:t>
            </a:r>
            <a:endParaRPr lang="en-US" sz="1100" dirty="0"/>
          </a:p>
        </p:txBody>
      </p:sp>
      <p:sp>
        <p:nvSpPr>
          <p:cNvPr id="8" name="Shape 5"/>
          <p:cNvSpPr/>
          <p:nvPr/>
        </p:nvSpPr>
        <p:spPr>
          <a:xfrm>
            <a:off x="5852160" y="1188720"/>
            <a:ext cx="2926080" cy="3657600"/>
          </a:xfrm>
          <a:prstGeom prst="roundRect">
            <a:avLst>
              <a:gd name="adj" fmla="val 3750"/>
            </a:avLst>
          </a:prstGeom>
          <a:solidFill>
            <a:srgbClr val="FFFFFF"/>
          </a:solidFill>
          <a:ln w="12700">
            <a:solidFill>
              <a:srgbClr val="D1E9F7"/>
            </a:solidFill>
            <a:prstDash val="solid"/>
          </a:ln>
          <a:effectLst>
            <a:outerShdw blurRad="76200" dist="25400" dir="2700000" algn="bl" rotWithShape="0">
              <a:srgbClr val="000000">
                <a:alpha val="10000"/>
              </a:srgbClr>
            </a:outerShdw>
          </a:effectLst>
        </p:spPr>
      </p:sp>
      <p:sp>
        <p:nvSpPr>
          <p:cNvPr id="9" name="Text 6"/>
          <p:cNvSpPr/>
          <p:nvPr/>
        </p:nvSpPr>
        <p:spPr>
          <a:xfrm>
            <a:off x="6035040" y="1325880"/>
            <a:ext cx="2560320" cy="320040"/>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Étapes du cas</a:t>
            </a:r>
            <a:endParaRPr lang="en-US" sz="1300" dirty="0"/>
          </a:p>
        </p:txBody>
      </p:sp>
      <p:sp>
        <p:nvSpPr>
          <p:cNvPr id="10" name="Text 7"/>
          <p:cNvSpPr/>
          <p:nvPr/>
        </p:nvSpPr>
        <p:spPr>
          <a:xfrm>
            <a:off x="6035040" y="1691640"/>
            <a:ext cx="2651760" cy="3017520"/>
          </a:xfrm>
          <a:prstGeom prst="rect">
            <a:avLst/>
          </a:prstGeom>
          <a:noFill/>
          <a:ln/>
        </p:spPr>
        <p:txBody>
          <a:bodyPr wrap="square"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Authentification de l'administrateur</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Clic sur « voir logs »</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Demande de consultation des logs</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Extraction des données de logs par Tomoyo</a:t>
            </a:r>
            <a:endParaRPr lang="en-US" sz="1100" dirty="0"/>
          </a:p>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Envoi de la réponse et affichage des logs</a:t>
            </a:r>
            <a:endParaRPr lang="en-US" sz="1100" dirty="0"/>
          </a:p>
        </p:txBody>
      </p:sp>
      <p:sp>
        <p:nvSpPr>
          <p:cNvPr id="11" name="Text 8"/>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0D7EC8"/>
                </a:solidFill>
                <a:latin typeface="Calibri" pitchFamily="34" charset="0"/>
                <a:ea typeface="Calibri" pitchFamily="34" charset="-122"/>
                <a:cs typeface="Calibri" pitchFamily="34" charset="-120"/>
              </a:rPr>
              <a:t>Dossier de Conception</a:t>
            </a:r>
            <a:endParaRPr lang="en-US" sz="900" dirty="0"/>
          </a:p>
        </p:txBody>
      </p:sp>
      <p:pic>
        <p:nvPicPr>
          <p:cNvPr id="13" name="Immagine 12">
            <a:extLst>
              <a:ext uri="{FF2B5EF4-FFF2-40B4-BE49-F238E27FC236}">
                <a16:creationId xmlns:a16="http://schemas.microsoft.com/office/drawing/2014/main" id="{643098F8-1E5E-4E1D-8468-4AE9E099C7D1}"/>
              </a:ext>
            </a:extLst>
          </p:cNvPr>
          <p:cNvPicPr>
            <a:picLocks noChangeAspect="1"/>
          </p:cNvPicPr>
          <p:nvPr/>
        </p:nvPicPr>
        <p:blipFill>
          <a:blip r:embed="rId3"/>
          <a:stretch>
            <a:fillRect/>
          </a:stretch>
        </p:blipFill>
        <p:spPr>
          <a:xfrm>
            <a:off x="756506" y="1488580"/>
            <a:ext cx="3680779" cy="36320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E4A"/>
          </a:solidFill>
          <a:ln w="12700">
            <a:solidFill>
              <a:srgbClr val="1A2E4A"/>
            </a:solidFill>
            <a:prstDash val="solid"/>
          </a:ln>
        </p:spPr>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Diagramme de Classe</a:t>
            </a:r>
            <a:endParaRPr lang="en-US" sz="2800" dirty="0"/>
          </a:p>
        </p:txBody>
      </p:sp>
      <p:sp>
        <p:nvSpPr>
          <p:cNvPr id="5" name="Text 2"/>
          <p:cNvSpPr/>
          <p:nvPr/>
        </p:nvSpPr>
        <p:spPr>
          <a:xfrm>
            <a:off x="0" y="4754880"/>
            <a:ext cx="9144000" cy="320040"/>
          </a:xfrm>
          <a:prstGeom prst="rect">
            <a:avLst/>
          </a:prstGeom>
          <a:noFill/>
          <a:ln/>
        </p:spPr>
        <p:txBody>
          <a:bodyPr wrap="square" rtlCol="0" anchor="ctr"/>
          <a:lstStyle/>
          <a:p>
            <a:pPr marL="0" indent="0" algn="ctr">
              <a:buNone/>
            </a:pPr>
            <a:r>
              <a:rPr lang="en-US" sz="900" i="1" dirty="0">
                <a:solidFill>
                  <a:srgbClr val="0D7EC8"/>
                </a:solidFill>
                <a:latin typeface="Calibri" pitchFamily="34" charset="0"/>
                <a:ea typeface="Calibri" pitchFamily="34" charset="-122"/>
                <a:cs typeface="Calibri" pitchFamily="34" charset="-120"/>
              </a:rPr>
              <a:t>Structure orientée objet du Dashboard</a:t>
            </a:r>
            <a:endParaRPr lang="en-US" sz="900" dirty="0"/>
          </a:p>
        </p:txBody>
      </p:sp>
      <p:pic>
        <p:nvPicPr>
          <p:cNvPr id="7" name="Immagine 6">
            <a:extLst>
              <a:ext uri="{FF2B5EF4-FFF2-40B4-BE49-F238E27FC236}">
                <a16:creationId xmlns:a16="http://schemas.microsoft.com/office/drawing/2014/main" id="{5E80D9B9-0F01-44CC-9EB5-1C1E228C009E}"/>
              </a:ext>
            </a:extLst>
          </p:cNvPr>
          <p:cNvPicPr>
            <a:picLocks noChangeAspect="1"/>
          </p:cNvPicPr>
          <p:nvPr/>
        </p:nvPicPr>
        <p:blipFill>
          <a:blip r:embed="rId3"/>
          <a:stretch>
            <a:fillRect/>
          </a:stretch>
        </p:blipFill>
        <p:spPr>
          <a:xfrm>
            <a:off x="517711" y="1113575"/>
            <a:ext cx="7426811" cy="40774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D7EC8"/>
          </a:solidFill>
          <a:ln w="12700">
            <a:solidFill>
              <a:srgbClr val="0D7EC8"/>
            </a:solidFill>
            <a:prstDash val="solid"/>
          </a:ln>
        </p:spPr>
      </p:sp>
      <p:sp>
        <p:nvSpPr>
          <p:cNvPr id="3" name="Text 1"/>
          <p:cNvSpPr/>
          <p:nvPr/>
        </p:nvSpPr>
        <p:spPr>
          <a:xfrm>
            <a:off x="365760" y="548640"/>
            <a:ext cx="8412480" cy="640080"/>
          </a:xfrm>
          <a:prstGeom prst="rect">
            <a:avLst/>
          </a:prstGeom>
          <a:noFill/>
          <a:ln/>
        </p:spPr>
        <p:txBody>
          <a:bodyPr wrap="square" rtlCol="0" anchor="ctr"/>
          <a:lstStyle/>
          <a:p>
            <a:pPr marL="0" indent="0">
              <a:buNone/>
            </a:pPr>
            <a:r>
              <a:rPr lang="en-US" sz="3600" b="1" kern="0" spc="100" dirty="0">
                <a:solidFill>
                  <a:srgbClr val="FFFFFF"/>
                </a:solidFill>
                <a:latin typeface="Calibri" pitchFamily="34" charset="0"/>
                <a:ea typeface="Calibri" pitchFamily="34" charset="-122"/>
                <a:cs typeface="Calibri" pitchFamily="34" charset="-120"/>
              </a:rPr>
              <a:t>Conclusion</a:t>
            </a:r>
            <a:endParaRPr lang="en-US" sz="3600" dirty="0"/>
          </a:p>
        </p:txBody>
      </p:sp>
      <p:sp>
        <p:nvSpPr>
          <p:cNvPr id="4" name="Shape 2"/>
          <p:cNvSpPr/>
          <p:nvPr/>
        </p:nvSpPr>
        <p:spPr>
          <a:xfrm>
            <a:off x="365760" y="1371600"/>
            <a:ext cx="8412480" cy="1920240"/>
          </a:xfrm>
          <a:prstGeom prst="roundRect">
            <a:avLst>
              <a:gd name="adj" fmla="val 5714"/>
            </a:avLst>
          </a:prstGeom>
          <a:solidFill>
            <a:srgbClr val="0D7EC8">
              <a:alpha val="20000"/>
            </a:srgbClr>
          </a:solidFill>
          <a:ln w="12700">
            <a:solidFill>
              <a:srgbClr val="0D7EC8"/>
            </a:solidFill>
            <a:prstDash val="solid"/>
          </a:ln>
        </p:spPr>
      </p:sp>
      <p:sp>
        <p:nvSpPr>
          <p:cNvPr id="5" name="Text 3"/>
          <p:cNvSpPr/>
          <p:nvPr/>
        </p:nvSpPr>
        <p:spPr>
          <a:xfrm>
            <a:off x="640080" y="1463040"/>
            <a:ext cx="7863840" cy="1737360"/>
          </a:xfrm>
          <a:prstGeom prst="rect">
            <a:avLst/>
          </a:prstGeom>
          <a:noFill/>
          <a:ln/>
        </p:spPr>
        <p:txBody>
          <a:bodyPr wrap="square"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Le dossier de conception nous a permis de ressortir les données nécessaires pour l'implémentation de notre plateforme. Les différents éléments modélisés dans cette partie nous ont permis d'avoir une vue globale sur les différents modules de notre plateforme web.</a:t>
            </a:r>
            <a:endParaRPr lang="en-US" sz="1400" dirty="0"/>
          </a:p>
        </p:txBody>
      </p:sp>
      <p:sp>
        <p:nvSpPr>
          <p:cNvPr id="6" name="Text 4"/>
          <p:cNvSpPr/>
          <p:nvPr/>
        </p:nvSpPr>
        <p:spPr>
          <a:xfrm>
            <a:off x="457200" y="3474720"/>
            <a:ext cx="8229600" cy="347472"/>
          </a:xfrm>
          <a:prstGeom prst="rect">
            <a:avLst/>
          </a:prstGeom>
          <a:noFill/>
          <a:ln/>
        </p:spPr>
        <p:txBody>
          <a:bodyPr wrap="square" rtlCol="0" anchor="ctr"/>
          <a:lstStyle/>
          <a:p>
            <a:pPr marL="0" indent="0">
              <a:buNone/>
            </a:pPr>
            <a:r>
              <a:rPr lang="en-US" sz="1400" b="1" dirty="0">
                <a:solidFill>
                  <a:srgbClr val="0D7EC8"/>
                </a:solidFill>
                <a:latin typeface="Calibri" pitchFamily="34" charset="0"/>
                <a:ea typeface="Calibri" pitchFamily="34" charset="-122"/>
                <a:cs typeface="Calibri" pitchFamily="34" charset="-120"/>
              </a:rPr>
              <a:t>Prochaine étape :</a:t>
            </a:r>
            <a:endParaRPr lang="en-US" sz="1400" dirty="0"/>
          </a:p>
        </p:txBody>
      </p:sp>
      <p:sp>
        <p:nvSpPr>
          <p:cNvPr id="7" name="Text 5"/>
          <p:cNvSpPr/>
          <p:nvPr/>
        </p:nvSpPr>
        <p:spPr>
          <a:xfrm>
            <a:off x="457200" y="3840480"/>
            <a:ext cx="8229600" cy="50292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Rédaction du Dossier de Réalisation tenant compte des éléments modélisés.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422</Words>
  <Application>Microsoft Office PowerPoint</Application>
  <PresentationFormat>Presentazione su schermo (16:9)</PresentationFormat>
  <Paragraphs>84</Paragraphs>
  <Slides>9</Slides>
  <Notes>9</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9</vt:i4>
      </vt:variant>
    </vt:vector>
  </HeadingPairs>
  <TitlesOfParts>
    <vt:vector size="12" baseType="lpstr">
      <vt:lpstr>Arial</vt:lpstr>
      <vt:lpstr>Calibri</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Dossier de conception</dc:title>
  <dc:subject>PptxGenJS Presentation</dc:subject>
  <dc:creator>PptxGenJS</dc:creator>
  <cp:lastModifiedBy>ravageur</cp:lastModifiedBy>
  <cp:revision>4</cp:revision>
  <dcterms:created xsi:type="dcterms:W3CDTF">2026-06-13T13:29:06Z</dcterms:created>
  <dcterms:modified xsi:type="dcterms:W3CDTF">2026-06-20T15:49:27Z</dcterms:modified>
</cp:coreProperties>
</file>