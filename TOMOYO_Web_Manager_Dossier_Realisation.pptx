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5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00D4FF"/>
          </a:solidFill>
          <a:ln/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778240" y="24384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204960" y="24384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31680" y="24384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0" y="24384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485120" y="24384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0911840" y="24384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338560" y="24384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765280" y="24384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778240" y="67056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204960" y="67056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31680" y="67056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058400" y="67056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485120" y="67056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0911840" y="67056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338560" y="67056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765280" y="67056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778240" y="109728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04960" y="109728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31680" y="109728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058400" y="109728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0485120" y="109728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911840" y="109728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1338560" y="109728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1765280" y="109728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778240" y="152400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204960" y="152400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631680" y="152400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0058400" y="152400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10485120" y="152400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911840" y="152400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11338560" y="152400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1765280" y="152400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778240" y="195072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9204960" y="195072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631680" y="195072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0058400" y="195072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0485120" y="195072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0911840" y="195072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11338560" y="195072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765280" y="1950720"/>
            <a:ext cx="73152" cy="7315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1463040"/>
            <a:ext cx="2194560" cy="219456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426720" y="354285"/>
            <a:ext cx="87782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600" b="1" kern="0" spc="667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 </a:t>
            </a:r>
            <a:r>
              <a:rPr lang="en-US" sz="1600" b="1" kern="0" spc="667" dirty="0" err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réalisation</a:t>
            </a:r>
            <a:endParaRPr lang="en-US" sz="16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426720" y="1316736"/>
            <a:ext cx="9144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4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Web de Gestion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45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Visualisation des Politiques</a:t>
            </a:r>
            <a:endParaRPr lang="en-US" sz="45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26720" y="3108960"/>
            <a:ext cx="60960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5333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TOMOYO Linux</a:t>
            </a:r>
            <a:endParaRPr lang="en-US" sz="53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26720" y="4084320"/>
            <a:ext cx="5486400" cy="36576"/>
          </a:xfrm>
          <a:prstGeom prst="rect">
            <a:avLst/>
          </a:prstGeom>
          <a:solidFill>
            <a:srgbClr val="0099BB"/>
          </a:solidFill>
          <a:ln/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26720" y="4206240"/>
            <a:ext cx="6705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733" i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· Développement · Déploiement</a:t>
            </a:r>
            <a:endParaRPr lang="en-US" sz="1733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26720" y="4632960"/>
            <a:ext cx="5486400" cy="1975104"/>
          </a:xfrm>
          <a:prstGeom prst="rect">
            <a:avLst/>
          </a:prstGeom>
          <a:solidFill>
            <a:srgbClr val="162032"/>
          </a:solidFill>
          <a:ln w="12700">
            <a:solidFill>
              <a:srgbClr val="00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426719" y="4563035"/>
            <a:ext cx="5486399" cy="2081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defTabSz="1219170"/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Rédigé par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Membres du Groupe  </a:t>
            </a:r>
          </a:p>
          <a:p>
            <a:pPr marL="228594" indent="-228594" defTabSz="121917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prstClr val="white">
                    <a:lumMod val="8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Mme. TEMATIO ZEBAZE Powera</a:t>
            </a:r>
          </a:p>
          <a:p>
            <a:pPr marL="228594" indent="-228594" defTabSz="121917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prstClr val="white">
                    <a:lumMod val="8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M.GARKA GARKA Jules</a:t>
            </a:r>
          </a:p>
          <a:p>
            <a:pPr marL="228594" indent="-228594" defTabSz="121917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prstClr val="white">
                    <a:lumMod val="8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LONDJI Jean Christian</a:t>
            </a:r>
            <a:endParaRPr lang="fr-CM" sz="1600" dirty="0">
              <a:solidFill>
                <a:prstClr val="white">
                  <a:lumMod val="8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1219170"/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2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la supervision de  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467" b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NGUIMBUS Emmanuel</a:t>
            </a:r>
            <a:endParaRPr lang="en-US" sz="12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9509760" y="6035040"/>
            <a:ext cx="2194560" cy="609600"/>
          </a:xfrm>
          <a:prstGeom prst="rect">
            <a:avLst/>
          </a:prstGeom>
          <a:solidFill>
            <a:srgbClr val="002A33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pPr defTabSz="1219170"/>
            <a:endParaRPr lang="fr-FR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9509760" y="605942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defTabSz="1219170"/>
            <a:r>
              <a:rPr lang="en-US" sz="1333" b="1" dirty="0" err="1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r>
              <a:rPr lang="en-US" sz="1333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2025–2026</a:t>
            </a:r>
            <a:endParaRPr lang="en-US" sz="1333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couvre ce dossier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88" y="1828068"/>
            <a:ext cx="385511" cy="3855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19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20848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projet, pour quel besoin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88" y="3016788"/>
            <a:ext cx="385511" cy="3855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907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générale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371600" y="32735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système est structuré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11480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788" y="4205508"/>
            <a:ext cx="385511" cy="3855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0965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technologiques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371600" y="44622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décisions techniques et leurs raisons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40080" y="530352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788" y="5394228"/>
            <a:ext cx="385511" cy="3855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52852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C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371600" y="56509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modules qui font tourner le serveur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309360" y="173736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068" y="1828068"/>
            <a:ext cx="385511" cy="38551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40880" y="17190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040880" y="208483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mesures concrètes mises en œuvre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292608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068" y="3016788"/>
            <a:ext cx="385511" cy="385511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40880" y="2907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7040880" y="327355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L'interface d'administration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6309360" y="411480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068" y="4205508"/>
            <a:ext cx="385511" cy="38551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040880" y="409651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600" dirty="0"/>
          </a:p>
        </p:txBody>
      </p:sp>
      <p:sp>
        <p:nvSpPr>
          <p:cNvPr id="31" name="Text 22"/>
          <p:cNvSpPr/>
          <p:nvPr/>
        </p:nvSpPr>
        <p:spPr>
          <a:xfrm>
            <a:off x="7040880" y="44622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utilisateur type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6309360" y="530352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068" y="5394228"/>
            <a:ext cx="385511" cy="385511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040880" y="52852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1600" dirty="0"/>
          </a:p>
        </p:txBody>
      </p:sp>
      <p:sp>
        <p:nvSpPr>
          <p:cNvPr id="35" name="Text 25"/>
          <p:cNvSpPr/>
          <p:nvPr/>
        </p:nvSpPr>
        <p:spPr>
          <a:xfrm>
            <a:off x="7040880" y="565099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livré, ce qui peut évoluer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ET OBJECTIFS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Rendre TOMOYO administrable, sans sacrifier la rigueur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141C2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65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constat de départ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42316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TOMOYO Linux est un module de contrôle d'accès obligatoire (MAC) intégré au noyau. Sa politique s'administre nativement en ligne de commande, via des fichiers texte de l'interface securityfs (/sys/kernel/security/tomoyo) — puissant, mais peu accessible pour piloter, visualiser et faire évoluer une politique au quotidien.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41C2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objectifs du projet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42316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une interface web claire pour visualiser domaines, règles et journaux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Fiabiliser les changements de politique par une validation systématique côté serveur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de démontrer et d'apprendre TOMOYO sans dépendre d'un noyau réel (mode démo)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✦"/>
            </a:pPr>
            <a:r>
              <a:rPr lang="en-US" sz="13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un backend sobre et auditable, sans dépendance externe cachée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CONTEXTE ET OBJECTIFS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Cahier des charges — fonctionnalités clés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4160520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ED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Fonctionnalité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ED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9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2ED9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4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S'authentifier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/api/login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Visualiser les politiques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/api/domains, /api/rules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Politiques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Basculer Learning / Enforcement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Politiques (confirmation)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Éditer une règle (validation + rollback)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/api/rules, /api/rollback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Éditeur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Génération automatique de politique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/api/generate, GET /api/export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Éditeur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Journaux et historique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/api/logs, /api/history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F5F7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Journaux / Historique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73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ARCHITECTURE GÉNÉRALE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flux d'une requête, de bout en bout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E2F5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9339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2322576"/>
            <a:ext cx="2185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/ dashboard.html + api.js / app.js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6120" y="192024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B2436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199339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19272" y="2322576"/>
            <a:ext cx="159105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 le serveur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57800" y="19202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1B2436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199339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http_server.c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30952" y="2322576"/>
            <a:ext cx="1956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sockets, parsing HTTP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35240" y="19202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B2436"/>
          </a:solidFill>
          <a:ln/>
        </p:spPr>
      </p:sp>
      <p:sp>
        <p:nvSpPr>
          <p:cNvPr id="14" name="Text 12"/>
          <p:cNvSpPr/>
          <p:nvPr/>
        </p:nvSpPr>
        <p:spPr>
          <a:xfrm>
            <a:off x="7726680" y="19933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routes.c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08392" y="232257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l'endpoint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89320" y="34290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8493D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35021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auth.c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62472" y="3831336"/>
            <a:ext cx="1773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identifiants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83880" y="34290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8493D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350215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tomoyo_iface.c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57032" y="3831336"/>
            <a:ext cx="2185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avec TOMOYO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183880" y="470916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B2436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4782312"/>
            <a:ext cx="2148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securityfs (noyau)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257032" y="5111496"/>
            <a:ext cx="21854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— ou arbre simulé (mode mock)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71800" y="2304288"/>
            <a:ext cx="274320" cy="0"/>
          </a:xfrm>
          <a:prstGeom prst="line">
            <a:avLst/>
          </a:prstGeom>
          <a:noFill/>
          <a:ln w="22225">
            <a:solidFill>
              <a:srgbClr val="2ED9A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983480" y="2304288"/>
            <a:ext cx="274320" cy="0"/>
          </a:xfrm>
          <a:prstGeom prst="line">
            <a:avLst/>
          </a:prstGeom>
          <a:noFill/>
          <a:ln w="22225">
            <a:solidFill>
              <a:srgbClr val="2ED9A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360920" y="2304288"/>
            <a:ext cx="274320" cy="0"/>
          </a:xfrm>
          <a:prstGeom prst="line">
            <a:avLst/>
          </a:prstGeom>
          <a:noFill/>
          <a:ln w="22225">
            <a:solidFill>
              <a:srgbClr val="2ED9A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9440" y="2697480"/>
            <a:ext cx="1645920" cy="731520"/>
          </a:xfrm>
          <a:prstGeom prst="line">
            <a:avLst/>
          </a:prstGeom>
          <a:noFill/>
          <a:ln w="22225">
            <a:solidFill>
              <a:srgbClr val="2ED9A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595360" y="2697480"/>
            <a:ext cx="731520" cy="731520"/>
          </a:xfrm>
          <a:prstGeom prst="line">
            <a:avLst/>
          </a:prstGeom>
          <a:noFill/>
          <a:ln w="22225">
            <a:solidFill>
              <a:srgbClr val="2ED9A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26880" y="4206240"/>
            <a:ext cx="0" cy="502920"/>
          </a:xfrm>
          <a:prstGeom prst="line">
            <a:avLst/>
          </a:prstGeom>
          <a:noFill/>
          <a:ln w="22225">
            <a:solidFill>
              <a:srgbClr val="2ED9A6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modules util.c, json.c, sha256.c et config.c fournissent les briques de base (fichiers, JSON, hachage, configuration) utilisées par l'ensemble de la chaîne.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CHOIX TECHNOLOGIQUES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choix délibérément sobres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1396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39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pur, standard C11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framework web : contrôle total du comportement, empreinte minimale, cohérent avec l'écosystème noyau/TOMOYO.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057400"/>
            <a:ext cx="548640" cy="54864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1396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39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HTTP écrit à la main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697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 bas niveau, un thread par connexion : compréhension complète du protocole, aucune dépendance à auditer en plus.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4256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25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Cryptographie et JSON maison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1440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et un mini-JSON réduits aux besoins réels du projet, plutôt que d'embarquer des bibliothèques génériques surdimensionnées.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4069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343400"/>
            <a:ext cx="548640" cy="54864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4256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325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démo intégré (mock)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8368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code pilote un noyau réel ou un arbre simulé : démonstration possible sur toute machine, sans dépendance matérielle.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EN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modules fondations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briques de base, réutilisées par tout le serveur.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41C2C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223570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26464" y="21305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Makefile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2679192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le projet (gcc, C11) en un exécutable unique.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389120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41C2C"/>
          </a:solidFill>
          <a:ln/>
        </p:spPr>
      </p:sp>
      <p:sp>
        <p:nvSpPr>
          <p:cNvPr id="11" name="Shape 8"/>
          <p:cNvSpPr/>
          <p:nvPr/>
        </p:nvSpPr>
        <p:spPr>
          <a:xfrm>
            <a:off x="4590288" y="2167128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868" y="2235708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75504" y="21305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90288" y="2679192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d'entrée : configuration, auth, TOMOYO, puis serveur HTTP.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41C2C"/>
          </a:solidFill>
          <a:ln/>
        </p:spPr>
      </p:sp>
      <p:sp>
        <p:nvSpPr>
          <p:cNvPr id="16" name="Shape 12"/>
          <p:cNvSpPr/>
          <p:nvPr/>
        </p:nvSpPr>
        <p:spPr>
          <a:xfrm>
            <a:off x="8339328" y="2167128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908" y="2235708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24544" y="21305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config.h / .c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39328" y="2679192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de configuration + lecture du fichier clé=valeur.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40080" y="36576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41C2C"/>
          </a:solidFill>
          <a:ln/>
        </p:spPr>
      </p:sp>
      <p:sp>
        <p:nvSpPr>
          <p:cNvPr id="21" name="Shape 16"/>
          <p:cNvSpPr/>
          <p:nvPr/>
        </p:nvSpPr>
        <p:spPr>
          <a:xfrm>
            <a:off x="841248" y="3858768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828" y="392734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26464" y="3822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util.h / .c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41248" y="4370832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Journalisation, mémoire sécurisée, fichiers, encodage URL/JSON.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4389120" y="36576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41C2C"/>
          </a:solidFill>
          <a:ln/>
        </p:spPr>
      </p:sp>
      <p:sp>
        <p:nvSpPr>
          <p:cNvPr id="26" name="Shape 20"/>
          <p:cNvSpPr/>
          <p:nvPr/>
        </p:nvSpPr>
        <p:spPr>
          <a:xfrm>
            <a:off x="4590288" y="3858768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8868" y="3927348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75504" y="3822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sha256.h / .c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90288" y="4370832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autonome de SHA-256 (norme FIPS 180-4).</a:t>
            </a:r>
            <a:endParaRPr lang="en-US" sz="1080" dirty="0"/>
          </a:p>
        </p:txBody>
      </p:sp>
      <p:sp>
        <p:nvSpPr>
          <p:cNvPr id="30" name="Shape 23"/>
          <p:cNvSpPr/>
          <p:nvPr/>
        </p:nvSpPr>
        <p:spPr>
          <a:xfrm>
            <a:off x="8138160" y="365760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141C2C"/>
          </a:solidFill>
          <a:ln/>
        </p:spPr>
      </p:sp>
      <p:sp>
        <p:nvSpPr>
          <p:cNvPr id="31" name="Shape 24"/>
          <p:cNvSpPr/>
          <p:nvPr/>
        </p:nvSpPr>
        <p:spPr>
          <a:xfrm>
            <a:off x="8339328" y="3858768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7908" y="3927348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24544" y="3822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json.h / .c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339328" y="4370832"/>
            <a:ext cx="30266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Mini-constructeur/lecteur JSON, réduit aux besoins de l'API.</a:t>
            </a:r>
            <a:endParaRPr lang="en-US" sz="1080" dirty="0"/>
          </a:p>
        </p:txBody>
      </p:sp>
      <p:sp>
        <p:nvSpPr>
          <p:cNvPr id="35" name="Text 27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EN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modules cœur de métier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se joue vraiment le pilotage de TOMOYO.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24028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" y="2325319"/>
            <a:ext cx="396850" cy="396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21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auth.h / .c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administrateur et sessions en mémoire, protégées par mutex.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1965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11" name="Shape 8"/>
          <p:cNvSpPr/>
          <p:nvPr/>
        </p:nvSpPr>
        <p:spPr>
          <a:xfrm>
            <a:off x="6583680" y="224028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2325319"/>
            <a:ext cx="396850" cy="3968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2221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http_server.h / .c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83680" y="28346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HTTP multithread sur sockets, sans bibliothèque externe.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16" name="Shape 12"/>
          <p:cNvSpPr/>
          <p:nvPr/>
        </p:nvSpPr>
        <p:spPr>
          <a:xfrm>
            <a:off x="914400" y="452628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" y="4611319"/>
            <a:ext cx="396850" cy="39685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4507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tomoyo_iface.h / .c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14400" y="51206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cœur du projet : traduit les actions web en opérations sur domain_policy.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09360" y="425196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21" name="Shape 16"/>
          <p:cNvSpPr/>
          <p:nvPr/>
        </p:nvSpPr>
        <p:spPr>
          <a:xfrm>
            <a:off x="6583680" y="4526280"/>
            <a:ext cx="566928" cy="566928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8719" y="4611319"/>
            <a:ext cx="396850" cy="3968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0" y="450799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routes.h / .c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83680" y="51206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routeur : aiguille chaque requête et applique la logique de chaque endpoint.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EN C — ZOOM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tomoyo_iface.c : le cœur du système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77240" cy="77724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94" y="1937614"/>
            <a:ext cx="559613" cy="5596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288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Traduit chaque action de l'interface web en opérations sur domain_policy, le fichier de politique du noyau — et sait fonctionner à l'identique en mode réel ou en mode démo.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141C2C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306324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1318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3017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du mode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68680" y="3611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tomoyo_iface_init() teste si le noyau TOMOYO est accessible ; sinon, il amorce un arbre simulé complet (mode mock) pour permettre la démonstration.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6309360" y="283464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141C2C"/>
          </a:solidFill>
          <a:ln/>
        </p:spPr>
      </p:sp>
      <p:sp>
        <p:nvSpPr>
          <p:cNvPr id="13" name="Shape 9"/>
          <p:cNvSpPr/>
          <p:nvPr/>
        </p:nvSpPr>
        <p:spPr>
          <a:xfrm>
            <a:off x="6537960" y="306324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313182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0" y="3017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stricte avant écriture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537960" y="36118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tomoyo_validate_rule() contrôle la syntaxe de chaque règle avant toute application — le noyau reste l'autorité finale, mais rien d'invalide n'est envoyé.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640080" y="47548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141C2C"/>
          </a:solidFill>
          <a:ln/>
        </p:spPr>
      </p:sp>
      <p:sp>
        <p:nvSpPr>
          <p:cNvPr id="18" name="Shape 13"/>
          <p:cNvSpPr/>
          <p:nvPr/>
        </p:nvSpPr>
        <p:spPr>
          <a:xfrm>
            <a:off x="868680" y="498348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" y="50520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49377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et retour arrière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68680" y="5532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est précédée d'une sauvegarde (snapshot_domain_policy), permettant un rollback en cas d'erreur.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6309360" y="4754880"/>
            <a:ext cx="5212080" cy="1691640"/>
          </a:xfrm>
          <a:prstGeom prst="roundRect">
            <a:avLst>
              <a:gd name="adj" fmla="val 5405"/>
            </a:avLst>
          </a:prstGeom>
          <a:solidFill>
            <a:srgbClr val="141C2C"/>
          </a:solidFill>
          <a:ln/>
        </p:spPr>
      </p:sp>
      <p:sp>
        <p:nvSpPr>
          <p:cNvPr id="23" name="Shape 17"/>
          <p:cNvSpPr/>
          <p:nvPr/>
        </p:nvSpPr>
        <p:spPr>
          <a:xfrm>
            <a:off x="6537960" y="4983480"/>
            <a:ext cx="457200" cy="45720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540" y="505206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32320" y="49377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d'apprentissage encadrée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537960" y="5532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lancement d'un binaire en mode Learning est limité à une liste blanche explicite (allow_exec) avant tout fork()/exec().</a:t>
            </a:r>
            <a:endParaRPr lang="en-US" sz="1080" dirty="0"/>
          </a:p>
        </p:txBody>
      </p:sp>
      <p:sp>
        <p:nvSpPr>
          <p:cNvPr id="27" name="Text 20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EN C — ZOOM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auth.c : identifiants et sessions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9110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105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mot de passe en clair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371600" y="2157984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un hachage SHA-256 du mot de passe est stocké en configuration ; la vérification recalcule le hachage saisi et le compare.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291693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81635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à temps constant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consttime_eq() compare toujours toute la longueur des données, pour ne pas révéler d'information par le temps de réponse.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9227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8221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glissantes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371600" y="4169664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jeton aléatoire (/dev/urandom) est émis à la connexion ; chaque requête valide repousse l'expiration tant que la session reste active.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49286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82803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périodique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371600" y="5175504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thread dédié purge les sessions expirées toutes les 60 secondes, dans une table protégée par mutex (64 sessions maximum).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EN C — ZOOM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http_server.c : un serveur HTTP écrit à la main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41C2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548640" cy="54864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276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9397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 bas niveau, multithread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24414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bibliothèque web : bind/listen/accept, un thread détaché par connexion acceptée.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2004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41C2C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429000"/>
            <a:ext cx="548640" cy="54864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5112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32841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En-têtes de sécurité systématiques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600200" y="367588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X-Content-Type-Options: nosniff et X-Frame-Options: DENY sont posés sur chaque réponse.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43484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41C2C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663440"/>
            <a:ext cx="548640" cy="54864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7457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56285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par construction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00200" y="491032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bornes de taille sur la requête et le corps évitent les abus ; SIGPIPE est ignoré pour qu'une déconnexion client ne tue pas un thread.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BACKEND EN C — ZOOM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routes.c : l'API et sa discipline de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18493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141C2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1076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202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 de l'API : rien n'est appliqué sans validation préalable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286000"/>
            <a:ext cx="9509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api_rules_edit() valide d'abord la syntaxe de la règle (via tomoyo_validate_rule) et renvoie un code 422 avec le message d'erreur si elle est invalide — avant toute écriture dans la politique.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3474720" cy="2423160"/>
          </a:xfrm>
          <a:prstGeom prst="roundRect">
            <a:avLst>
              <a:gd name="adj" fmla="val 3774"/>
            </a:avLst>
          </a:prstGeom>
          <a:solidFill>
            <a:srgbClr val="141C2C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3474720"/>
            <a:ext cx="502920" cy="50292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18" y="355015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4114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require_auth() systématique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68680" y="46177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endpoint protégé vérifie d'abord la session du cookie ; sans session valide, la requête s'arrête sur 401.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343400" y="3246120"/>
            <a:ext cx="3474720" cy="2423160"/>
          </a:xfrm>
          <a:prstGeom prst="roundRect">
            <a:avLst>
              <a:gd name="adj" fmla="val 3774"/>
            </a:avLst>
          </a:prstGeom>
          <a:solidFill>
            <a:srgbClr val="141C2C"/>
          </a:solidFill>
          <a:ln/>
        </p:spPr>
      </p:sp>
      <p:sp>
        <p:nvSpPr>
          <p:cNvPr id="15" name="Shape 11"/>
          <p:cNvSpPr/>
          <p:nvPr/>
        </p:nvSpPr>
        <p:spPr>
          <a:xfrm>
            <a:off x="4572000" y="3474720"/>
            <a:ext cx="502920" cy="50292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7438" y="355015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2000" y="4114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 path-traversal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572000" y="46177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serve_static() refuse tout chemin contenant .. avant de servir un fichier du frontend.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46720" y="3246120"/>
            <a:ext cx="3474720" cy="2423160"/>
          </a:xfrm>
          <a:prstGeom prst="roundRect">
            <a:avLst>
              <a:gd name="adj" fmla="val 3774"/>
            </a:avLst>
          </a:prstGeom>
          <a:solidFill>
            <a:srgbClr val="141C2C"/>
          </a:solidFill>
          <a:ln/>
        </p:spPr>
      </p:sp>
      <p:sp>
        <p:nvSpPr>
          <p:cNvPr id="20" name="Shape 15"/>
          <p:cNvSpPr/>
          <p:nvPr/>
        </p:nvSpPr>
        <p:spPr>
          <a:xfrm>
            <a:off x="8275320" y="3474720"/>
            <a:ext cx="502920" cy="50292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0758" y="355015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5320" y="41148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routeur explicite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75320" y="4617720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routes_dispatch() distingue les fichiers statiques des appels /api/ et aiguille vers le bon traitement ; un chemin inconnu renvoie 404.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FRONTEND &amp; UX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interface simple, au service de la rigueur métier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46704" cy="2103120"/>
          </a:xfrm>
          <a:prstGeom prst="roundRect">
            <a:avLst>
              <a:gd name="adj" fmla="val 4348"/>
            </a:avLst>
          </a:prstGeom>
          <a:solidFill>
            <a:srgbClr val="141C2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502920" cy="50292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213283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5176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2999232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connexion : identifiant, mot de passe, redirection automatique si déjà authentifié.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242816" y="2286000"/>
            <a:ext cx="3346704" cy="2103120"/>
          </a:xfrm>
          <a:prstGeom prst="roundRect">
            <a:avLst>
              <a:gd name="adj" fmla="val 4348"/>
            </a:avLst>
          </a:prstGeom>
          <a:solidFill>
            <a:srgbClr val="141C2C"/>
          </a:solidFill>
          <a:ln/>
        </p:spPr>
      </p:sp>
      <p:sp>
        <p:nvSpPr>
          <p:cNvPr id="10" name="Shape 7"/>
          <p:cNvSpPr/>
          <p:nvPr/>
        </p:nvSpPr>
        <p:spPr>
          <a:xfrm>
            <a:off x="4471416" y="2514600"/>
            <a:ext cx="502920" cy="50292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854" y="259003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1416" y="310896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dashboard.html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71416" y="3456432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 latérale + 4 vues : Politiques, Éditeur, Journaux, Historique — et une modale de confirmation réutilisable.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7845552" y="1828800"/>
            <a:ext cx="3346704" cy="2103120"/>
          </a:xfrm>
          <a:prstGeom prst="roundRect">
            <a:avLst>
              <a:gd name="adj" fmla="val 4348"/>
            </a:avLst>
          </a:prstGeom>
          <a:solidFill>
            <a:srgbClr val="141C2C"/>
          </a:solidFill>
          <a:ln/>
        </p:spPr>
      </p:sp>
      <p:sp>
        <p:nvSpPr>
          <p:cNvPr id="15" name="Shape 11"/>
          <p:cNvSpPr/>
          <p:nvPr/>
        </p:nvSpPr>
        <p:spPr>
          <a:xfrm>
            <a:off x="8074152" y="2057400"/>
            <a:ext cx="502920" cy="50292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9590" y="213283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74152" y="265176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api.js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74152" y="2999232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fetch() unique : JSON, cookie de session, erreurs explicites pour tous les appels.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11448288" y="2286000"/>
            <a:ext cx="3346704" cy="2103120"/>
          </a:xfrm>
          <a:prstGeom prst="roundRect">
            <a:avLst>
              <a:gd name="adj" fmla="val 4348"/>
            </a:avLst>
          </a:prstGeom>
          <a:solidFill>
            <a:srgbClr val="141C2C"/>
          </a:solidFill>
          <a:ln/>
        </p:spPr>
      </p:sp>
      <p:sp>
        <p:nvSpPr>
          <p:cNvPr id="20" name="Shape 15"/>
          <p:cNvSpPr/>
          <p:nvPr/>
        </p:nvSpPr>
        <p:spPr>
          <a:xfrm>
            <a:off x="11676888" y="2514600"/>
            <a:ext cx="502920" cy="50292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2326" y="259003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676888" y="310896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676888" y="3456432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logique côté navigateur : navigation, chargement des données, actions utilisateur.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15051024" y="1828800"/>
            <a:ext cx="3346704" cy="2103120"/>
          </a:xfrm>
          <a:prstGeom prst="roundRect">
            <a:avLst>
              <a:gd name="adj" fmla="val 4348"/>
            </a:avLst>
          </a:prstGeom>
          <a:solidFill>
            <a:srgbClr val="141C2C"/>
          </a:solidFill>
          <a:ln/>
        </p:spPr>
      </p:sp>
      <p:sp>
        <p:nvSpPr>
          <p:cNvPr id="25" name="Shape 19"/>
          <p:cNvSpPr/>
          <p:nvPr/>
        </p:nvSpPr>
        <p:spPr>
          <a:xfrm>
            <a:off x="15279624" y="2057400"/>
            <a:ext cx="502920" cy="50292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55062" y="2132838"/>
            <a:ext cx="352044" cy="3520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279624" y="2651760"/>
            <a:ext cx="28895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5279624" y="2999232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sombre « console de sécurité » : variables de couleur, pastilles Learning / Enforcing / Granted / Denied.</a:t>
            </a:r>
            <a:endParaRPr lang="en-US" sz="1030" dirty="0"/>
          </a:p>
        </p:txBody>
      </p:sp>
      <p:sp>
        <p:nvSpPr>
          <p:cNvPr id="29" name="Text 22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SÉCURITÉ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sécurité pensée à chaque couche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41C2C"/>
          </a:solidFill>
          <a:ln/>
        </p:spPr>
      </p:sp>
      <p:sp>
        <p:nvSpPr>
          <p:cNvPr id="5" name="Shape 3"/>
          <p:cNvSpPr/>
          <p:nvPr/>
        </p:nvSpPr>
        <p:spPr>
          <a:xfrm>
            <a:off x="2034540" y="2130552"/>
            <a:ext cx="640080" cy="64008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552" y="2226564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620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Hachage SHA-256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mot de passe, jamais stocké en clair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41C2C"/>
          </a:solidFill>
          <a:ln/>
        </p:spPr>
      </p:sp>
      <p:sp>
        <p:nvSpPr>
          <p:cNvPr id="10" name="Shape 7"/>
          <p:cNvSpPr/>
          <p:nvPr/>
        </p:nvSpPr>
        <p:spPr>
          <a:xfrm>
            <a:off x="5783580" y="2130552"/>
            <a:ext cx="640080" cy="64008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2226564"/>
            <a:ext cx="448056" cy="4480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8620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à temps constant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les attaques temporelles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41C2C"/>
          </a:solidFill>
          <a:ln/>
        </p:spPr>
      </p:sp>
      <p:sp>
        <p:nvSpPr>
          <p:cNvPr id="15" name="Shape 11"/>
          <p:cNvSpPr/>
          <p:nvPr/>
        </p:nvSpPr>
        <p:spPr>
          <a:xfrm>
            <a:off x="9532620" y="2130552"/>
            <a:ext cx="640080" cy="64008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632" y="2226564"/>
            <a:ext cx="448056" cy="4480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8620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 HttpOnly / SameSite / Secure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21040" y="32004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protégée côté navigateur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840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41C2C"/>
          </a:solidFill>
          <a:ln/>
        </p:spPr>
      </p:sp>
      <p:sp>
        <p:nvSpPr>
          <p:cNvPr id="20" name="Shape 15"/>
          <p:cNvSpPr/>
          <p:nvPr/>
        </p:nvSpPr>
        <p:spPr>
          <a:xfrm>
            <a:off x="2034540" y="4096512"/>
            <a:ext cx="640080" cy="64008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0552" y="4192524"/>
            <a:ext cx="448056" cy="4480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280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serveur systématique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22960" y="5166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règle invalide n'est appliquée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389120" y="3840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41C2C"/>
          </a:solidFill>
          <a:ln/>
        </p:spPr>
      </p:sp>
      <p:sp>
        <p:nvSpPr>
          <p:cNvPr id="25" name="Shape 19"/>
          <p:cNvSpPr/>
          <p:nvPr/>
        </p:nvSpPr>
        <p:spPr>
          <a:xfrm>
            <a:off x="5783580" y="4096512"/>
            <a:ext cx="640080" cy="64008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9592" y="4192524"/>
            <a:ext cx="448056" cy="4480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8280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blanche d'exécutables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72000" y="5166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capture d'apprentissage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384048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141C2C"/>
          </a:solidFill>
          <a:ln/>
        </p:spPr>
      </p:sp>
      <p:sp>
        <p:nvSpPr>
          <p:cNvPr id="30" name="Shape 23"/>
          <p:cNvSpPr/>
          <p:nvPr/>
        </p:nvSpPr>
        <p:spPr>
          <a:xfrm>
            <a:off x="9532620" y="4096512"/>
            <a:ext cx="640080" cy="64008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8632" y="4192524"/>
            <a:ext cx="448056" cy="4480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8280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anti path-traversal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21040" y="5166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service de fichiers statiques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SÉCURITÉ &amp; ROBUSTESSE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même code, deux modes de fonctionnement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41C2C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057400"/>
            <a:ext cx="594360" cy="59436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2146554"/>
            <a:ext cx="416052" cy="4160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03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D9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réel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28803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noyau expose /sys/kernel/security/tomoyo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action écrit directement dans domain_policy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tomoyo actif dans lsm= et un lancement root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de production, sur système durci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55080" y="1783080"/>
            <a:ext cx="5212080" cy="4114800"/>
          </a:xfrm>
          <a:prstGeom prst="roundRect">
            <a:avLst>
              <a:gd name="adj" fmla="val 2667"/>
            </a:avLst>
          </a:prstGeom>
          <a:solidFill>
            <a:srgbClr val="141C2C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057400"/>
            <a:ext cx="594360" cy="59436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274" y="2146554"/>
            <a:ext cx="416052" cy="4160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démo (mock)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75120" y="2880360"/>
            <a:ext cx="45720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Activé automatiquement si le noyau réel est absent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arbre securityfs simulé est amorcé (profils, domaines, journaux d'exemple)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commandes produisent les mêmes effets, dans un fichier</a:t>
            </a:r>
            <a:endParaRPr lang="en-US" sz="13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✦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de présenter l'application sur n'importe quelle machine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: de l'observation à l'application stricte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423160" cy="2194560"/>
          </a:xfrm>
          <a:prstGeom prst="roundRect">
            <a:avLst>
              <a:gd name="adj" fmla="val 4167"/>
            </a:avLst>
          </a:prstGeom>
          <a:solidFill>
            <a:srgbClr val="141C2C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2450592"/>
            <a:ext cx="640080" cy="64008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546604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Learning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5661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domaine observe et enregistre les accès réels sans rien bloquer.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063240" y="3291840"/>
            <a:ext cx="256032" cy="0"/>
          </a:xfrm>
          <a:prstGeom prst="line">
            <a:avLst/>
          </a:prstGeom>
          <a:noFill/>
          <a:ln w="22225">
            <a:solidFill>
              <a:srgbClr val="2ED9A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19272" y="2194560"/>
            <a:ext cx="2423160" cy="2194560"/>
          </a:xfrm>
          <a:prstGeom prst="roundRect">
            <a:avLst>
              <a:gd name="adj" fmla="val 4167"/>
            </a:avLst>
          </a:prstGeom>
          <a:solidFill>
            <a:srgbClr val="141C2C"/>
          </a:solidFill>
          <a:ln/>
        </p:spPr>
      </p:sp>
      <p:sp>
        <p:nvSpPr>
          <p:cNvPr id="11" name="Shape 8"/>
          <p:cNvSpPr/>
          <p:nvPr/>
        </p:nvSpPr>
        <p:spPr>
          <a:xfrm>
            <a:off x="4210812" y="2450592"/>
            <a:ext cx="640080" cy="64008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254660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6432" y="3200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Permissive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456432" y="35661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autorisations manquantes sont journalisées, sans interrompre le service.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42432" y="3291840"/>
            <a:ext cx="256032" cy="0"/>
          </a:xfrm>
          <a:prstGeom prst="line">
            <a:avLst/>
          </a:prstGeom>
          <a:noFill/>
          <a:ln w="22225">
            <a:solidFill>
              <a:srgbClr val="2ED9A6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998464" y="2194560"/>
            <a:ext cx="2423160" cy="2194560"/>
          </a:xfrm>
          <a:prstGeom prst="roundRect">
            <a:avLst>
              <a:gd name="adj" fmla="val 4167"/>
            </a:avLst>
          </a:prstGeom>
          <a:solidFill>
            <a:srgbClr val="141C2C"/>
          </a:solidFill>
          <a:ln/>
        </p:spPr>
      </p:sp>
      <p:sp>
        <p:nvSpPr>
          <p:cNvPr id="17" name="Shape 13"/>
          <p:cNvSpPr/>
          <p:nvPr/>
        </p:nvSpPr>
        <p:spPr>
          <a:xfrm>
            <a:off x="6890004" y="2450592"/>
            <a:ext cx="640080" cy="64008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6016" y="2546604"/>
            <a:ext cx="448056" cy="4480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35624" y="3200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Confirmation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35624" y="35661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bascule de mode passe par une fenêtre de confirmation explicite.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421624" y="3291840"/>
            <a:ext cx="256032" cy="0"/>
          </a:xfrm>
          <a:prstGeom prst="line">
            <a:avLst/>
          </a:prstGeom>
          <a:noFill/>
          <a:ln w="22225">
            <a:solidFill>
              <a:srgbClr val="2ED9A6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677656" y="2194560"/>
            <a:ext cx="2423160" cy="2194560"/>
          </a:xfrm>
          <a:prstGeom prst="roundRect">
            <a:avLst>
              <a:gd name="adj" fmla="val 4167"/>
            </a:avLst>
          </a:prstGeom>
          <a:solidFill>
            <a:srgbClr val="18493D"/>
          </a:solidFill>
          <a:ln/>
        </p:spPr>
      </p:sp>
      <p:sp>
        <p:nvSpPr>
          <p:cNvPr id="23" name="Shape 18"/>
          <p:cNvSpPr/>
          <p:nvPr/>
        </p:nvSpPr>
        <p:spPr>
          <a:xfrm>
            <a:off x="9569196" y="2450592"/>
            <a:ext cx="640080" cy="640080"/>
          </a:xfrm>
          <a:prstGeom prst="ellipse">
            <a:avLst/>
          </a:prstGeom>
          <a:solidFill>
            <a:srgbClr val="141C2C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5208" y="2546604"/>
            <a:ext cx="448056" cy="4480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814816" y="32004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Enforcing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814816" y="35661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politique est appliquée strictement : les accès non prévus sont refusés.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40080" y="47091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B2436"/>
          </a:solidFill>
          <a:ln/>
        </p:spPr>
      </p:sp>
      <p:sp>
        <p:nvSpPr>
          <p:cNvPr id="28" name="Shape 22"/>
          <p:cNvSpPr/>
          <p:nvPr/>
        </p:nvSpPr>
        <p:spPr>
          <a:xfrm>
            <a:off x="868680" y="4937760"/>
            <a:ext cx="548640" cy="54864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5020056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486460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filet de sécurité : rollback à tout moment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1600200" y="51937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est précédée d'une sauvegarde ; un retour arrière restaure l'état précédent en un clic.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DÉMONSTRATION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Compilation et lancement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2468880"/>
          </a:xfrm>
          <a:prstGeom prst="roundRect">
            <a:avLst>
              <a:gd name="adj" fmla="val 3704"/>
            </a:avLst>
          </a:prstGeom>
          <a:solidFill>
            <a:srgbClr val="0A1420"/>
          </a:solidFill>
          <a:ln w="12700">
            <a:solidFill>
              <a:srgbClr val="273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8483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-y gcc make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258775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-C backend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09067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backend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593592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ED9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400" dirty="0">
                <a:solidFill>
                  <a:srgbClr val="F5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./tomoyo-web-manager config/tomoyo-web-manager.conf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: </a:t>
            </a:r>
            <a:r>
              <a:rPr lang="en-US" sz="13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http://127.0.0.1:8088/  —  identifiant admin, mot de passe changeme (à modifier en production).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8493D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5468112"/>
            <a:ext cx="548640" cy="548640"/>
          </a:xfrm>
          <a:prstGeom prst="ellipse">
            <a:avLst/>
          </a:prstGeom>
          <a:solidFill>
            <a:srgbClr val="141C2C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5544922"/>
            <a:ext cx="395021" cy="39502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00200" y="53949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piloter le vrai noyau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600200" y="57241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tomoyo à lsm= dans /etc/default/grub, sudo update-grub, redémarrer, puis lancer avec sudo.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BILAN ET 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Fonctionnalités livrées, au regard du cahier des charges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88366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47088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par session, avec hachage SHA-256 et comparaison à temps constant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5420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05456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complète des domaines et règles TOMOYO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145536"/>
            <a:ext cx="457200" cy="45720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20040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163824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Learning / Enforcement avec confirmation explicite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3803904"/>
            <a:ext cx="457200" cy="45720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85876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82219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de règle avec validation de syntaxe obligatoire et rollback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40080" y="4462272"/>
            <a:ext cx="457200" cy="45720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4517136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44805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de politique par capture d'apprentissage encadrée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40080" y="5120640"/>
            <a:ext cx="457200" cy="45720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175504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4440" y="5138928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journaux d'audit et de l'historique des modifications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BILAN ET PERSPECTIVES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actuelles et pistes d'évolution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1396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39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Multi-utilisateurs et rôles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compte administrateur aujourd'hui ; une gestion fine des rôles élargirait les usages en équipe.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057400"/>
            <a:ext cx="548640" cy="54864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21396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039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natif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83680" y="2697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drapeau cookie_secure suppose un HTTPS placé en amont (reverse proxy) ; un support TLS natif simplifierait le déploiement isolé.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4256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325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automatisés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91440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suite de tests (unitaires sur les modules C, fonctionnels sur l'API) sécuriserait les évolutions futures.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0690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141C2C"/>
          </a:solidFill>
          <a:ln/>
        </p:spPr>
      </p:sp>
      <p:sp>
        <p:nvSpPr>
          <p:cNvPr id="20" name="Shape 15"/>
          <p:cNvSpPr/>
          <p:nvPr/>
        </p:nvSpPr>
        <p:spPr>
          <a:xfrm>
            <a:off x="6583680" y="4343400"/>
            <a:ext cx="548640" cy="548640"/>
          </a:xfrm>
          <a:prstGeom prst="ellipse">
            <a:avLst/>
          </a:prstGeom>
          <a:solidFill>
            <a:srgbClr val="1E2F52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44256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3251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83680" y="4983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paquet .deb ou une image conteneur faciliteraient l'installation en dehors d'un environnement de développement.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backend sobre, une sécurité pensée par construction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566160"/>
          </a:xfrm>
          <a:prstGeom prst="roundRect">
            <a:avLst>
              <a:gd name="adj" fmla="val 3077"/>
            </a:avLst>
          </a:prstGeom>
          <a:solidFill>
            <a:srgbClr val="141C2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86000"/>
            <a:ext cx="10149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TOMOYO Web Manager démontre qu'une interface d'administration exigeante ne requiert ni framework lourd ni dépendances opaques : un serveur HTTP écrit à la main, une validation systématique côté serveur, et un mode démo fidèle au comportement réel suffisent à produire un outil à la fois pédagogique et rigoureux, cohérent avec l'esprit même de TOMOYO — la lisibilité au service du contrôle.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4526280"/>
            <a:ext cx="2743200" cy="0"/>
          </a:xfrm>
          <a:prstGeom prst="line">
            <a:avLst/>
          </a:prstGeom>
          <a:noFill/>
          <a:ln w="12700">
            <a:solidFill>
              <a:srgbClr val="273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6634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est posé pour les évolutions à venir : rôles, TLS natif, tests automatisés, packaging.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41C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554480" cy="1554480"/>
          </a:xfrm>
          <a:prstGeom prst="ellipse">
            <a:avLst/>
          </a:prstGeom>
          <a:solidFill>
            <a:srgbClr val="18493D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7" y="5338267"/>
            <a:ext cx="1119226" cy="11192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ED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A1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TOMOYO Web Manager — Dossier de réalisation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2117</Words>
  <Application>Microsoft Office PowerPoint</Application>
  <PresentationFormat>Grand écran</PresentationFormat>
  <Paragraphs>279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Consolas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habib takwa</cp:lastModifiedBy>
  <cp:revision>2</cp:revision>
  <dcterms:created xsi:type="dcterms:W3CDTF">2026-07-11T11:06:18Z</dcterms:created>
  <dcterms:modified xsi:type="dcterms:W3CDTF">2026-07-11T14:11:42Z</dcterms:modified>
</cp:coreProperties>
</file>